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69" r:id="rId2"/>
    <p:sldId id="257" r:id="rId3"/>
    <p:sldId id="313" r:id="rId4"/>
    <p:sldId id="348" r:id="rId5"/>
    <p:sldId id="259" r:id="rId6"/>
    <p:sldId id="316" r:id="rId7"/>
    <p:sldId id="349" r:id="rId8"/>
    <p:sldId id="343" r:id="rId9"/>
    <p:sldId id="260" r:id="rId10"/>
    <p:sldId id="317" r:id="rId11"/>
    <p:sldId id="344" r:id="rId12"/>
    <p:sldId id="256" r:id="rId13"/>
    <p:sldId id="304" r:id="rId14"/>
    <p:sldId id="319" r:id="rId15"/>
    <p:sldId id="345" r:id="rId16"/>
    <p:sldId id="346" r:id="rId17"/>
    <p:sldId id="347" r:id="rId18"/>
    <p:sldId id="25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79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B45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791" autoAdjust="0"/>
  </p:normalViewPr>
  <p:slideViewPr>
    <p:cSldViewPr snapToGrid="0" snapToObjects="1" showGuides="1">
      <p:cViewPr varScale="1">
        <p:scale>
          <a:sx n="61" d="100"/>
          <a:sy n="61" d="100"/>
        </p:scale>
        <p:origin x="1493" y="274"/>
      </p:cViewPr>
      <p:guideLst>
        <p:guide orient="horz" pos="2160"/>
        <p:guide pos="3796"/>
      </p:guideLst>
    </p:cSldViewPr>
  </p:slideViewPr>
  <p:notesTextViewPr>
    <p:cViewPr>
      <p:scale>
        <a:sx n="100" d="100"/>
        <a:sy n="100" d="100"/>
      </p:scale>
      <p:origin x="0" y="0"/>
    </p:cViewPr>
  </p:notesTextViewPr>
  <p:sorterViewPr>
    <p:cViewPr varScale="1">
      <p:scale>
        <a:sx n="100" d="100"/>
        <a:sy n="100" d="100"/>
      </p:scale>
      <p:origin x="0" y="0"/>
    </p:cViewPr>
  </p:sorterViewPr>
  <p:notesViewPr>
    <p:cSldViewPr snapToGrid="0" snapToObjects="1">
      <p:cViewPr varScale="1">
        <p:scale>
          <a:sx n="65" d="100"/>
          <a:sy n="65" d="100"/>
        </p:scale>
        <p:origin x="3154"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E4CE0C-8E26-450C-8FDE-82D1AE2BDCB6}" type="datetimeFigureOut">
              <a:rPr lang="en-US" smtClean="0"/>
              <a:t>9/18/2025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470311-7158-4323-ADB9-484E46488C27}" type="slidenum">
              <a:rPr lang="en-US" smtClean="0"/>
              <a:t>‹#›</a:t>
            </a:fld>
            <a:endParaRPr lang="en-US"/>
          </a:p>
        </p:txBody>
      </p:sp>
    </p:spTree>
    <p:extLst>
      <p:ext uri="{BB962C8B-B14F-4D97-AF65-F5344CB8AC3E}">
        <p14:creationId xmlns:p14="http://schemas.microsoft.com/office/powerpoint/2010/main" val="19946880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202124"/>
                </a:solidFill>
                <a:effectLst/>
                <a:latin typeface="Roboto" panose="02000000000000000000" pitchFamily="2" charset="0"/>
              </a:rPr>
              <a:t>Cross sectional data means that we have data from many units, at one point in time. Time series data means that we have data from one unit, over many points in time. </a:t>
            </a:r>
            <a:r>
              <a:rPr lang="en-US" b="1" i="0">
                <a:solidFill>
                  <a:srgbClr val="202124"/>
                </a:solidFill>
                <a:effectLst/>
                <a:latin typeface="Roboto" panose="02000000000000000000" pitchFamily="2" charset="0"/>
              </a:rPr>
              <a:t>Panel data (or time series cross section) means that we have data from many units, over many points in time</a:t>
            </a:r>
            <a:r>
              <a:rPr lang="en-US" b="0" i="0">
                <a:solidFill>
                  <a:srgbClr val="202124"/>
                </a:solidFill>
                <a:effectLst/>
                <a:latin typeface="Roboto" panose="02000000000000000000" pitchFamily="2" charset="0"/>
              </a:rPr>
              <a:t>.</a:t>
            </a:r>
            <a:endParaRPr lang="en-US"/>
          </a:p>
        </p:txBody>
      </p:sp>
      <p:sp>
        <p:nvSpPr>
          <p:cNvPr id="4" name="Slide Number Placeholder 3"/>
          <p:cNvSpPr>
            <a:spLocks noGrp="1"/>
          </p:cNvSpPr>
          <p:nvPr>
            <p:ph type="sldNum" sz="quarter" idx="5"/>
          </p:nvPr>
        </p:nvSpPr>
        <p:spPr/>
        <p:txBody>
          <a:bodyPr/>
          <a:lstStyle/>
          <a:p>
            <a:fld id="{55470311-7158-4323-ADB9-484E46488C27}" type="slidenum">
              <a:rPr lang="en-US" smtClean="0"/>
              <a:t>2</a:t>
            </a:fld>
            <a:endParaRPr lang="en-US"/>
          </a:p>
        </p:txBody>
      </p:sp>
    </p:spTree>
    <p:extLst>
      <p:ext uri="{BB962C8B-B14F-4D97-AF65-F5344CB8AC3E}">
        <p14:creationId xmlns:p14="http://schemas.microsoft.com/office/powerpoint/2010/main" val="27597817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202124"/>
                </a:solidFill>
                <a:effectLst/>
                <a:latin typeface="Roboto" panose="02000000000000000000" pitchFamily="2" charset="0"/>
              </a:rPr>
              <a:t>Cross sectional data means that we have data from many units, at one point in time. Time series data means that we have data from one unit, over many points in time. </a:t>
            </a:r>
            <a:r>
              <a:rPr lang="en-US" b="1" i="0">
                <a:solidFill>
                  <a:srgbClr val="202124"/>
                </a:solidFill>
                <a:effectLst/>
                <a:latin typeface="Roboto" panose="02000000000000000000" pitchFamily="2" charset="0"/>
              </a:rPr>
              <a:t>Panel data (or time series cross section) means that we have data from many units, over many points in time</a:t>
            </a:r>
            <a:r>
              <a:rPr lang="en-US" b="0" i="0">
                <a:solidFill>
                  <a:srgbClr val="202124"/>
                </a:solidFill>
                <a:effectLst/>
                <a:latin typeface="Roboto" panose="02000000000000000000" pitchFamily="2" charset="0"/>
              </a:rPr>
              <a:t>.</a:t>
            </a:r>
            <a:endParaRPr lang="en-US"/>
          </a:p>
        </p:txBody>
      </p:sp>
      <p:sp>
        <p:nvSpPr>
          <p:cNvPr id="4" name="Slide Number Placeholder 3"/>
          <p:cNvSpPr>
            <a:spLocks noGrp="1"/>
          </p:cNvSpPr>
          <p:nvPr>
            <p:ph type="sldNum" sz="quarter" idx="5"/>
          </p:nvPr>
        </p:nvSpPr>
        <p:spPr/>
        <p:txBody>
          <a:bodyPr/>
          <a:lstStyle/>
          <a:p>
            <a:fld id="{55470311-7158-4323-ADB9-484E46488C27}" type="slidenum">
              <a:rPr lang="en-US" smtClean="0"/>
              <a:t>3</a:t>
            </a:fld>
            <a:endParaRPr lang="en-US"/>
          </a:p>
        </p:txBody>
      </p:sp>
    </p:spTree>
    <p:extLst>
      <p:ext uri="{BB962C8B-B14F-4D97-AF65-F5344CB8AC3E}">
        <p14:creationId xmlns:p14="http://schemas.microsoft.com/office/powerpoint/2010/main" val="4230853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470311-7158-4323-ADB9-484E46488C27}" type="slidenum">
              <a:rPr lang="en-US" smtClean="0"/>
              <a:t>7</a:t>
            </a:fld>
            <a:endParaRPr lang="en-US"/>
          </a:p>
        </p:txBody>
      </p:sp>
    </p:spTree>
    <p:extLst>
      <p:ext uri="{BB962C8B-B14F-4D97-AF65-F5344CB8AC3E}">
        <p14:creationId xmlns:p14="http://schemas.microsoft.com/office/powerpoint/2010/main" val="8718345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Footer Placeholder 4"/>
          <p:cNvSpPr>
            <a:spLocks noGrp="1"/>
          </p:cNvSpPr>
          <p:nvPr>
            <p:ph type="ftr" sz="quarter" idx="11"/>
          </p:nvPr>
        </p:nvSpPr>
        <p:spPr>
          <a:xfrm>
            <a:off x="79900" y="6483937"/>
            <a:ext cx="2920753" cy="365125"/>
          </a:xfrm>
        </p:spPr>
        <p:txBody>
          <a:bodyPr/>
          <a:lstStyle/>
          <a:p>
            <a:r>
              <a:rPr lang="en-US" dirty="0"/>
              <a:t>CS 4 (Python, Excel, MySQL) by Siva Jasthi</a:t>
            </a:r>
          </a:p>
        </p:txBody>
      </p:sp>
      <p:sp>
        <p:nvSpPr>
          <p:cNvPr id="6" name="Slide Number Placeholder 5"/>
          <p:cNvSpPr>
            <a:spLocks noGrp="1"/>
          </p:cNvSpPr>
          <p:nvPr>
            <p:ph type="sldNum" sz="quarter" idx="12"/>
          </p:nvPr>
        </p:nvSpPr>
        <p:spPr/>
        <p:txBody>
          <a:bodyPr/>
          <a:lstStyle/>
          <a:p>
            <a:fld id="{78817549-C8F9-8740-97B0-14CD78FB0450}" type="slidenum">
              <a: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sz="2400">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1D5CD492-2BC6-F348-9965-EC1D86DF57A8}" type="slidenum">
              <a:rPr lang="en-US" smtClean="0"/>
              <a:t>‹#›</a:t>
            </a:fld>
            <a:endParaRPr lang="en-US"/>
          </a:p>
        </p:txBody>
      </p:sp>
    </p:spTree>
    <p:extLst>
      <p:ext uri="{BB962C8B-B14F-4D97-AF65-F5344CB8AC3E}">
        <p14:creationId xmlns:p14="http://schemas.microsoft.com/office/powerpoint/2010/main" val="961175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38C913-51B4-F746-BBF2-AA29BD605CBC}" type="datetimeFigureOut">
              <a:rPr lang="en-US"/>
              <a:pPr/>
              <a:t>9/18/2025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817549-C8F9-8740-97B0-14CD78FB0450}" type="slidenum">
              <a:rPr/>
              <a:pPr/>
              <a:t>‹#›</a:t>
            </a:fld>
            <a:endParaRPr lang="en-US"/>
          </a:p>
        </p:txBody>
      </p:sp>
      <p:pic>
        <p:nvPicPr>
          <p:cNvPr id="7" name="Picture 6">
            <a:extLst>
              <a:ext uri="{FF2B5EF4-FFF2-40B4-BE49-F238E27FC236}">
                <a16:creationId xmlns:a16="http://schemas.microsoft.com/office/drawing/2014/main" id="{5AD65354-21D8-45D7-A329-0F6307C90440}"/>
              </a:ext>
            </a:extLst>
          </p:cNvPr>
          <p:cNvPicPr>
            <a:picLocks noChangeAspect="1"/>
          </p:cNvPicPr>
          <p:nvPr userDrawn="1"/>
        </p:nvPicPr>
        <p:blipFill>
          <a:blip r:embed="rId4"/>
          <a:stretch>
            <a:fillRect/>
          </a:stretch>
        </p:blipFill>
        <p:spPr>
          <a:xfrm>
            <a:off x="10773280" y="24995"/>
            <a:ext cx="1389536" cy="573204"/>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geeksforgeeks.org/creating-a-pandas-dataframe/"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towardsdatascience.com/pandas-series-a-lightweight-intro-b7963a0d62a2" TargetMode="External"/><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39BF4AB0-9623-4F15-9723-5E7FE667B513}"/>
              </a:ext>
            </a:extLst>
          </p:cNvPr>
          <p:cNvSpPr>
            <a:spLocks noGrp="1"/>
          </p:cNvSpPr>
          <p:nvPr>
            <p:ph type="subTitle" idx="1"/>
          </p:nvPr>
        </p:nvSpPr>
        <p:spPr>
          <a:xfrm>
            <a:off x="2183685" y="4968672"/>
            <a:ext cx="7516166" cy="1356787"/>
          </a:xfrm>
        </p:spPr>
        <p:txBody>
          <a:bodyPr>
            <a:normAutofit/>
          </a:bodyPr>
          <a:lstStyle/>
          <a:p>
            <a:pPr>
              <a:buClrTx/>
              <a:buSzTx/>
              <a:buFontTx/>
              <a:buNone/>
            </a:pPr>
            <a:r>
              <a:rPr lang="en-US" altLang="en-US" sz="2400" b="1" dirty="0"/>
              <a:t>Siva R Jasthi</a:t>
            </a:r>
            <a:endParaRPr lang="en-US" altLang="en-US" sz="2400" dirty="0"/>
          </a:p>
          <a:p>
            <a:pPr>
              <a:buClrTx/>
              <a:buSzTx/>
              <a:buFontTx/>
              <a:buNone/>
            </a:pPr>
            <a:r>
              <a:rPr lang="en-US" altLang="en-US" sz="2400" dirty="0"/>
              <a:t>Computer Science and Cybersecurity</a:t>
            </a:r>
          </a:p>
          <a:p>
            <a:pPr>
              <a:buClrTx/>
              <a:buSzTx/>
              <a:buFontTx/>
              <a:buNone/>
            </a:pPr>
            <a:r>
              <a:rPr lang="en-US" altLang="en-US" sz="2400" dirty="0"/>
              <a:t>Metropolitan State University</a:t>
            </a:r>
          </a:p>
          <a:p>
            <a:endParaRPr lang="en-US" sz="2400" b="1" dirty="0">
              <a:solidFill>
                <a:srgbClr val="04B452"/>
              </a:solidFill>
            </a:endParaRPr>
          </a:p>
        </p:txBody>
      </p:sp>
      <p:sp>
        <p:nvSpPr>
          <p:cNvPr id="9" name="Subtitle 2">
            <a:extLst>
              <a:ext uri="{FF2B5EF4-FFF2-40B4-BE49-F238E27FC236}">
                <a16:creationId xmlns:a16="http://schemas.microsoft.com/office/drawing/2014/main" id="{F9471A7B-0F91-466C-9FCD-728090F5A931}"/>
              </a:ext>
            </a:extLst>
          </p:cNvPr>
          <p:cNvSpPr txBox="1">
            <a:spLocks/>
          </p:cNvSpPr>
          <p:nvPr/>
        </p:nvSpPr>
        <p:spPr>
          <a:xfrm>
            <a:off x="1774357" y="2837194"/>
            <a:ext cx="8334823" cy="1196560"/>
          </a:xfrm>
          <a:prstGeom prst="rect">
            <a:avLst/>
          </a:prstGeom>
          <a:solidFill>
            <a:srgbClr val="00B050"/>
          </a:solidFill>
        </p:spPr>
        <p:txBody>
          <a:bodyPr vert="horz" lIns="91440" tIns="45720" rIns="91440" bIns="45720" rtlCol="0">
            <a:no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endParaRPr lang="en-US" sz="2400" b="1">
              <a:solidFill>
                <a:schemeClr val="bg1"/>
              </a:solidFill>
            </a:endParaRPr>
          </a:p>
          <a:p>
            <a:r>
              <a:rPr lang="en-US" sz="2400" b="1">
                <a:solidFill>
                  <a:schemeClr val="bg1"/>
                </a:solidFill>
              </a:rPr>
              <a:t>pandas</a:t>
            </a:r>
            <a:endParaRPr lang="en-US" sz="2400" b="1" dirty="0">
              <a:solidFill>
                <a:schemeClr val="bg1"/>
              </a:solidFill>
            </a:endParaRPr>
          </a:p>
        </p:txBody>
      </p:sp>
      <p:graphicFrame>
        <p:nvGraphicFramePr>
          <p:cNvPr id="4" name="Table 5">
            <a:extLst>
              <a:ext uri="{FF2B5EF4-FFF2-40B4-BE49-F238E27FC236}">
                <a16:creationId xmlns:a16="http://schemas.microsoft.com/office/drawing/2014/main" id="{78989B7E-3B2D-44AE-8C5E-703EF42AD523}"/>
              </a:ext>
            </a:extLst>
          </p:cNvPr>
          <p:cNvGraphicFramePr>
            <a:graphicFrameLocks noGrp="1"/>
          </p:cNvGraphicFramePr>
          <p:nvPr>
            <p:extLst>
              <p:ext uri="{D42A27DB-BD31-4B8C-83A1-F6EECF244321}">
                <p14:modId xmlns:p14="http://schemas.microsoft.com/office/powerpoint/2010/main" val="3272414661"/>
              </p:ext>
            </p:extLst>
          </p:nvPr>
        </p:nvGraphicFramePr>
        <p:xfrm>
          <a:off x="2032000" y="719666"/>
          <a:ext cx="8128000" cy="1854200"/>
        </p:xfrm>
        <a:graphic>
          <a:graphicData uri="http://schemas.openxmlformats.org/drawingml/2006/table">
            <a:tbl>
              <a:tblPr firstRow="1" bandRow="1">
                <a:tableStyleId>{5940675A-B579-460E-94D1-54222C63F5DA}</a:tableStyleId>
              </a:tblPr>
              <a:tblGrid>
                <a:gridCol w="1784626">
                  <a:extLst>
                    <a:ext uri="{9D8B030D-6E8A-4147-A177-3AD203B41FA5}">
                      <a16:colId xmlns:a16="http://schemas.microsoft.com/office/drawing/2014/main" val="2221937530"/>
                    </a:ext>
                  </a:extLst>
                </a:gridCol>
                <a:gridCol w="6343374">
                  <a:extLst>
                    <a:ext uri="{9D8B030D-6E8A-4147-A177-3AD203B41FA5}">
                      <a16:colId xmlns:a16="http://schemas.microsoft.com/office/drawing/2014/main" val="379968204"/>
                    </a:ext>
                  </a:extLst>
                </a:gridCol>
              </a:tblGrid>
              <a:tr h="370840">
                <a:tc>
                  <a:txBody>
                    <a:bodyPr/>
                    <a:lstStyle/>
                    <a:p>
                      <a:r>
                        <a:rPr lang="en-US" dirty="0"/>
                        <a:t>Course</a:t>
                      </a:r>
                    </a:p>
                  </a:txBody>
                  <a:tcPr/>
                </a:tc>
                <a:tc>
                  <a:txBody>
                    <a:bodyPr/>
                    <a:lstStyle/>
                    <a:p>
                      <a:endParaRPr lang="en-US" dirty="0"/>
                    </a:p>
                  </a:txBody>
                  <a:tcPr/>
                </a:tc>
                <a:extLst>
                  <a:ext uri="{0D108BD9-81ED-4DB2-BD59-A6C34878D82A}">
                    <a16:rowId xmlns:a16="http://schemas.microsoft.com/office/drawing/2014/main" val="2642101462"/>
                  </a:ext>
                </a:extLst>
              </a:tr>
              <a:tr h="370840">
                <a:tc>
                  <a:txBody>
                    <a:bodyPr/>
                    <a:lstStyle/>
                    <a:p>
                      <a:r>
                        <a:rPr lang="en-US" dirty="0"/>
                        <a:t>Term</a:t>
                      </a:r>
                    </a:p>
                  </a:txBody>
                  <a:tcPr/>
                </a:tc>
                <a:tc>
                  <a:txBody>
                    <a:bodyPr/>
                    <a:lstStyle/>
                    <a:p>
                      <a:endParaRPr lang="en-US" dirty="0"/>
                    </a:p>
                  </a:txBody>
                  <a:tcPr/>
                </a:tc>
                <a:extLst>
                  <a:ext uri="{0D108BD9-81ED-4DB2-BD59-A6C34878D82A}">
                    <a16:rowId xmlns:a16="http://schemas.microsoft.com/office/drawing/2014/main" val="176277694"/>
                  </a:ext>
                </a:extLst>
              </a:tr>
              <a:tr h="370840">
                <a:tc>
                  <a:txBody>
                    <a:bodyPr/>
                    <a:lstStyle/>
                    <a:p>
                      <a:r>
                        <a:rPr lang="en-US" dirty="0"/>
                        <a:t>Week</a:t>
                      </a:r>
                    </a:p>
                  </a:txBody>
                  <a:tcPr/>
                </a:tc>
                <a:tc>
                  <a:txBody>
                    <a:bodyPr/>
                    <a:lstStyle/>
                    <a:p>
                      <a:endParaRPr lang="en-US" dirty="0"/>
                    </a:p>
                  </a:txBody>
                  <a:tcPr/>
                </a:tc>
                <a:extLst>
                  <a:ext uri="{0D108BD9-81ED-4DB2-BD59-A6C34878D82A}">
                    <a16:rowId xmlns:a16="http://schemas.microsoft.com/office/drawing/2014/main" val="1975050456"/>
                  </a:ext>
                </a:extLst>
              </a:tr>
              <a:tr h="370840">
                <a:tc>
                  <a:txBody>
                    <a:bodyPr/>
                    <a:lstStyle/>
                    <a:p>
                      <a:r>
                        <a:rPr lang="en-US" dirty="0"/>
                        <a:t>Date</a:t>
                      </a:r>
                    </a:p>
                  </a:txBody>
                  <a:tcPr/>
                </a:tc>
                <a:tc>
                  <a:txBody>
                    <a:bodyPr/>
                    <a:lstStyle/>
                    <a:p>
                      <a:endParaRPr lang="en-US" dirty="0"/>
                    </a:p>
                  </a:txBody>
                  <a:tcPr/>
                </a:tc>
                <a:extLst>
                  <a:ext uri="{0D108BD9-81ED-4DB2-BD59-A6C34878D82A}">
                    <a16:rowId xmlns:a16="http://schemas.microsoft.com/office/drawing/2014/main" val="452127006"/>
                  </a:ext>
                </a:extLst>
              </a:tr>
              <a:tr h="370840">
                <a:tc>
                  <a:txBody>
                    <a:bodyPr/>
                    <a:lstStyle/>
                    <a:p>
                      <a:r>
                        <a:rPr lang="en-US" dirty="0"/>
                        <a:t>Chapter. Topic</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 Introduction to Pandas</a:t>
                      </a:r>
                    </a:p>
                  </a:txBody>
                  <a:tcPr/>
                </a:tc>
                <a:extLst>
                  <a:ext uri="{0D108BD9-81ED-4DB2-BD59-A6C34878D82A}">
                    <a16:rowId xmlns:a16="http://schemas.microsoft.com/office/drawing/2014/main" val="270387289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2367" y="1096268"/>
            <a:ext cx="11494417" cy="4525963"/>
          </a:xfrm>
        </p:spPr>
        <p:txBody>
          <a:bodyPr/>
          <a:lstStyle/>
          <a:p>
            <a:r>
              <a:rPr lang="en-US" dirty="0"/>
              <a:t>One of the most popular libraries for data analysis </a:t>
            </a:r>
          </a:p>
          <a:p>
            <a:r>
              <a:rPr lang="en-US" dirty="0"/>
              <a:t>Pandas: The name is derived from the term "</a:t>
            </a:r>
            <a:r>
              <a:rPr lang="en-US" b="1" dirty="0">
                <a:solidFill>
                  <a:srgbClr val="FF0000"/>
                </a:solidFill>
              </a:rPr>
              <a:t>pan</a:t>
            </a:r>
            <a:r>
              <a:rPr lang="en-US" dirty="0"/>
              <a:t>el </a:t>
            </a:r>
            <a:r>
              <a:rPr lang="en-US" b="1" dirty="0">
                <a:solidFill>
                  <a:srgbClr val="FF0000"/>
                </a:solidFill>
              </a:rPr>
              <a:t>da</a:t>
            </a:r>
            <a:r>
              <a:rPr lang="en-US" dirty="0"/>
              <a:t>ta </a:t>
            </a:r>
            <a:r>
              <a:rPr lang="en-US" b="1" dirty="0">
                <a:solidFill>
                  <a:srgbClr val="FF0000"/>
                </a:solidFill>
              </a:rPr>
              <a:t>s</a:t>
            </a:r>
            <a:r>
              <a:rPr lang="en-US" dirty="0"/>
              <a:t>ystems", an econometrics term for data sets that include both time-series and cross-sectional data</a:t>
            </a:r>
          </a:p>
          <a:p>
            <a:r>
              <a:rPr lang="en-US" dirty="0"/>
              <a:t> It is an open-source product. </a:t>
            </a:r>
          </a:p>
          <a:p>
            <a:endParaRPr lang="en-US" dirty="0"/>
          </a:p>
          <a:p>
            <a:endParaRPr lang="en-US" dirty="0"/>
          </a:p>
        </p:txBody>
      </p:sp>
      <p:sp>
        <p:nvSpPr>
          <p:cNvPr id="6" name="Title 1">
            <a:extLst>
              <a:ext uri="{FF2B5EF4-FFF2-40B4-BE49-F238E27FC236}">
                <a16:creationId xmlns:a16="http://schemas.microsoft.com/office/drawing/2014/main" id="{B2FE6143-E7A1-4833-352F-FD59C63B969B}"/>
              </a:ext>
            </a:extLst>
          </p:cNvPr>
          <p:cNvSpPr txBox="1">
            <a:spLocks/>
          </p:cNvSpPr>
          <p:nvPr/>
        </p:nvSpPr>
        <p:spPr>
          <a:xfrm>
            <a:off x="-1" y="1274"/>
            <a:ext cx="8971175" cy="761460"/>
          </a:xfrm>
          <a:prstGeom prst="rect">
            <a:avLst/>
          </a:prstGeom>
        </p:spPr>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a:lstStyle>
          <a:p>
            <a:pPr algn="l"/>
            <a:r>
              <a:rPr lang="en-US" sz="4800">
                <a:solidFill>
                  <a:srgbClr val="04B452"/>
                </a:solidFill>
              </a:rPr>
              <a:t>What is pandas?</a:t>
            </a:r>
            <a:endParaRPr lang="en-US" sz="4800" dirty="0">
              <a:solidFill>
                <a:srgbClr val="04B452"/>
              </a:solidFill>
            </a:endParaRPr>
          </a:p>
        </p:txBody>
      </p:sp>
      <p:pic>
        <p:nvPicPr>
          <p:cNvPr id="1026" name="Picture 2">
            <a:extLst>
              <a:ext uri="{FF2B5EF4-FFF2-40B4-BE49-F238E27FC236}">
                <a16:creationId xmlns:a16="http://schemas.microsoft.com/office/drawing/2014/main" id="{E7459618-7BB8-A328-CA48-09A6632FBA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7868" y="3429000"/>
            <a:ext cx="5176634" cy="2097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77846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2C8DD2D-325E-CBC1-5B89-2B9AB0430B1E}"/>
              </a:ext>
            </a:extLst>
          </p:cNvPr>
          <p:cNvPicPr>
            <a:picLocks noChangeAspect="1"/>
          </p:cNvPicPr>
          <p:nvPr/>
        </p:nvPicPr>
        <p:blipFill>
          <a:blip r:embed="rId3"/>
          <a:stretch>
            <a:fillRect/>
          </a:stretch>
        </p:blipFill>
        <p:spPr>
          <a:xfrm>
            <a:off x="322518" y="2247889"/>
            <a:ext cx="7886700" cy="2105025"/>
          </a:xfrm>
          <a:prstGeom prst="rect">
            <a:avLst/>
          </a:prstGeom>
        </p:spPr>
      </p:pic>
      <p:sp>
        <p:nvSpPr>
          <p:cNvPr id="3" name="Content Placeholder 2"/>
          <p:cNvSpPr>
            <a:spLocks noGrp="1"/>
          </p:cNvSpPr>
          <p:nvPr>
            <p:ph idx="1"/>
          </p:nvPr>
        </p:nvSpPr>
        <p:spPr>
          <a:xfrm>
            <a:off x="439916" y="930898"/>
            <a:ext cx="11494417" cy="4525963"/>
          </a:xfrm>
        </p:spPr>
        <p:txBody>
          <a:bodyPr/>
          <a:lstStyle/>
          <a:p>
            <a:r>
              <a:rPr lang="en-US"/>
              <a:t>display(dataframe)</a:t>
            </a:r>
          </a:p>
          <a:p>
            <a:endParaRPr lang="en-US" dirty="0"/>
          </a:p>
          <a:p>
            <a:endParaRPr lang="en-US" dirty="0"/>
          </a:p>
        </p:txBody>
      </p:sp>
      <p:sp>
        <p:nvSpPr>
          <p:cNvPr id="6" name="Title 1">
            <a:extLst>
              <a:ext uri="{FF2B5EF4-FFF2-40B4-BE49-F238E27FC236}">
                <a16:creationId xmlns:a16="http://schemas.microsoft.com/office/drawing/2014/main" id="{B2FE6143-E7A1-4833-352F-FD59C63B969B}"/>
              </a:ext>
            </a:extLst>
          </p:cNvPr>
          <p:cNvSpPr txBox="1">
            <a:spLocks/>
          </p:cNvSpPr>
          <p:nvPr/>
        </p:nvSpPr>
        <p:spPr>
          <a:xfrm>
            <a:off x="-1" y="1274"/>
            <a:ext cx="8971175" cy="761460"/>
          </a:xfrm>
          <a:prstGeom prst="rect">
            <a:avLst/>
          </a:prstGeom>
        </p:spPr>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a:lstStyle>
          <a:p>
            <a:pPr algn="l"/>
            <a:r>
              <a:rPr lang="en-US" sz="4800">
                <a:solidFill>
                  <a:srgbClr val="04B452"/>
                </a:solidFill>
              </a:rPr>
              <a:t>What is pandas? (contd.)</a:t>
            </a:r>
            <a:endParaRPr lang="en-US" sz="4800" dirty="0">
              <a:solidFill>
                <a:srgbClr val="04B452"/>
              </a:solidFill>
            </a:endParaRPr>
          </a:p>
        </p:txBody>
      </p:sp>
      <p:pic>
        <p:nvPicPr>
          <p:cNvPr id="10" name="Picture 9">
            <a:extLst>
              <a:ext uri="{FF2B5EF4-FFF2-40B4-BE49-F238E27FC236}">
                <a16:creationId xmlns:a16="http://schemas.microsoft.com/office/drawing/2014/main" id="{DC0A2938-536A-D426-9BE1-057BA102FE66}"/>
              </a:ext>
            </a:extLst>
          </p:cNvPr>
          <p:cNvPicPr>
            <a:picLocks noChangeAspect="1"/>
          </p:cNvPicPr>
          <p:nvPr/>
        </p:nvPicPr>
        <p:blipFill>
          <a:blip r:embed="rId4"/>
          <a:stretch>
            <a:fillRect/>
          </a:stretch>
        </p:blipFill>
        <p:spPr>
          <a:xfrm>
            <a:off x="4485586" y="4294655"/>
            <a:ext cx="7086064" cy="2479197"/>
          </a:xfrm>
          <a:prstGeom prst="rect">
            <a:avLst/>
          </a:prstGeom>
        </p:spPr>
      </p:pic>
      <p:pic>
        <p:nvPicPr>
          <p:cNvPr id="4" name="Picture 3">
            <a:extLst>
              <a:ext uri="{FF2B5EF4-FFF2-40B4-BE49-F238E27FC236}">
                <a16:creationId xmlns:a16="http://schemas.microsoft.com/office/drawing/2014/main" id="{6F4938BF-B7B2-C79F-8C25-D3FB4980F6A2}"/>
              </a:ext>
            </a:extLst>
          </p:cNvPr>
          <p:cNvPicPr>
            <a:picLocks noChangeAspect="1"/>
          </p:cNvPicPr>
          <p:nvPr/>
        </p:nvPicPr>
        <p:blipFill>
          <a:blip r:embed="rId5"/>
          <a:stretch>
            <a:fillRect/>
          </a:stretch>
        </p:blipFill>
        <p:spPr>
          <a:xfrm>
            <a:off x="4965667" y="832421"/>
            <a:ext cx="5044096" cy="1775855"/>
          </a:xfrm>
          <a:prstGeom prst="rect">
            <a:avLst/>
          </a:prstGeom>
        </p:spPr>
      </p:pic>
    </p:spTree>
    <p:extLst>
      <p:ext uri="{BB962C8B-B14F-4D97-AF65-F5344CB8AC3E}">
        <p14:creationId xmlns:p14="http://schemas.microsoft.com/office/powerpoint/2010/main" val="2770623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7915DADC-8D10-4342-51D8-2A244FAB9041}"/>
              </a:ext>
            </a:extLst>
          </p:cNvPr>
          <p:cNvSpPr txBox="1">
            <a:spLocks/>
          </p:cNvSpPr>
          <p:nvPr/>
        </p:nvSpPr>
        <p:spPr>
          <a:xfrm>
            <a:off x="-1" y="1274"/>
            <a:ext cx="8971175" cy="761460"/>
          </a:xfrm>
          <a:prstGeom prst="rect">
            <a:avLst/>
          </a:prstGeom>
        </p:spPr>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a:lstStyle>
          <a:p>
            <a:pPr algn="l"/>
            <a:r>
              <a:rPr lang="en-US" sz="4800" dirty="0">
                <a:solidFill>
                  <a:srgbClr val="04B452"/>
                </a:solidFill>
              </a:rPr>
              <a:t>Typical Questions we can ask</a:t>
            </a:r>
          </a:p>
        </p:txBody>
      </p:sp>
      <p:sp>
        <p:nvSpPr>
          <p:cNvPr id="3" name="TextBox 2">
            <a:extLst>
              <a:ext uri="{FF2B5EF4-FFF2-40B4-BE49-F238E27FC236}">
                <a16:creationId xmlns:a16="http://schemas.microsoft.com/office/drawing/2014/main" id="{F5C7A70F-8A93-4BC7-CC24-278B7919927B}"/>
              </a:ext>
            </a:extLst>
          </p:cNvPr>
          <p:cNvSpPr txBox="1"/>
          <p:nvPr/>
        </p:nvSpPr>
        <p:spPr>
          <a:xfrm>
            <a:off x="857346" y="1179709"/>
            <a:ext cx="9881277" cy="3970318"/>
          </a:xfrm>
          <a:prstGeom prst="rect">
            <a:avLst/>
          </a:prstGeom>
          <a:noFill/>
        </p:spPr>
        <p:txBody>
          <a:bodyPr wrap="square">
            <a:spAutoFit/>
          </a:bodyPr>
          <a:lstStyle/>
          <a:p>
            <a:pPr marL="342900" indent="-342900">
              <a:buAutoNum type="arabicPeriod"/>
            </a:pPr>
            <a:r>
              <a:rPr lang="en-US" sz="2800" dirty="0"/>
              <a:t>Give me all (or unique) the values of a given column?</a:t>
            </a:r>
          </a:p>
          <a:p>
            <a:pPr marL="342900" indent="-342900">
              <a:buAutoNum type="arabicPeriod"/>
            </a:pPr>
            <a:r>
              <a:rPr lang="en-US" sz="2800" dirty="0"/>
              <a:t>Give me all rows matching certain criteria on a column? Who got &gt; 90% in the final test?</a:t>
            </a:r>
          </a:p>
          <a:p>
            <a:pPr marL="342900" indent="-342900">
              <a:buAutoNum type="arabicPeriod"/>
            </a:pPr>
            <a:r>
              <a:rPr lang="en-US" sz="2800" dirty="0"/>
              <a:t>Give me a row where the column is matching the max of all values? Who stood first in this class?</a:t>
            </a:r>
          </a:p>
          <a:p>
            <a:pPr marL="342900" indent="-342900">
              <a:buAutoNum type="arabicPeriod"/>
            </a:pPr>
            <a:r>
              <a:rPr lang="en-US" sz="2800" dirty="0"/>
              <a:t>What is the average, frequency, mode, median of values sitting in a column?</a:t>
            </a:r>
          </a:p>
          <a:p>
            <a:pPr marL="342900" indent="-342900">
              <a:buAutoNum type="arabicPeriod"/>
            </a:pPr>
            <a:r>
              <a:rPr lang="en-US" sz="2800" dirty="0"/>
              <a:t>Give me all the column values that match a criteria on another column? Who are all from Dallas in this class?</a:t>
            </a:r>
          </a:p>
        </p:txBody>
      </p:sp>
    </p:spTree>
    <p:extLst>
      <p:ext uri="{BB962C8B-B14F-4D97-AF65-F5344CB8AC3E}">
        <p14:creationId xmlns:p14="http://schemas.microsoft.com/office/powerpoint/2010/main" val="42851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8515" y="965105"/>
            <a:ext cx="10972800" cy="4525963"/>
          </a:xfrm>
        </p:spPr>
        <p:txBody>
          <a:bodyPr/>
          <a:lstStyle/>
          <a:p>
            <a:r>
              <a:rPr lang="en-US" dirty="0"/>
              <a:t>It is built on top of NumPy</a:t>
            </a:r>
          </a:p>
          <a:p>
            <a:r>
              <a:rPr lang="en-US" dirty="0"/>
              <a:t>Key components provided by Pandas: (1) Series and (2) </a:t>
            </a:r>
            <a:r>
              <a:rPr lang="en-US" dirty="0" err="1"/>
              <a:t>DataFrame</a:t>
            </a:r>
            <a:endParaRPr lang="en-US" dirty="0"/>
          </a:p>
          <a:p>
            <a:endParaRPr lang="en-US" dirty="0"/>
          </a:p>
        </p:txBody>
      </p:sp>
      <p:sp>
        <p:nvSpPr>
          <p:cNvPr id="8" name="Title 1">
            <a:extLst>
              <a:ext uri="{FF2B5EF4-FFF2-40B4-BE49-F238E27FC236}">
                <a16:creationId xmlns:a16="http://schemas.microsoft.com/office/drawing/2014/main" id="{7915DADC-8D10-4342-51D8-2A244FAB9041}"/>
              </a:ext>
            </a:extLst>
          </p:cNvPr>
          <p:cNvSpPr txBox="1">
            <a:spLocks/>
          </p:cNvSpPr>
          <p:nvPr/>
        </p:nvSpPr>
        <p:spPr>
          <a:xfrm>
            <a:off x="-1" y="1274"/>
            <a:ext cx="8971175" cy="761460"/>
          </a:xfrm>
          <a:prstGeom prst="rect">
            <a:avLst/>
          </a:prstGeom>
        </p:spPr>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a:lstStyle>
          <a:p>
            <a:pPr algn="l"/>
            <a:r>
              <a:rPr lang="en-US" sz="4800">
                <a:solidFill>
                  <a:srgbClr val="04B452"/>
                </a:solidFill>
              </a:rPr>
              <a:t>What is pandas? (Contd.)</a:t>
            </a:r>
            <a:endParaRPr lang="en-US" sz="4800" dirty="0">
              <a:solidFill>
                <a:srgbClr val="04B452"/>
              </a:solidFill>
            </a:endParaRPr>
          </a:p>
        </p:txBody>
      </p:sp>
      <p:sp>
        <p:nvSpPr>
          <p:cNvPr id="9" name="Rectangle: Rounded Corners 8">
            <a:extLst>
              <a:ext uri="{FF2B5EF4-FFF2-40B4-BE49-F238E27FC236}">
                <a16:creationId xmlns:a16="http://schemas.microsoft.com/office/drawing/2014/main" id="{E30FE026-F35E-6FAE-F914-09169187D509}"/>
              </a:ext>
            </a:extLst>
          </p:cNvPr>
          <p:cNvSpPr/>
          <p:nvPr/>
        </p:nvSpPr>
        <p:spPr>
          <a:xfrm>
            <a:off x="3384222" y="5236239"/>
            <a:ext cx="4543720" cy="914400"/>
          </a:xfrm>
          <a:prstGeom prst="roundRect">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a:solidFill>
                  <a:schemeClr val="tx1"/>
                </a:solidFill>
              </a:rPr>
              <a:t>python</a:t>
            </a:r>
          </a:p>
        </p:txBody>
      </p:sp>
      <p:sp>
        <p:nvSpPr>
          <p:cNvPr id="10" name="Rectangle: Rounded Corners 9">
            <a:extLst>
              <a:ext uri="{FF2B5EF4-FFF2-40B4-BE49-F238E27FC236}">
                <a16:creationId xmlns:a16="http://schemas.microsoft.com/office/drawing/2014/main" id="{693B0D85-2C77-3DB2-EF61-9903C21AB501}"/>
              </a:ext>
            </a:extLst>
          </p:cNvPr>
          <p:cNvSpPr/>
          <p:nvPr/>
        </p:nvSpPr>
        <p:spPr>
          <a:xfrm>
            <a:off x="3384222" y="4089801"/>
            <a:ext cx="4543720" cy="914400"/>
          </a:xfrm>
          <a:prstGeom prst="roundRect">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a:solidFill>
                  <a:schemeClr val="tx1"/>
                </a:solidFill>
              </a:rPr>
              <a:t>numpy</a:t>
            </a:r>
          </a:p>
        </p:txBody>
      </p:sp>
      <p:sp>
        <p:nvSpPr>
          <p:cNvPr id="11" name="Rectangle: Rounded Corners 10">
            <a:extLst>
              <a:ext uri="{FF2B5EF4-FFF2-40B4-BE49-F238E27FC236}">
                <a16:creationId xmlns:a16="http://schemas.microsoft.com/office/drawing/2014/main" id="{11E5F53E-1F88-AC34-246B-FE2E65195206}"/>
              </a:ext>
            </a:extLst>
          </p:cNvPr>
          <p:cNvSpPr/>
          <p:nvPr/>
        </p:nvSpPr>
        <p:spPr>
          <a:xfrm>
            <a:off x="3312886" y="2331980"/>
            <a:ext cx="4543720" cy="1502799"/>
          </a:xfrm>
          <a:prstGeom prst="roundRect">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solidFill>
                  <a:schemeClr val="tx1"/>
                </a:solidFill>
              </a:rPr>
              <a:t>Pandas</a:t>
            </a:r>
          </a:p>
          <a:p>
            <a:pPr algn="ctr"/>
            <a:r>
              <a:rPr lang="en-US" sz="3200" dirty="0">
                <a:solidFill>
                  <a:schemeClr val="tx1"/>
                </a:solidFill>
              </a:rPr>
              <a:t>(series + </a:t>
            </a:r>
            <a:r>
              <a:rPr lang="en-US" sz="3200" dirty="0" err="1">
                <a:solidFill>
                  <a:schemeClr val="tx1"/>
                </a:solidFill>
              </a:rPr>
              <a:t>dataframe</a:t>
            </a:r>
            <a:r>
              <a:rPr lang="en-US" sz="3200" dirty="0">
                <a:solidFill>
                  <a:schemeClr val="tx1"/>
                </a:solidFill>
              </a:rPr>
              <a:t>)</a:t>
            </a:r>
          </a:p>
        </p:txBody>
      </p:sp>
    </p:spTree>
    <p:extLst>
      <p:ext uri="{BB962C8B-B14F-4D97-AF65-F5344CB8AC3E}">
        <p14:creationId xmlns:p14="http://schemas.microsoft.com/office/powerpoint/2010/main" val="786074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7915DADC-8D10-4342-51D8-2A244FAB9041}"/>
              </a:ext>
            </a:extLst>
          </p:cNvPr>
          <p:cNvSpPr txBox="1">
            <a:spLocks/>
          </p:cNvSpPr>
          <p:nvPr/>
        </p:nvSpPr>
        <p:spPr>
          <a:xfrm>
            <a:off x="-1" y="1274"/>
            <a:ext cx="8971175" cy="761460"/>
          </a:xfrm>
          <a:prstGeom prst="rect">
            <a:avLst/>
          </a:prstGeom>
        </p:spPr>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a:lstStyle>
          <a:p>
            <a:pPr algn="l"/>
            <a:r>
              <a:rPr lang="en-US" sz="4800">
                <a:solidFill>
                  <a:srgbClr val="04B452"/>
                </a:solidFill>
              </a:rPr>
              <a:t>pandas DataFrame: overview</a:t>
            </a:r>
            <a:endParaRPr lang="en-US" sz="4800" dirty="0">
              <a:solidFill>
                <a:srgbClr val="04B452"/>
              </a:solidFill>
            </a:endParaRPr>
          </a:p>
        </p:txBody>
      </p:sp>
      <p:pic>
        <p:nvPicPr>
          <p:cNvPr id="2050" name="Picture 2">
            <a:extLst>
              <a:ext uri="{FF2B5EF4-FFF2-40B4-BE49-F238E27FC236}">
                <a16:creationId xmlns:a16="http://schemas.microsoft.com/office/drawing/2014/main" id="{CFBAF8B0-61FD-769F-A9AF-EDEADBA9FD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085141"/>
            <a:ext cx="12192000" cy="507523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5C7A70F-8A93-4BC7-CC24-278B7919927B}"/>
              </a:ext>
            </a:extLst>
          </p:cNvPr>
          <p:cNvSpPr txBox="1"/>
          <p:nvPr/>
        </p:nvSpPr>
        <p:spPr>
          <a:xfrm>
            <a:off x="1370304" y="6298119"/>
            <a:ext cx="6230564" cy="369332"/>
          </a:xfrm>
          <a:prstGeom prst="rect">
            <a:avLst/>
          </a:prstGeom>
          <a:noFill/>
        </p:spPr>
        <p:txBody>
          <a:bodyPr wrap="square">
            <a:spAutoFit/>
          </a:bodyPr>
          <a:lstStyle/>
          <a:p>
            <a:r>
              <a:rPr lang="en-US">
                <a:hlinkClick r:id="rId3"/>
              </a:rPr>
              <a:t>https://www.geeksforgeeks.org/creating-a-pandas-dataframe/</a:t>
            </a:r>
            <a:r>
              <a:rPr lang="en-US"/>
              <a:t> </a:t>
            </a:r>
          </a:p>
        </p:txBody>
      </p:sp>
    </p:spTree>
    <p:extLst>
      <p:ext uri="{BB962C8B-B14F-4D97-AF65-F5344CB8AC3E}">
        <p14:creationId xmlns:p14="http://schemas.microsoft.com/office/powerpoint/2010/main" val="74161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2FE6143-E7A1-4833-352F-FD59C63B969B}"/>
              </a:ext>
            </a:extLst>
          </p:cNvPr>
          <p:cNvSpPr txBox="1">
            <a:spLocks/>
          </p:cNvSpPr>
          <p:nvPr/>
        </p:nvSpPr>
        <p:spPr>
          <a:xfrm>
            <a:off x="-1" y="1274"/>
            <a:ext cx="8971175" cy="761460"/>
          </a:xfrm>
          <a:prstGeom prst="rect">
            <a:avLst/>
          </a:prstGeom>
        </p:spPr>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a:lstStyle>
          <a:p>
            <a:pPr algn="l"/>
            <a:r>
              <a:rPr lang="en-US" sz="4800" dirty="0">
                <a:solidFill>
                  <a:srgbClr val="04B452"/>
                </a:solidFill>
              </a:rPr>
              <a:t>What is Series?</a:t>
            </a:r>
          </a:p>
        </p:txBody>
      </p:sp>
    </p:spTree>
    <p:extLst>
      <p:ext uri="{BB962C8B-B14F-4D97-AF65-F5344CB8AC3E}">
        <p14:creationId xmlns:p14="http://schemas.microsoft.com/office/powerpoint/2010/main" val="20950006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52660" y="327893"/>
            <a:ext cx="9144000" cy="1588939"/>
          </a:xfrm>
        </p:spPr>
        <p:txBody>
          <a:bodyPr>
            <a:normAutofit/>
          </a:bodyPr>
          <a:lstStyle/>
          <a:p>
            <a:r>
              <a:rPr lang="en-US">
                <a:solidFill>
                  <a:srgbClr val="00B050"/>
                </a:solidFill>
              </a:rPr>
              <a:t>Pandas Series</a:t>
            </a:r>
            <a:endParaRPr lang="en-US" dirty="0">
              <a:solidFill>
                <a:srgbClr val="00B050"/>
              </a:solidFill>
            </a:endParaRPr>
          </a:p>
        </p:txBody>
      </p:sp>
      <p:pic>
        <p:nvPicPr>
          <p:cNvPr id="3" name="Picture 2">
            <a:extLst>
              <a:ext uri="{FF2B5EF4-FFF2-40B4-BE49-F238E27FC236}">
                <a16:creationId xmlns:a16="http://schemas.microsoft.com/office/drawing/2014/main" id="{8BFDC4AB-ACBC-EB14-2F84-2D6535776C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9448" y="1998777"/>
            <a:ext cx="8334375" cy="31432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AF5FE86-BDE4-47ED-128E-3DC2F5B50020}"/>
              </a:ext>
            </a:extLst>
          </p:cNvPr>
          <p:cNvSpPr txBox="1"/>
          <p:nvPr/>
        </p:nvSpPr>
        <p:spPr>
          <a:xfrm>
            <a:off x="341722" y="6058781"/>
            <a:ext cx="8236670" cy="369332"/>
          </a:xfrm>
          <a:prstGeom prst="rect">
            <a:avLst/>
          </a:prstGeom>
          <a:noFill/>
        </p:spPr>
        <p:txBody>
          <a:bodyPr wrap="square">
            <a:spAutoFit/>
          </a:bodyPr>
          <a:lstStyle/>
          <a:p>
            <a:r>
              <a:rPr lang="en-US">
                <a:hlinkClick r:id="rId3"/>
              </a:rPr>
              <a:t>https://towardsdatascience.com/pandas-series-a-lightweight-intro-b7963a0d62a2</a:t>
            </a:r>
            <a:r>
              <a:rPr lang="en-US"/>
              <a:t> </a:t>
            </a:r>
          </a:p>
        </p:txBody>
      </p:sp>
    </p:spTree>
    <p:extLst>
      <p:ext uri="{BB962C8B-B14F-4D97-AF65-F5344CB8AC3E}">
        <p14:creationId xmlns:p14="http://schemas.microsoft.com/office/powerpoint/2010/main" val="40468835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7828" y="938274"/>
            <a:ext cx="4520987" cy="5530620"/>
          </a:xfrm>
        </p:spPr>
        <p:txBody>
          <a:bodyPr>
            <a:normAutofit fontScale="92500"/>
          </a:bodyPr>
          <a:lstStyle/>
          <a:p>
            <a:r>
              <a:rPr lang="en-US"/>
              <a:t>Series = a column in a dataframe</a:t>
            </a:r>
            <a:endParaRPr lang="en-US" dirty="0"/>
          </a:p>
          <a:p>
            <a:r>
              <a:rPr lang="en-US"/>
              <a:t>Series = a row in a data frame</a:t>
            </a:r>
          </a:p>
          <a:p>
            <a:r>
              <a:rPr lang="en-US"/>
              <a:t>Series = row or column can be partial data matching some criteria</a:t>
            </a:r>
          </a:p>
          <a:p>
            <a:endParaRPr lang="en-US"/>
          </a:p>
          <a:p>
            <a:r>
              <a:rPr lang="en-US"/>
              <a:t>Typically, a series contains data of some type. (ints, strings, floats).</a:t>
            </a:r>
          </a:p>
          <a:p>
            <a:endParaRPr lang="en-US"/>
          </a:p>
          <a:p>
            <a:r>
              <a:rPr lang="en-US"/>
              <a:t>However, if add a float data to int column, then the whole series becomes ‘float’.</a:t>
            </a:r>
          </a:p>
          <a:p>
            <a:r>
              <a:rPr lang="en-US"/>
              <a:t>Similarly, if you add “string” data to a “float” column, then the whole series becomes “string”</a:t>
            </a:r>
            <a:endParaRPr lang="en-US" dirty="0"/>
          </a:p>
        </p:txBody>
      </p:sp>
      <p:sp>
        <p:nvSpPr>
          <p:cNvPr id="6" name="Title 1">
            <a:extLst>
              <a:ext uri="{FF2B5EF4-FFF2-40B4-BE49-F238E27FC236}">
                <a16:creationId xmlns:a16="http://schemas.microsoft.com/office/drawing/2014/main" id="{876EA338-6CE1-68D5-E77F-331CD89B014D}"/>
              </a:ext>
            </a:extLst>
          </p:cNvPr>
          <p:cNvSpPr txBox="1">
            <a:spLocks/>
          </p:cNvSpPr>
          <p:nvPr/>
        </p:nvSpPr>
        <p:spPr>
          <a:xfrm>
            <a:off x="-1" y="1274"/>
            <a:ext cx="8971175" cy="761460"/>
          </a:xfrm>
          <a:prstGeom prst="rect">
            <a:avLst/>
          </a:prstGeom>
        </p:spPr>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a:lstStyle>
          <a:p>
            <a:pPr algn="l"/>
            <a:r>
              <a:rPr lang="en-US" sz="4800">
                <a:solidFill>
                  <a:srgbClr val="04B452"/>
                </a:solidFill>
              </a:rPr>
              <a:t>Series</a:t>
            </a:r>
            <a:endParaRPr lang="en-US" sz="4800" dirty="0">
              <a:solidFill>
                <a:srgbClr val="04B452"/>
              </a:solidFill>
            </a:endParaRPr>
          </a:p>
        </p:txBody>
      </p:sp>
      <p:pic>
        <p:nvPicPr>
          <p:cNvPr id="1026" name="Picture 2" descr="PyBites Bite 251. Introducing Pandas Series">
            <a:extLst>
              <a:ext uri="{FF2B5EF4-FFF2-40B4-BE49-F238E27FC236}">
                <a16:creationId xmlns:a16="http://schemas.microsoft.com/office/drawing/2014/main" id="{120DE8AD-1A02-8BAC-5FC2-0738F28C05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89284" y="1157226"/>
            <a:ext cx="542925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62804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7829" y="938274"/>
            <a:ext cx="3584324" cy="5530620"/>
          </a:xfrm>
        </p:spPr>
        <p:txBody>
          <a:bodyPr/>
          <a:lstStyle/>
          <a:p>
            <a:r>
              <a:rPr lang="en-US" dirty="0"/>
              <a:t>One dimensional array-like object</a:t>
            </a:r>
          </a:p>
          <a:p>
            <a:r>
              <a:rPr lang="en-US" dirty="0"/>
              <a:t>It </a:t>
            </a:r>
            <a:r>
              <a:rPr lang="en-US"/>
              <a:t>contains an array </a:t>
            </a:r>
            <a:r>
              <a:rPr lang="en-US" dirty="0"/>
              <a:t>of data (of any </a:t>
            </a:r>
            <a:r>
              <a:rPr lang="en-US" dirty="0" err="1"/>
              <a:t>NumPy</a:t>
            </a:r>
            <a:r>
              <a:rPr lang="en-US" dirty="0"/>
              <a:t> data type) with associated indexes</a:t>
            </a:r>
            <a:r>
              <a:rPr lang="en-US"/>
              <a:t>. </a:t>
            </a:r>
            <a:endParaRPr lang="en-US" dirty="0"/>
          </a:p>
          <a:p>
            <a:r>
              <a:rPr lang="en-US"/>
              <a:t>By default, the index will be from 0 to size-1 </a:t>
            </a:r>
          </a:p>
          <a:p>
            <a:r>
              <a:rPr lang="en-US"/>
              <a:t>However, the indexes can be labeled with other data types (ex. Strings) </a:t>
            </a:r>
            <a:endParaRPr lang="en-US" dirty="0"/>
          </a:p>
          <a:p>
            <a:endParaRPr lang="en-US" dirty="0"/>
          </a:p>
          <a:p>
            <a:endParaRPr lang="en-US" dirty="0"/>
          </a:p>
          <a:p>
            <a:endParaRPr lang="en-US" dirty="0"/>
          </a:p>
        </p:txBody>
      </p:sp>
      <p:sp>
        <p:nvSpPr>
          <p:cNvPr id="6" name="Title 1">
            <a:extLst>
              <a:ext uri="{FF2B5EF4-FFF2-40B4-BE49-F238E27FC236}">
                <a16:creationId xmlns:a16="http://schemas.microsoft.com/office/drawing/2014/main" id="{876EA338-6CE1-68D5-E77F-331CD89B014D}"/>
              </a:ext>
            </a:extLst>
          </p:cNvPr>
          <p:cNvSpPr txBox="1">
            <a:spLocks/>
          </p:cNvSpPr>
          <p:nvPr/>
        </p:nvSpPr>
        <p:spPr>
          <a:xfrm>
            <a:off x="-1" y="1274"/>
            <a:ext cx="8971175" cy="761460"/>
          </a:xfrm>
          <a:prstGeom prst="rect">
            <a:avLst/>
          </a:prstGeom>
        </p:spPr>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a:lstStyle>
          <a:p>
            <a:pPr algn="l"/>
            <a:r>
              <a:rPr lang="en-US" sz="4800">
                <a:solidFill>
                  <a:srgbClr val="04B452"/>
                </a:solidFill>
              </a:rPr>
              <a:t>Series</a:t>
            </a:r>
            <a:endParaRPr lang="en-US" sz="4800" dirty="0">
              <a:solidFill>
                <a:srgbClr val="04B452"/>
              </a:solidFill>
            </a:endParaRPr>
          </a:p>
        </p:txBody>
      </p:sp>
      <p:pic>
        <p:nvPicPr>
          <p:cNvPr id="10" name="Picture 9">
            <a:extLst>
              <a:ext uri="{FF2B5EF4-FFF2-40B4-BE49-F238E27FC236}">
                <a16:creationId xmlns:a16="http://schemas.microsoft.com/office/drawing/2014/main" id="{D1189E54-DA18-5EB0-C9D6-2C0B6CD24E50}"/>
              </a:ext>
            </a:extLst>
          </p:cNvPr>
          <p:cNvPicPr>
            <a:picLocks noChangeAspect="1"/>
          </p:cNvPicPr>
          <p:nvPr/>
        </p:nvPicPr>
        <p:blipFill>
          <a:blip r:embed="rId2"/>
          <a:stretch>
            <a:fillRect/>
          </a:stretch>
        </p:blipFill>
        <p:spPr>
          <a:xfrm>
            <a:off x="4188974" y="382004"/>
            <a:ext cx="3619500" cy="4191000"/>
          </a:xfrm>
          <a:prstGeom prst="rect">
            <a:avLst/>
          </a:prstGeom>
        </p:spPr>
      </p:pic>
      <p:pic>
        <p:nvPicPr>
          <p:cNvPr id="12" name="Picture 11">
            <a:extLst>
              <a:ext uri="{FF2B5EF4-FFF2-40B4-BE49-F238E27FC236}">
                <a16:creationId xmlns:a16="http://schemas.microsoft.com/office/drawing/2014/main" id="{121F2D60-A5C6-1E93-5E7B-E459476A21E7}"/>
              </a:ext>
            </a:extLst>
          </p:cNvPr>
          <p:cNvPicPr>
            <a:picLocks noChangeAspect="1"/>
          </p:cNvPicPr>
          <p:nvPr/>
        </p:nvPicPr>
        <p:blipFill>
          <a:blip r:embed="rId3"/>
          <a:stretch>
            <a:fillRect/>
          </a:stretch>
        </p:blipFill>
        <p:spPr>
          <a:xfrm>
            <a:off x="8523711" y="3127936"/>
            <a:ext cx="3455302" cy="3594370"/>
          </a:xfrm>
          <a:prstGeom prst="rect">
            <a:avLst/>
          </a:prstGeom>
        </p:spPr>
      </p:pic>
      <p:sp>
        <p:nvSpPr>
          <p:cNvPr id="14" name="Arrow: Right 13">
            <a:extLst>
              <a:ext uri="{FF2B5EF4-FFF2-40B4-BE49-F238E27FC236}">
                <a16:creationId xmlns:a16="http://schemas.microsoft.com/office/drawing/2014/main" id="{0348615A-CE43-3337-961D-FD3016E57E74}"/>
              </a:ext>
            </a:extLst>
          </p:cNvPr>
          <p:cNvSpPr/>
          <p:nvPr/>
        </p:nvSpPr>
        <p:spPr>
          <a:xfrm rot="1997055">
            <a:off x="7470844" y="3932306"/>
            <a:ext cx="978408" cy="48463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83287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7828" y="938274"/>
            <a:ext cx="7839223" cy="5530620"/>
          </a:xfrm>
        </p:spPr>
        <p:txBody>
          <a:bodyPr/>
          <a:lstStyle/>
          <a:p>
            <a:r>
              <a:rPr lang="en-US"/>
              <a:t>See the google colab notebook  (intro_to_pandas.ipynb) </a:t>
            </a:r>
            <a:endParaRPr lang="en-US" dirty="0"/>
          </a:p>
        </p:txBody>
      </p:sp>
      <p:sp>
        <p:nvSpPr>
          <p:cNvPr id="6" name="Title 1">
            <a:extLst>
              <a:ext uri="{FF2B5EF4-FFF2-40B4-BE49-F238E27FC236}">
                <a16:creationId xmlns:a16="http://schemas.microsoft.com/office/drawing/2014/main" id="{876EA338-6CE1-68D5-E77F-331CD89B014D}"/>
              </a:ext>
            </a:extLst>
          </p:cNvPr>
          <p:cNvSpPr txBox="1">
            <a:spLocks/>
          </p:cNvSpPr>
          <p:nvPr/>
        </p:nvSpPr>
        <p:spPr>
          <a:xfrm>
            <a:off x="-1" y="1274"/>
            <a:ext cx="8971175" cy="761460"/>
          </a:xfrm>
          <a:prstGeom prst="rect">
            <a:avLst/>
          </a:prstGeom>
        </p:spPr>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a:lstStyle>
          <a:p>
            <a:pPr algn="l"/>
            <a:r>
              <a:rPr lang="en-US" sz="4800">
                <a:solidFill>
                  <a:srgbClr val="04B452"/>
                </a:solidFill>
              </a:rPr>
              <a:t>Series: Exploration </a:t>
            </a:r>
            <a:endParaRPr lang="en-US" sz="4800" dirty="0">
              <a:solidFill>
                <a:srgbClr val="04B452"/>
              </a:solidFill>
            </a:endParaRPr>
          </a:p>
        </p:txBody>
      </p:sp>
      <p:pic>
        <p:nvPicPr>
          <p:cNvPr id="4" name="Picture 3">
            <a:extLst>
              <a:ext uri="{FF2B5EF4-FFF2-40B4-BE49-F238E27FC236}">
                <a16:creationId xmlns:a16="http://schemas.microsoft.com/office/drawing/2014/main" id="{883FA276-6CBF-9BDD-732F-6EB32A4F8CEE}"/>
              </a:ext>
            </a:extLst>
          </p:cNvPr>
          <p:cNvPicPr>
            <a:picLocks noChangeAspect="1"/>
          </p:cNvPicPr>
          <p:nvPr/>
        </p:nvPicPr>
        <p:blipFill>
          <a:blip r:embed="rId2"/>
          <a:stretch>
            <a:fillRect/>
          </a:stretch>
        </p:blipFill>
        <p:spPr>
          <a:xfrm>
            <a:off x="865547" y="1728787"/>
            <a:ext cx="5827484" cy="4612886"/>
          </a:xfrm>
          <a:prstGeom prst="rect">
            <a:avLst/>
          </a:prstGeom>
        </p:spPr>
      </p:pic>
    </p:spTree>
    <p:extLst>
      <p:ext uri="{BB962C8B-B14F-4D97-AF65-F5344CB8AC3E}">
        <p14:creationId xmlns:p14="http://schemas.microsoft.com/office/powerpoint/2010/main" val="10519057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52660" y="327893"/>
            <a:ext cx="9144000" cy="1588939"/>
          </a:xfrm>
        </p:spPr>
        <p:txBody>
          <a:bodyPr>
            <a:normAutofit/>
          </a:bodyPr>
          <a:lstStyle/>
          <a:p>
            <a:r>
              <a:rPr lang="en-US">
                <a:solidFill>
                  <a:srgbClr val="00B050"/>
                </a:solidFill>
              </a:rPr>
              <a:t>Pandas DataFrame</a:t>
            </a:r>
            <a:endParaRPr lang="en-US" dirty="0">
              <a:solidFill>
                <a:srgbClr val="00B050"/>
              </a:solidFill>
            </a:endParaRPr>
          </a:p>
        </p:txBody>
      </p:sp>
      <p:pic>
        <p:nvPicPr>
          <p:cNvPr id="1026" name="Picture 2" descr="Python: Styled DataFrame Viewer - IntelliJ IDEs Plugin | Marketplace">
            <a:extLst>
              <a:ext uri="{FF2B5EF4-FFF2-40B4-BE49-F238E27FC236}">
                <a16:creationId xmlns:a16="http://schemas.microsoft.com/office/drawing/2014/main" id="{B6E33F16-2B4C-97DC-EC70-913303A0CE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1684" y="1536765"/>
            <a:ext cx="4698869" cy="46988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895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3030556" y="1883080"/>
            <a:ext cx="5153025" cy="3752850"/>
          </a:xfrm>
          <a:prstGeom prst="rect">
            <a:avLst/>
          </a:prstGeom>
        </p:spPr>
      </p:pic>
      <p:sp>
        <p:nvSpPr>
          <p:cNvPr id="3" name="Title 1">
            <a:extLst>
              <a:ext uri="{FF2B5EF4-FFF2-40B4-BE49-F238E27FC236}">
                <a16:creationId xmlns:a16="http://schemas.microsoft.com/office/drawing/2014/main" id="{90153298-A2DD-9198-05B0-DC8950F24E67}"/>
              </a:ext>
            </a:extLst>
          </p:cNvPr>
          <p:cNvSpPr txBox="1">
            <a:spLocks/>
          </p:cNvSpPr>
          <p:nvPr/>
        </p:nvSpPr>
        <p:spPr>
          <a:xfrm>
            <a:off x="-1" y="1274"/>
            <a:ext cx="8971175" cy="761460"/>
          </a:xfrm>
          <a:prstGeom prst="rect">
            <a:avLst/>
          </a:prstGeom>
        </p:spPr>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a:lstStyle>
          <a:p>
            <a:pPr algn="l"/>
            <a:r>
              <a:rPr lang="en-US" sz="4800">
                <a:solidFill>
                  <a:srgbClr val="04B452"/>
                </a:solidFill>
              </a:rPr>
              <a:t>DataFrame: Visualization</a:t>
            </a:r>
            <a:endParaRPr lang="en-US" sz="4800" dirty="0">
              <a:solidFill>
                <a:srgbClr val="04B452"/>
              </a:solidFill>
            </a:endParaRPr>
          </a:p>
        </p:txBody>
      </p:sp>
    </p:spTree>
    <p:extLst>
      <p:ext uri="{BB962C8B-B14F-4D97-AF65-F5344CB8AC3E}">
        <p14:creationId xmlns:p14="http://schemas.microsoft.com/office/powerpoint/2010/main" val="41676219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4727" y="1189105"/>
            <a:ext cx="10874828" cy="2372704"/>
          </a:xfrm>
        </p:spPr>
        <p:txBody>
          <a:bodyPr>
            <a:noAutofit/>
          </a:bodyPr>
          <a:lstStyle/>
          <a:p>
            <a:pPr>
              <a:lnSpc>
                <a:spcPct val="100000"/>
              </a:lnSpc>
              <a:spcBef>
                <a:spcPts val="600"/>
              </a:spcBef>
              <a:spcAft>
                <a:spcPts val="600"/>
              </a:spcAft>
            </a:pPr>
            <a:r>
              <a:rPr lang="en-US" sz="2000"/>
              <a:t>Series is a sequence or column  </a:t>
            </a:r>
          </a:p>
          <a:p>
            <a:pPr>
              <a:lnSpc>
                <a:spcPct val="100000"/>
              </a:lnSpc>
              <a:spcBef>
                <a:spcPts val="600"/>
              </a:spcBef>
              <a:spcAft>
                <a:spcPts val="600"/>
              </a:spcAft>
            </a:pPr>
            <a:r>
              <a:rPr lang="en-US" sz="2000"/>
              <a:t>DataFrame is a collection of Series</a:t>
            </a:r>
          </a:p>
          <a:p>
            <a:pPr>
              <a:lnSpc>
                <a:spcPct val="100000"/>
              </a:lnSpc>
              <a:spcBef>
                <a:spcPts val="600"/>
              </a:spcBef>
              <a:spcAft>
                <a:spcPts val="600"/>
              </a:spcAft>
            </a:pPr>
            <a:r>
              <a:rPr lang="en-US" sz="2000"/>
              <a:t>DataFrames and Series are quite similar (accessing, index labeling, slicing, descriptive statistics, etc.)</a:t>
            </a:r>
          </a:p>
          <a:p>
            <a:pPr>
              <a:lnSpc>
                <a:spcPct val="100000"/>
              </a:lnSpc>
              <a:spcBef>
                <a:spcPts val="600"/>
              </a:spcBef>
              <a:spcAft>
                <a:spcPts val="600"/>
              </a:spcAft>
            </a:pPr>
            <a:r>
              <a:rPr lang="en-US" sz="2000">
                <a:solidFill>
                  <a:srgbClr val="FF0000"/>
                </a:solidFill>
              </a:rPr>
              <a:t>Series</a:t>
            </a:r>
            <a:r>
              <a:rPr lang="en-US" sz="2000"/>
              <a:t> is a one-dimensional array (D) like structure with homogeneous data. </a:t>
            </a:r>
          </a:p>
          <a:p>
            <a:pPr>
              <a:lnSpc>
                <a:spcPct val="100000"/>
              </a:lnSpc>
              <a:spcBef>
                <a:spcPts val="600"/>
              </a:spcBef>
              <a:spcAft>
                <a:spcPts val="600"/>
              </a:spcAft>
            </a:pPr>
            <a:r>
              <a:rPr lang="en-US" sz="2000">
                <a:solidFill>
                  <a:srgbClr val="FF0000"/>
                </a:solidFill>
              </a:rPr>
              <a:t>DataFrame</a:t>
            </a:r>
            <a:r>
              <a:rPr lang="en-US" sz="2000"/>
              <a:t> is a two-dimensional array (2D) with </a:t>
            </a:r>
            <a:r>
              <a:rPr lang="en-US" sz="2000" u="sng">
                <a:solidFill>
                  <a:srgbClr val="FF0000"/>
                </a:solidFill>
              </a:rPr>
              <a:t>heterogeneous</a:t>
            </a:r>
            <a:r>
              <a:rPr lang="en-US" sz="2000"/>
              <a:t> data. </a:t>
            </a:r>
          </a:p>
          <a:p>
            <a:pPr>
              <a:lnSpc>
                <a:spcPct val="100000"/>
              </a:lnSpc>
              <a:spcBef>
                <a:spcPts val="600"/>
              </a:spcBef>
              <a:spcAft>
                <a:spcPts val="600"/>
              </a:spcAft>
            </a:pPr>
            <a:endParaRPr lang="en-US" sz="2000"/>
          </a:p>
        </p:txBody>
      </p:sp>
      <p:pic>
        <p:nvPicPr>
          <p:cNvPr id="1026" name="Picture 2" descr="Series vs DataFra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7715" y="4320002"/>
            <a:ext cx="5291545" cy="202666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p:cNvGrpSpPr/>
          <p:nvPr/>
        </p:nvGrpSpPr>
        <p:grpSpPr>
          <a:xfrm>
            <a:off x="6783798" y="5029926"/>
            <a:ext cx="1010193" cy="1114696"/>
            <a:chOff x="11129555" y="5268687"/>
            <a:chExt cx="1010193" cy="1114696"/>
          </a:xfrm>
        </p:grpSpPr>
        <p:cxnSp>
          <p:nvCxnSpPr>
            <p:cNvPr id="6" name="Straight Arrow Connector 5"/>
            <p:cNvCxnSpPr/>
            <p:nvPr/>
          </p:nvCxnSpPr>
          <p:spPr>
            <a:xfrm flipH="1" flipV="1">
              <a:off x="11129555" y="5799909"/>
              <a:ext cx="444136" cy="7559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 name="Straight Arrow Connector 10"/>
            <p:cNvCxnSpPr/>
            <p:nvPr/>
          </p:nvCxnSpPr>
          <p:spPr>
            <a:xfrm flipH="1">
              <a:off x="11195413" y="5875501"/>
              <a:ext cx="378278" cy="50788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3" name="Rectangle 12"/>
            <p:cNvSpPr/>
            <p:nvPr/>
          </p:nvSpPr>
          <p:spPr>
            <a:xfrm>
              <a:off x="11460480" y="5686103"/>
              <a:ext cx="679268" cy="3787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rows</a:t>
              </a:r>
            </a:p>
          </p:txBody>
        </p:sp>
        <p:cxnSp>
          <p:nvCxnSpPr>
            <p:cNvPr id="15" name="Straight Arrow Connector 14"/>
            <p:cNvCxnSpPr/>
            <p:nvPr/>
          </p:nvCxnSpPr>
          <p:spPr>
            <a:xfrm flipH="1" flipV="1">
              <a:off x="11129555" y="5268687"/>
              <a:ext cx="444136" cy="60681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6" name="Group 25"/>
          <p:cNvGrpSpPr/>
          <p:nvPr/>
        </p:nvGrpSpPr>
        <p:grpSpPr>
          <a:xfrm>
            <a:off x="5564598" y="3610078"/>
            <a:ext cx="1474197" cy="1306635"/>
            <a:chOff x="9910355" y="3848839"/>
            <a:chExt cx="1474197" cy="1306635"/>
          </a:xfrm>
        </p:grpSpPr>
        <p:cxnSp>
          <p:nvCxnSpPr>
            <p:cNvPr id="20" name="Straight Arrow Connector 19"/>
            <p:cNvCxnSpPr/>
            <p:nvPr/>
          </p:nvCxnSpPr>
          <p:spPr>
            <a:xfrm flipH="1">
              <a:off x="9910355" y="4232366"/>
              <a:ext cx="971550" cy="92310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3" name="Straight Arrow Connector 22"/>
            <p:cNvCxnSpPr/>
            <p:nvPr/>
          </p:nvCxnSpPr>
          <p:spPr>
            <a:xfrm flipH="1">
              <a:off x="10672355" y="4232366"/>
              <a:ext cx="218258" cy="92310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7" name="Rectangle 26"/>
            <p:cNvSpPr/>
            <p:nvPr/>
          </p:nvSpPr>
          <p:spPr>
            <a:xfrm>
              <a:off x="10374359" y="3848839"/>
              <a:ext cx="1010193" cy="3787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columns</a:t>
              </a:r>
            </a:p>
          </p:txBody>
        </p:sp>
      </p:grpSp>
      <p:sp>
        <p:nvSpPr>
          <p:cNvPr id="5" name="Title 1">
            <a:extLst>
              <a:ext uri="{FF2B5EF4-FFF2-40B4-BE49-F238E27FC236}">
                <a16:creationId xmlns:a16="http://schemas.microsoft.com/office/drawing/2014/main" id="{A8C40CFB-C118-2DBC-213F-FE5F75E56ACE}"/>
              </a:ext>
            </a:extLst>
          </p:cNvPr>
          <p:cNvSpPr txBox="1">
            <a:spLocks/>
          </p:cNvSpPr>
          <p:nvPr/>
        </p:nvSpPr>
        <p:spPr>
          <a:xfrm>
            <a:off x="-1" y="1274"/>
            <a:ext cx="8971175" cy="761460"/>
          </a:xfrm>
          <a:prstGeom prst="rect">
            <a:avLst/>
          </a:prstGeom>
        </p:spPr>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a:lstStyle>
          <a:p>
            <a:pPr algn="l"/>
            <a:r>
              <a:rPr lang="en-US" sz="4800">
                <a:solidFill>
                  <a:srgbClr val="04B452"/>
                </a:solidFill>
              </a:rPr>
              <a:t>pandas = Series &amp; DataFrames </a:t>
            </a:r>
            <a:endParaRPr lang="en-US" sz="4800" dirty="0">
              <a:solidFill>
                <a:srgbClr val="04B452"/>
              </a:solidFill>
            </a:endParaRPr>
          </a:p>
        </p:txBody>
      </p:sp>
    </p:spTree>
    <p:extLst>
      <p:ext uri="{BB962C8B-B14F-4D97-AF65-F5344CB8AC3E}">
        <p14:creationId xmlns:p14="http://schemas.microsoft.com/office/powerpoint/2010/main" val="1967848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8C40CFB-C118-2DBC-213F-FE5F75E56ACE}"/>
              </a:ext>
            </a:extLst>
          </p:cNvPr>
          <p:cNvSpPr txBox="1">
            <a:spLocks/>
          </p:cNvSpPr>
          <p:nvPr/>
        </p:nvSpPr>
        <p:spPr>
          <a:xfrm>
            <a:off x="-1" y="1274"/>
            <a:ext cx="8971175" cy="761460"/>
          </a:xfrm>
          <a:prstGeom prst="rect">
            <a:avLst/>
          </a:prstGeom>
        </p:spPr>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a:lstStyle>
          <a:p>
            <a:pPr algn="l"/>
            <a:r>
              <a:rPr lang="en-US" sz="4800">
                <a:solidFill>
                  <a:srgbClr val="04B452"/>
                </a:solidFill>
              </a:rPr>
              <a:t>DataFrame: Creating </a:t>
            </a:r>
            <a:endParaRPr lang="en-US" sz="4800" dirty="0">
              <a:solidFill>
                <a:srgbClr val="04B452"/>
              </a:solidFill>
            </a:endParaRPr>
          </a:p>
        </p:txBody>
      </p:sp>
      <p:sp>
        <p:nvSpPr>
          <p:cNvPr id="4" name="Content Placeholder 2">
            <a:extLst>
              <a:ext uri="{FF2B5EF4-FFF2-40B4-BE49-F238E27FC236}">
                <a16:creationId xmlns:a16="http://schemas.microsoft.com/office/drawing/2014/main" id="{96F8F293-982E-7E81-C961-0E74A56B3383}"/>
              </a:ext>
            </a:extLst>
          </p:cNvPr>
          <p:cNvSpPr txBox="1">
            <a:spLocks/>
          </p:cNvSpPr>
          <p:nvPr/>
        </p:nvSpPr>
        <p:spPr>
          <a:xfrm>
            <a:off x="330926" y="1887583"/>
            <a:ext cx="11469187" cy="1979024"/>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4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457200" rtl="0" eaLnBrk="1" latinLnBrk="0" hangingPunct="1">
              <a:spcBef>
                <a:spcPct val="20000"/>
              </a:spcBef>
              <a:buFont typeface="Arial"/>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457200" rtl="0" eaLnBrk="1" latinLnBrk="0" hangingPunct="1">
              <a:spcBef>
                <a:spcPct val="20000"/>
              </a:spcBef>
              <a:buFont typeface="Arial"/>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457200" rtl="0" eaLnBrk="1" latinLnBrk="0" hangingPunct="1">
              <a:spcBef>
                <a:spcPct val="20000"/>
              </a:spcBef>
              <a:buFont typeface="Arial"/>
              <a:buChar char="–"/>
              <a:defRPr sz="20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457200" rtl="0" eaLnBrk="1" latinLnBrk="0" hangingPunct="1">
              <a:spcBef>
                <a:spcPct val="20000"/>
              </a:spcBef>
              <a:buFont typeface="Arial"/>
              <a:buChar char="»"/>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800">
                <a:solidFill>
                  <a:srgbClr val="0070C0"/>
                </a:solidFill>
              </a:rPr>
              <a:t>data:        </a:t>
            </a:r>
            <a:r>
              <a:rPr lang="en-US" sz="1600"/>
              <a:t>data takes various forms like </a:t>
            </a:r>
            <a:r>
              <a:rPr lang="en-US" sz="1600" i="1">
                <a:solidFill>
                  <a:srgbClr val="0070C0"/>
                </a:solidFill>
                <a:latin typeface="Courier New" panose="02070309020205020404" pitchFamily="49" charset="0"/>
                <a:cs typeface="Courier New" panose="02070309020205020404" pitchFamily="49" charset="0"/>
              </a:rPr>
              <a:t>ndarray</a:t>
            </a:r>
            <a:r>
              <a:rPr lang="en-US" sz="1600"/>
              <a:t>, </a:t>
            </a:r>
            <a:r>
              <a:rPr lang="en-US" sz="1600" i="1">
                <a:solidFill>
                  <a:srgbClr val="0070C0"/>
                </a:solidFill>
                <a:latin typeface="Courier New" panose="02070309020205020404" pitchFamily="49" charset="0"/>
                <a:cs typeface="Courier New" panose="02070309020205020404" pitchFamily="49" charset="0"/>
              </a:rPr>
              <a:t>series</a:t>
            </a:r>
            <a:r>
              <a:rPr lang="en-US" sz="1600"/>
              <a:t>, </a:t>
            </a:r>
            <a:r>
              <a:rPr lang="en-US" sz="1600" i="1">
                <a:solidFill>
                  <a:srgbClr val="0070C0"/>
                </a:solidFill>
                <a:latin typeface="Courier New" panose="02070309020205020404" pitchFamily="49" charset="0"/>
                <a:cs typeface="Courier New" panose="02070309020205020404" pitchFamily="49" charset="0"/>
              </a:rPr>
              <a:t>map</a:t>
            </a:r>
            <a:r>
              <a:rPr lang="en-US" sz="1600"/>
              <a:t>, </a:t>
            </a:r>
            <a:r>
              <a:rPr lang="en-US" sz="1600" i="1">
                <a:solidFill>
                  <a:srgbClr val="0070C0"/>
                </a:solidFill>
                <a:latin typeface="Courier New" panose="02070309020205020404" pitchFamily="49" charset="0"/>
                <a:cs typeface="Courier New" panose="02070309020205020404" pitchFamily="49" charset="0"/>
              </a:rPr>
              <a:t>lists</a:t>
            </a:r>
            <a:r>
              <a:rPr lang="en-US" sz="1600"/>
              <a:t>, </a:t>
            </a:r>
            <a:r>
              <a:rPr lang="en-US" sz="1600" i="1">
                <a:solidFill>
                  <a:srgbClr val="0070C0"/>
                </a:solidFill>
                <a:latin typeface="Courier New" panose="02070309020205020404" pitchFamily="49" charset="0"/>
                <a:cs typeface="Courier New" panose="02070309020205020404" pitchFamily="49" charset="0"/>
              </a:rPr>
              <a:t>dict</a:t>
            </a:r>
            <a:r>
              <a:rPr lang="en-US" sz="1600"/>
              <a:t>, constants and also another </a:t>
            </a:r>
            <a:r>
              <a:rPr lang="en-US" sz="1600" i="1">
                <a:solidFill>
                  <a:srgbClr val="0070C0"/>
                </a:solidFill>
                <a:latin typeface="Courier New" panose="02070309020205020404" pitchFamily="49" charset="0"/>
                <a:cs typeface="Courier New" panose="02070309020205020404" pitchFamily="49" charset="0"/>
              </a:rPr>
              <a:t>DataFrame</a:t>
            </a:r>
            <a:r>
              <a:rPr lang="en-US" sz="1600"/>
              <a:t>.</a:t>
            </a:r>
          </a:p>
          <a:p>
            <a:r>
              <a:rPr lang="en-US" sz="1800">
                <a:solidFill>
                  <a:srgbClr val="0070C0"/>
                </a:solidFill>
              </a:rPr>
              <a:t>index:      </a:t>
            </a:r>
            <a:r>
              <a:rPr lang="en-US" sz="1600"/>
              <a:t>For the </a:t>
            </a:r>
            <a:r>
              <a:rPr lang="en-US" sz="1600" b="1" u="sng"/>
              <a:t>row labels</a:t>
            </a:r>
            <a:r>
              <a:rPr lang="en-US" sz="1600"/>
              <a:t>, that are to be used for the resulting frame,  Optional, Default is </a:t>
            </a:r>
            <a:r>
              <a:rPr lang="en-US" sz="1600" i="1">
                <a:latin typeface="Courier New" panose="02070309020205020404" pitchFamily="49" charset="0"/>
                <a:cs typeface="Courier New" panose="02070309020205020404" pitchFamily="49" charset="0"/>
              </a:rPr>
              <a:t>np.arrange(n)</a:t>
            </a:r>
            <a:r>
              <a:rPr lang="en-US" sz="1600"/>
              <a:t>if no index is passed.</a:t>
            </a:r>
          </a:p>
          <a:p>
            <a:r>
              <a:rPr lang="en-US" sz="1800">
                <a:solidFill>
                  <a:srgbClr val="0070C0"/>
                </a:solidFill>
              </a:rPr>
              <a:t>columns: </a:t>
            </a:r>
            <a:r>
              <a:rPr lang="en-US" sz="1600"/>
              <a:t>For </a:t>
            </a:r>
            <a:r>
              <a:rPr lang="en-US" sz="1600" b="1" u="sng"/>
              <a:t>column labels</a:t>
            </a:r>
            <a:r>
              <a:rPr lang="en-US" sz="1600"/>
              <a:t>, the optional default syntax is - </a:t>
            </a:r>
            <a:r>
              <a:rPr lang="en-US" sz="1600" i="1">
                <a:latin typeface="Courier New" panose="02070309020205020404" pitchFamily="49" charset="0"/>
                <a:cs typeface="Courier New" panose="02070309020205020404" pitchFamily="49" charset="0"/>
              </a:rPr>
              <a:t>np.arrange(n)</a:t>
            </a:r>
            <a:r>
              <a:rPr lang="en-US" sz="1600"/>
              <a:t>. This is only true if no index is passed.</a:t>
            </a:r>
          </a:p>
          <a:p>
            <a:r>
              <a:rPr lang="en-US" sz="1800">
                <a:solidFill>
                  <a:srgbClr val="0070C0"/>
                </a:solidFill>
              </a:rPr>
              <a:t>dtype:      </a:t>
            </a:r>
            <a:r>
              <a:rPr lang="en-US" sz="1600"/>
              <a:t>Data type of each column.</a:t>
            </a:r>
          </a:p>
          <a:p>
            <a:r>
              <a:rPr lang="en-US" sz="1800">
                <a:solidFill>
                  <a:srgbClr val="0070C0"/>
                </a:solidFill>
              </a:rPr>
              <a:t>copy:        </a:t>
            </a:r>
            <a:r>
              <a:rPr lang="en-US" sz="1600"/>
              <a:t>This command is used for copying data. The default is False.</a:t>
            </a:r>
            <a:endParaRPr lang="en-US" sz="1600" dirty="0"/>
          </a:p>
        </p:txBody>
      </p:sp>
      <p:sp>
        <p:nvSpPr>
          <p:cNvPr id="7" name="Rectangle 6">
            <a:extLst>
              <a:ext uri="{FF2B5EF4-FFF2-40B4-BE49-F238E27FC236}">
                <a16:creationId xmlns:a16="http://schemas.microsoft.com/office/drawing/2014/main" id="{7F5CF74B-C42F-4657-4B70-F02E9D1C9E97}"/>
              </a:ext>
            </a:extLst>
          </p:cNvPr>
          <p:cNvSpPr/>
          <p:nvPr/>
        </p:nvSpPr>
        <p:spPr>
          <a:xfrm>
            <a:off x="1423852" y="1068541"/>
            <a:ext cx="9135292" cy="400110"/>
          </a:xfrm>
          <a:prstGeom prst="rect">
            <a:avLst/>
          </a:prstGeom>
          <a:solidFill>
            <a:schemeClr val="accent4">
              <a:lumMod val="20000"/>
              <a:lumOff val="80000"/>
            </a:schemeClr>
          </a:solidFill>
          <a:ln>
            <a:solidFill>
              <a:schemeClr val="accent1"/>
            </a:solidFill>
          </a:ln>
        </p:spPr>
        <p:txBody>
          <a:bodyPr wrap="square">
            <a:spAutoFit/>
          </a:bodyPr>
          <a:lstStyle/>
          <a:p>
            <a:r>
              <a:rPr lang="en-US" sz="2000" b="1" dirty="0" err="1">
                <a:solidFill>
                  <a:srgbClr val="0070C0"/>
                </a:solidFill>
                <a:latin typeface="Courier New" panose="02070309020205020404" pitchFamily="49" charset="0"/>
                <a:cs typeface="Courier New" panose="02070309020205020404" pitchFamily="49" charset="0"/>
              </a:rPr>
              <a:t>pandas.DataFrame</a:t>
            </a:r>
            <a:r>
              <a:rPr lang="en-US" sz="2000" b="1" dirty="0">
                <a:solidFill>
                  <a:srgbClr val="0070C0"/>
                </a:solidFill>
                <a:latin typeface="Courier New" panose="02070309020205020404" pitchFamily="49" charset="0"/>
                <a:cs typeface="Courier New" panose="02070309020205020404" pitchFamily="49" charset="0"/>
              </a:rPr>
              <a:t>(data, index , columns , </a:t>
            </a:r>
            <a:r>
              <a:rPr lang="en-US" sz="2000" b="1" dirty="0" err="1">
                <a:solidFill>
                  <a:srgbClr val="0070C0"/>
                </a:solidFill>
                <a:latin typeface="Courier New" panose="02070309020205020404" pitchFamily="49" charset="0"/>
                <a:cs typeface="Courier New" panose="02070309020205020404" pitchFamily="49" charset="0"/>
              </a:rPr>
              <a:t>dtype</a:t>
            </a:r>
            <a:r>
              <a:rPr lang="en-US" sz="2000" b="1" dirty="0">
                <a:solidFill>
                  <a:srgbClr val="0070C0"/>
                </a:solidFill>
                <a:latin typeface="Courier New" panose="02070309020205020404" pitchFamily="49" charset="0"/>
                <a:cs typeface="Courier New" panose="02070309020205020404" pitchFamily="49" charset="0"/>
              </a:rPr>
              <a:t> , copy )</a:t>
            </a:r>
          </a:p>
        </p:txBody>
      </p:sp>
    </p:spTree>
    <p:extLst>
      <p:ext uri="{BB962C8B-B14F-4D97-AF65-F5344CB8AC3E}">
        <p14:creationId xmlns:p14="http://schemas.microsoft.com/office/powerpoint/2010/main" val="7806247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8C40CFB-C118-2DBC-213F-FE5F75E56ACE}"/>
              </a:ext>
            </a:extLst>
          </p:cNvPr>
          <p:cNvSpPr txBox="1">
            <a:spLocks/>
          </p:cNvSpPr>
          <p:nvPr/>
        </p:nvSpPr>
        <p:spPr>
          <a:xfrm>
            <a:off x="-1" y="1274"/>
            <a:ext cx="8971175" cy="761460"/>
          </a:xfrm>
          <a:prstGeom prst="rect">
            <a:avLst/>
          </a:prstGeom>
        </p:spPr>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a:lstStyle>
          <a:p>
            <a:pPr algn="l"/>
            <a:r>
              <a:rPr lang="en-US" sz="4800">
                <a:solidFill>
                  <a:srgbClr val="04B452"/>
                </a:solidFill>
              </a:rPr>
              <a:t>DataFrame: Source of creation </a:t>
            </a:r>
            <a:endParaRPr lang="en-US" sz="4800" dirty="0">
              <a:solidFill>
                <a:srgbClr val="04B452"/>
              </a:solidFill>
            </a:endParaRPr>
          </a:p>
        </p:txBody>
      </p:sp>
      <p:sp>
        <p:nvSpPr>
          <p:cNvPr id="7" name="Rectangle 6">
            <a:extLst>
              <a:ext uri="{FF2B5EF4-FFF2-40B4-BE49-F238E27FC236}">
                <a16:creationId xmlns:a16="http://schemas.microsoft.com/office/drawing/2014/main" id="{7F5CF74B-C42F-4657-4B70-F02E9D1C9E97}"/>
              </a:ext>
            </a:extLst>
          </p:cNvPr>
          <p:cNvSpPr/>
          <p:nvPr/>
        </p:nvSpPr>
        <p:spPr>
          <a:xfrm>
            <a:off x="1423852" y="1068541"/>
            <a:ext cx="9135292" cy="400110"/>
          </a:xfrm>
          <a:prstGeom prst="rect">
            <a:avLst/>
          </a:prstGeom>
          <a:solidFill>
            <a:schemeClr val="accent4">
              <a:lumMod val="20000"/>
              <a:lumOff val="80000"/>
            </a:schemeClr>
          </a:solidFill>
          <a:ln>
            <a:solidFill>
              <a:schemeClr val="accent1"/>
            </a:solidFill>
          </a:ln>
        </p:spPr>
        <p:txBody>
          <a:bodyPr wrap="square">
            <a:spAutoFit/>
          </a:bodyPr>
          <a:lstStyle/>
          <a:p>
            <a:r>
              <a:rPr lang="en-US" sz="2000" b="1" dirty="0" err="1">
                <a:solidFill>
                  <a:srgbClr val="0070C0"/>
                </a:solidFill>
                <a:latin typeface="Courier New" panose="02070309020205020404" pitchFamily="49" charset="0"/>
                <a:cs typeface="Courier New" panose="02070309020205020404" pitchFamily="49" charset="0"/>
              </a:rPr>
              <a:t>pandas.DataFrame</a:t>
            </a:r>
            <a:r>
              <a:rPr lang="en-US" sz="2000" b="1" dirty="0">
                <a:solidFill>
                  <a:srgbClr val="0070C0"/>
                </a:solidFill>
                <a:latin typeface="Courier New" panose="02070309020205020404" pitchFamily="49" charset="0"/>
                <a:cs typeface="Courier New" panose="02070309020205020404" pitchFamily="49" charset="0"/>
              </a:rPr>
              <a:t>(data, index , columns , </a:t>
            </a:r>
            <a:r>
              <a:rPr lang="en-US" sz="2000" b="1" dirty="0" err="1">
                <a:solidFill>
                  <a:srgbClr val="0070C0"/>
                </a:solidFill>
                <a:latin typeface="Courier New" panose="02070309020205020404" pitchFamily="49" charset="0"/>
                <a:cs typeface="Courier New" panose="02070309020205020404" pitchFamily="49" charset="0"/>
              </a:rPr>
              <a:t>dtype</a:t>
            </a:r>
            <a:r>
              <a:rPr lang="en-US" sz="2000" b="1" dirty="0">
                <a:solidFill>
                  <a:srgbClr val="0070C0"/>
                </a:solidFill>
                <a:latin typeface="Courier New" panose="02070309020205020404" pitchFamily="49" charset="0"/>
                <a:cs typeface="Courier New" panose="02070309020205020404" pitchFamily="49" charset="0"/>
              </a:rPr>
              <a:t> , copy )</a:t>
            </a:r>
          </a:p>
        </p:txBody>
      </p:sp>
      <p:sp>
        <p:nvSpPr>
          <p:cNvPr id="2" name="Content Placeholder 2">
            <a:extLst>
              <a:ext uri="{FF2B5EF4-FFF2-40B4-BE49-F238E27FC236}">
                <a16:creationId xmlns:a16="http://schemas.microsoft.com/office/drawing/2014/main" id="{5784FE6F-BE31-74EE-2D5D-38758DCADF84}"/>
              </a:ext>
            </a:extLst>
          </p:cNvPr>
          <p:cNvSpPr txBox="1">
            <a:spLocks/>
          </p:cNvSpPr>
          <p:nvPr/>
        </p:nvSpPr>
        <p:spPr>
          <a:xfrm>
            <a:off x="500608" y="2066088"/>
            <a:ext cx="11469187" cy="240674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sz="2800"/>
              <a:t>A </a:t>
            </a:r>
            <a:r>
              <a:rPr lang="en-US" sz="2800" dirty="0"/>
              <a:t>pandas </a:t>
            </a:r>
            <a:r>
              <a:rPr lang="en-US" sz="2800" dirty="0" err="1"/>
              <a:t>DataFrame</a:t>
            </a:r>
            <a:r>
              <a:rPr lang="en-US" sz="2800" dirty="0"/>
              <a:t> can be created using various inputs like −</a:t>
            </a:r>
          </a:p>
          <a:p>
            <a:pPr lvl="2"/>
            <a:r>
              <a:rPr lang="en-US" sz="2800" dirty="0"/>
              <a:t>Lists</a:t>
            </a:r>
          </a:p>
          <a:p>
            <a:pPr lvl="2"/>
            <a:r>
              <a:rPr lang="en-US" sz="2800" dirty="0" err="1"/>
              <a:t>dict</a:t>
            </a:r>
            <a:endParaRPr lang="en-US" sz="2800" dirty="0"/>
          </a:p>
          <a:p>
            <a:pPr lvl="2"/>
            <a:r>
              <a:rPr lang="en-US" sz="2800" dirty="0"/>
              <a:t>Series</a:t>
            </a:r>
          </a:p>
          <a:p>
            <a:pPr lvl="2"/>
            <a:r>
              <a:rPr lang="en-US" sz="2800" dirty="0" err="1"/>
              <a:t>Numpy</a:t>
            </a:r>
            <a:r>
              <a:rPr lang="en-US" sz="2800" dirty="0"/>
              <a:t> </a:t>
            </a:r>
            <a:r>
              <a:rPr lang="en-US" sz="2800" dirty="0" err="1"/>
              <a:t>ndarrays</a:t>
            </a:r>
            <a:endParaRPr lang="en-US" sz="2800" dirty="0"/>
          </a:p>
          <a:p>
            <a:pPr lvl="2"/>
            <a:r>
              <a:rPr lang="en-US" sz="2800" dirty="0"/>
              <a:t>Another </a:t>
            </a:r>
            <a:r>
              <a:rPr lang="en-US" sz="2800" dirty="0" err="1"/>
              <a:t>DataFrame</a:t>
            </a:r>
            <a:endParaRPr lang="en-US" sz="2800" dirty="0"/>
          </a:p>
        </p:txBody>
      </p:sp>
    </p:spTree>
    <p:extLst>
      <p:ext uri="{BB962C8B-B14F-4D97-AF65-F5344CB8AC3E}">
        <p14:creationId xmlns:p14="http://schemas.microsoft.com/office/powerpoint/2010/main" val="26867643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8C40CFB-C118-2DBC-213F-FE5F75E56ACE}"/>
              </a:ext>
            </a:extLst>
          </p:cNvPr>
          <p:cNvSpPr txBox="1">
            <a:spLocks/>
          </p:cNvSpPr>
          <p:nvPr/>
        </p:nvSpPr>
        <p:spPr>
          <a:xfrm>
            <a:off x="-1" y="1274"/>
            <a:ext cx="8971175" cy="761460"/>
          </a:xfrm>
          <a:prstGeom prst="rect">
            <a:avLst/>
          </a:prstGeom>
        </p:spPr>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a:lstStyle>
          <a:p>
            <a:pPr algn="l"/>
            <a:r>
              <a:rPr lang="en-US" sz="4800">
                <a:solidFill>
                  <a:srgbClr val="04B452"/>
                </a:solidFill>
              </a:rPr>
              <a:t>DataFrame: Exploration</a:t>
            </a:r>
            <a:endParaRPr lang="en-US" sz="4800" dirty="0">
              <a:solidFill>
                <a:srgbClr val="04B452"/>
              </a:solidFill>
            </a:endParaRPr>
          </a:p>
        </p:txBody>
      </p:sp>
      <p:sp>
        <p:nvSpPr>
          <p:cNvPr id="2" name="Content Placeholder 2">
            <a:extLst>
              <a:ext uri="{FF2B5EF4-FFF2-40B4-BE49-F238E27FC236}">
                <a16:creationId xmlns:a16="http://schemas.microsoft.com/office/drawing/2014/main" id="{5784FE6F-BE31-74EE-2D5D-38758DCADF84}"/>
              </a:ext>
            </a:extLst>
          </p:cNvPr>
          <p:cNvSpPr txBox="1">
            <a:spLocks/>
          </p:cNvSpPr>
          <p:nvPr/>
        </p:nvSpPr>
        <p:spPr>
          <a:xfrm>
            <a:off x="85830" y="730099"/>
            <a:ext cx="11469187" cy="240674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US" sz="2800"/>
          </a:p>
          <a:p>
            <a:pPr lvl="1"/>
            <a:r>
              <a:rPr lang="en-US" sz="2800"/>
              <a:t>See the google colab notebook  (intro_to_pandas.ipynb) </a:t>
            </a:r>
          </a:p>
          <a:p>
            <a:pPr lvl="1"/>
            <a:endParaRPr lang="en-US" sz="2800"/>
          </a:p>
          <a:p>
            <a:pPr lvl="1"/>
            <a:r>
              <a:rPr lang="en-US" sz="2800"/>
              <a:t>Reading/Loading CSV/Excel/JSON files</a:t>
            </a:r>
          </a:p>
          <a:p>
            <a:pPr lvl="1"/>
            <a:r>
              <a:rPr lang="en-US" sz="2800"/>
              <a:t>Querying the DataFrame</a:t>
            </a:r>
          </a:p>
          <a:p>
            <a:pPr lvl="1"/>
            <a:r>
              <a:rPr lang="en-US" sz="2800"/>
              <a:t>Typical operations </a:t>
            </a:r>
          </a:p>
          <a:p>
            <a:pPr lvl="2"/>
            <a:r>
              <a:rPr lang="en-US" sz="2400"/>
              <a:t>Create, Read, Update, Delete</a:t>
            </a:r>
          </a:p>
          <a:p>
            <a:pPr lvl="2"/>
            <a:r>
              <a:rPr lang="en-US" sz="2400"/>
              <a:t>Traversal, Selection, Filtering</a:t>
            </a:r>
          </a:p>
          <a:p>
            <a:pPr lvl="2"/>
            <a:r>
              <a:rPr lang="en-US" sz="2400"/>
              <a:t>Column encoding, recoding</a:t>
            </a:r>
          </a:p>
          <a:p>
            <a:pPr lvl="2"/>
            <a:r>
              <a:rPr lang="en-US" sz="2400"/>
              <a:t>Joins, Transformations</a:t>
            </a:r>
          </a:p>
          <a:p>
            <a:pPr lvl="2"/>
            <a:endParaRPr lang="en-US" sz="2400" dirty="0"/>
          </a:p>
        </p:txBody>
      </p:sp>
      <p:pic>
        <p:nvPicPr>
          <p:cNvPr id="4" name="Picture 3">
            <a:extLst>
              <a:ext uri="{FF2B5EF4-FFF2-40B4-BE49-F238E27FC236}">
                <a16:creationId xmlns:a16="http://schemas.microsoft.com/office/drawing/2014/main" id="{2DE6E885-B50C-86D0-99E5-413070355FDF}"/>
              </a:ext>
            </a:extLst>
          </p:cNvPr>
          <p:cNvPicPr>
            <a:picLocks noChangeAspect="1"/>
          </p:cNvPicPr>
          <p:nvPr/>
        </p:nvPicPr>
        <p:blipFill>
          <a:blip r:embed="rId2"/>
          <a:stretch>
            <a:fillRect/>
          </a:stretch>
        </p:blipFill>
        <p:spPr>
          <a:xfrm>
            <a:off x="6990274" y="2546856"/>
            <a:ext cx="4858230" cy="3684262"/>
          </a:xfrm>
          <a:prstGeom prst="rect">
            <a:avLst/>
          </a:prstGeom>
        </p:spPr>
      </p:pic>
    </p:spTree>
    <p:extLst>
      <p:ext uri="{BB962C8B-B14F-4D97-AF65-F5344CB8AC3E}">
        <p14:creationId xmlns:p14="http://schemas.microsoft.com/office/powerpoint/2010/main" val="15879151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48332" y="224155"/>
            <a:ext cx="7772400" cy="1470025"/>
          </a:xfrm>
        </p:spPr>
        <p:txBody>
          <a:bodyPr>
            <a:normAutofit/>
          </a:bodyPr>
          <a:lstStyle/>
          <a:p>
            <a:r>
              <a:rPr lang="en-US" sz="4800" dirty="0">
                <a:solidFill>
                  <a:srgbClr val="04B452"/>
                </a:solidFill>
              </a:rPr>
              <a:t>Thank You.</a:t>
            </a:r>
          </a:p>
        </p:txBody>
      </p:sp>
      <p:pic>
        <p:nvPicPr>
          <p:cNvPr id="6" name="Picture 5">
            <a:extLst>
              <a:ext uri="{FF2B5EF4-FFF2-40B4-BE49-F238E27FC236}">
                <a16:creationId xmlns:a16="http://schemas.microsoft.com/office/drawing/2014/main" id="{5618CB8B-A791-452D-A2B2-B6E0E15F67BF}"/>
              </a:ext>
            </a:extLst>
          </p:cNvPr>
          <p:cNvPicPr>
            <a:picLocks noChangeAspect="1"/>
          </p:cNvPicPr>
          <p:nvPr/>
        </p:nvPicPr>
        <p:blipFill>
          <a:blip r:embed="rId2"/>
          <a:stretch>
            <a:fillRect/>
          </a:stretch>
        </p:blipFill>
        <p:spPr>
          <a:xfrm>
            <a:off x="1609725" y="1552575"/>
            <a:ext cx="8972550" cy="37528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6f75f480-7803-4ee9-bb54-84d0635fdbe7}" enabled="1" method="Privileged" siteId="{38ae3bcd-9579-4fd4-adda-b42e1495d55a}" contentBits="0" removed="0"/>
</clbl:labelList>
</file>

<file path=docProps/app.xml><?xml version="1.0" encoding="utf-8"?>
<Properties xmlns="http://schemas.openxmlformats.org/officeDocument/2006/extended-properties" xmlns:vt="http://schemas.openxmlformats.org/officeDocument/2006/docPropsVTypes">
  <TotalTime>1382</TotalTime>
  <Words>807</Words>
  <Application>Microsoft Office PowerPoint</Application>
  <PresentationFormat>Widescreen</PresentationFormat>
  <Paragraphs>94</Paragraphs>
  <Slides>18</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Courier New</vt:lpstr>
      <vt:lpstr>Roboto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Pandas Series</vt:lpstr>
      <vt:lpstr>PowerPoint Presentation</vt:lpstr>
      <vt:lpstr>PowerPoint Presentation</vt:lpstr>
      <vt:lpstr>PowerPoint Presentation</vt:lpstr>
      <vt:lpstr>Pandas DataFrame</vt:lpstr>
      <vt:lpstr>PowerPoint Presentation</vt:lpstr>
      <vt:lpstr>PowerPoint Presentation</vt:lpstr>
      <vt:lpstr>PowerPoint Presentation</vt:lpstr>
      <vt:lpstr>PowerPoint Presentation</vt:lpstr>
      <vt:lpstr>PowerPoint Presentation</vt:lpstr>
      <vt:lpstr>Thank You.</vt:lpstr>
    </vt:vector>
  </TitlesOfParts>
  <Company>Fabric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Andrew Harwood</dc:creator>
  <cp:keywords>C_Unrestricted</cp:keywords>
  <cp:lastModifiedBy>Jasthi, Jasthi (DI SW PLM LCS DEVOPS)</cp:lastModifiedBy>
  <cp:revision>50</cp:revision>
  <dcterms:created xsi:type="dcterms:W3CDTF">2014-09-03T22:10:43Z</dcterms:created>
  <dcterms:modified xsi:type="dcterms:W3CDTF">2025-09-19T12:23:31Z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ument Confidentiality">
    <vt:lpwstr>Unrestricted</vt:lpwstr>
  </property>
  <property fmtid="{D5CDD505-2E9C-101B-9397-08002B2CF9AE}" pid="3" name="sodocoClasLang">
    <vt:lpwstr>Unrestricted</vt:lpwstr>
  </property>
  <property fmtid="{D5CDD505-2E9C-101B-9397-08002B2CF9AE}" pid="4" name="sodocoClasLangId">
    <vt:i4>0</vt:i4>
  </property>
  <property fmtid="{D5CDD505-2E9C-101B-9397-08002B2CF9AE}" pid="5" name="sodocoClasId">
    <vt:i4>0</vt:i4>
  </property>
  <property fmtid="{D5CDD505-2E9C-101B-9397-08002B2CF9AE}" pid="6" name="MSIP_Label_6f75f480-7803-4ee9-bb54-84d0635fdbe7_Enabled">
    <vt:lpwstr>true</vt:lpwstr>
  </property>
  <property fmtid="{D5CDD505-2E9C-101B-9397-08002B2CF9AE}" pid="7" name="MSIP_Label_6f75f480-7803-4ee9-bb54-84d0635fdbe7_SetDate">
    <vt:lpwstr>2023-01-22T14:43:40Z</vt:lpwstr>
  </property>
  <property fmtid="{D5CDD505-2E9C-101B-9397-08002B2CF9AE}" pid="8" name="MSIP_Label_6f75f480-7803-4ee9-bb54-84d0635fdbe7_Method">
    <vt:lpwstr>Privileged</vt:lpwstr>
  </property>
  <property fmtid="{D5CDD505-2E9C-101B-9397-08002B2CF9AE}" pid="9" name="MSIP_Label_6f75f480-7803-4ee9-bb54-84d0635fdbe7_Name">
    <vt:lpwstr>unrestricted</vt:lpwstr>
  </property>
  <property fmtid="{D5CDD505-2E9C-101B-9397-08002B2CF9AE}" pid="10" name="MSIP_Label_6f75f480-7803-4ee9-bb54-84d0635fdbe7_SiteId">
    <vt:lpwstr>38ae3bcd-9579-4fd4-adda-b42e1495d55a</vt:lpwstr>
  </property>
  <property fmtid="{D5CDD505-2E9C-101B-9397-08002B2CF9AE}" pid="11" name="MSIP_Label_6f75f480-7803-4ee9-bb54-84d0635fdbe7_ActionId">
    <vt:lpwstr>70b7c7d7-b7c5-44a3-a465-a5732ac3a019</vt:lpwstr>
  </property>
  <property fmtid="{D5CDD505-2E9C-101B-9397-08002B2CF9AE}" pid="12" name="MSIP_Label_6f75f480-7803-4ee9-bb54-84d0635fdbe7_ContentBits">
    <vt:lpwstr>0</vt:lpwstr>
  </property>
</Properties>
</file>