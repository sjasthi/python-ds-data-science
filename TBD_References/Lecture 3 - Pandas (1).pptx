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8" r:id="rId1"/>
  </p:sldMasterIdLst>
  <p:notesMasterIdLst>
    <p:notesMasterId r:id="rId39"/>
  </p:notesMasterIdLst>
  <p:handoutMasterIdLst>
    <p:handoutMasterId r:id="rId40"/>
  </p:handoutMasterIdLst>
  <p:sldIdLst>
    <p:sldId id="30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93" r:id="rId12"/>
    <p:sldId id="309" r:id="rId13"/>
    <p:sldId id="310" r:id="rId14"/>
    <p:sldId id="298" r:id="rId15"/>
    <p:sldId id="266" r:id="rId16"/>
    <p:sldId id="267" r:id="rId17"/>
    <p:sldId id="268" r:id="rId18"/>
    <p:sldId id="269" r:id="rId19"/>
    <p:sldId id="272" r:id="rId20"/>
    <p:sldId id="299" r:id="rId21"/>
    <p:sldId id="273" r:id="rId22"/>
    <p:sldId id="274" r:id="rId23"/>
    <p:sldId id="275" r:id="rId24"/>
    <p:sldId id="276" r:id="rId25"/>
    <p:sldId id="295" r:id="rId26"/>
    <p:sldId id="278" r:id="rId27"/>
    <p:sldId id="300" r:id="rId28"/>
    <p:sldId id="279" r:id="rId29"/>
    <p:sldId id="280" r:id="rId30"/>
    <p:sldId id="281" r:id="rId31"/>
    <p:sldId id="282" r:id="rId32"/>
    <p:sldId id="283" r:id="rId33"/>
    <p:sldId id="301" r:id="rId34"/>
    <p:sldId id="285" r:id="rId35"/>
    <p:sldId id="286" r:id="rId36"/>
    <p:sldId id="296" r:id="rId37"/>
    <p:sldId id="297" r:id="rId3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1A0"/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90" autoAdjust="0"/>
    <p:restoredTop sz="91562" autoAdjust="0"/>
  </p:normalViewPr>
  <p:slideViewPr>
    <p:cSldViewPr snapToGrid="0" snapToObjects="1">
      <p:cViewPr varScale="1">
        <p:scale>
          <a:sx n="78" d="100"/>
          <a:sy n="78" d="100"/>
        </p:scale>
        <p:origin x="1603" y="7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notesViewPr>
    <p:cSldViewPr snapToGrid="0" snapToObjects="1">
      <p:cViewPr varScale="1">
        <p:scale>
          <a:sx n="84" d="100"/>
          <a:sy n="84" d="100"/>
        </p:scale>
        <p:origin x="190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path Jayarathna" userId="aa7a8714-7736-4927-8c16-9ff815108838" providerId="ADAL" clId="{A92EAB33-BCFD-4A00-BA77-E8E0E1C63E4A}"/>
    <pc:docChg chg="modSld">
      <pc:chgData name="Sampath Jayarathna" userId="aa7a8714-7736-4927-8c16-9ff815108838" providerId="ADAL" clId="{A92EAB33-BCFD-4A00-BA77-E8E0E1C63E4A}" dt="2017-09-12T02:28:40.084" v="0" actId="20577"/>
      <pc:docMkLst>
        <pc:docMk/>
      </pc:docMkLst>
      <pc:sldChg chg="modSp">
        <pc:chgData name="Sampath Jayarathna" userId="aa7a8714-7736-4927-8c16-9ff815108838" providerId="ADAL" clId="{A92EAB33-BCFD-4A00-BA77-E8E0E1C63E4A}" dt="2017-09-12T02:28:40.084" v="0" actId="20577"/>
        <pc:sldMkLst>
          <pc:docMk/>
          <pc:sldMk cId="0" sldId="256"/>
        </pc:sldMkLst>
        <pc:spChg chg="mod">
          <ac:chgData name="Sampath Jayarathna" userId="aa7a8714-7736-4927-8c16-9ff815108838" providerId="ADAL" clId="{A92EAB33-BCFD-4A00-BA77-E8E0E1C63E4A}" dt="2017-09-12T02:28:40.084" v="0" actId="20577"/>
          <ac:spMkLst>
            <pc:docMk/>
            <pc:sldMk cId="0" sldId="256"/>
            <ac:spMk id="13314" creationId="{00000000-0000-0000-0000-000000000000}"/>
          </ac:spMkLst>
        </pc:spChg>
      </pc:sldChg>
    </pc:docChg>
  </pc:docChgLst>
  <pc:docChgLst>
    <pc:chgData name="Sampath Jayarathna" userId="aa7a8714-7736-4927-8c16-9ff815108838" providerId="ADAL" clId="{499EBE74-92CE-4708-B4D0-D68D5EA82886}"/>
    <pc:docChg chg="custSel addSld delSld modSld sldOrd">
      <pc:chgData name="Sampath Jayarathna" userId="aa7a8714-7736-4927-8c16-9ff815108838" providerId="ADAL" clId="{499EBE74-92CE-4708-B4D0-D68D5EA82886}" dt="2017-09-24T18:01:35.321" v="430"/>
      <pc:docMkLst>
        <pc:docMk/>
      </pc:docMkLst>
      <pc:sldChg chg="modSp">
        <pc:chgData name="Sampath Jayarathna" userId="aa7a8714-7736-4927-8c16-9ff815108838" providerId="ADAL" clId="{499EBE74-92CE-4708-B4D0-D68D5EA82886}" dt="2017-09-24T16:46:30.011" v="37" actId="20577"/>
        <pc:sldMkLst>
          <pc:docMk/>
          <pc:sldMk cId="0" sldId="256"/>
        </pc:sldMkLst>
        <pc:spChg chg="mod">
          <ac:chgData name="Sampath Jayarathna" userId="aa7a8714-7736-4927-8c16-9ff815108838" providerId="ADAL" clId="{499EBE74-92CE-4708-B4D0-D68D5EA82886}" dt="2017-09-24T16:46:12.246" v="3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ampath Jayarathna" userId="aa7a8714-7736-4927-8c16-9ff815108838" providerId="ADAL" clId="{499EBE74-92CE-4708-B4D0-D68D5EA82886}" dt="2017-09-24T16:46:30.011" v="37" actId="20577"/>
          <ac:spMkLst>
            <pc:docMk/>
            <pc:sldMk cId="0" sldId="256"/>
            <ac:spMk id="13314" creationId="{00000000-0000-0000-0000-000000000000}"/>
          </ac:spMkLst>
        </pc:spChg>
      </pc:sldChg>
      <pc:sldChg chg="modSp">
        <pc:chgData name="Sampath Jayarathna" userId="aa7a8714-7736-4927-8c16-9ff815108838" providerId="ADAL" clId="{499EBE74-92CE-4708-B4D0-D68D5EA82886}" dt="2017-09-24T16:47:41.258" v="48"/>
        <pc:sldMkLst>
          <pc:docMk/>
          <pc:sldMk cId="450086219" sldId="340"/>
        </pc:sldMkLst>
        <pc:spChg chg="mod">
          <ac:chgData name="Sampath Jayarathna" userId="aa7a8714-7736-4927-8c16-9ff815108838" providerId="ADAL" clId="{499EBE74-92CE-4708-B4D0-D68D5EA82886}" dt="2017-09-24T16:47:41.258" v="48"/>
          <ac:spMkLst>
            <pc:docMk/>
            <pc:sldMk cId="450086219" sldId="340"/>
            <ac:spMk id="3" creationId="{00000000-0000-0000-0000-000000000000}"/>
          </ac:spMkLst>
        </pc:spChg>
      </pc:sldChg>
      <pc:sldChg chg="modAnim">
        <pc:chgData name="Sampath Jayarathna" userId="aa7a8714-7736-4927-8c16-9ff815108838" providerId="ADAL" clId="{499EBE74-92CE-4708-B4D0-D68D5EA82886}" dt="2017-09-24T17:25:22.242" v="406"/>
        <pc:sldMkLst>
          <pc:docMk/>
          <pc:sldMk cId="265880121" sldId="343"/>
        </pc:sldMkLst>
      </pc:sldChg>
      <pc:sldChg chg="modSp">
        <pc:chgData name="Sampath Jayarathna" userId="aa7a8714-7736-4927-8c16-9ff815108838" providerId="ADAL" clId="{499EBE74-92CE-4708-B4D0-D68D5EA82886}" dt="2017-09-24T16:59:45.445" v="86"/>
        <pc:sldMkLst>
          <pc:docMk/>
          <pc:sldMk cId="858178701" sldId="353"/>
        </pc:sldMkLst>
        <pc:spChg chg="mod">
          <ac:chgData name="Sampath Jayarathna" userId="aa7a8714-7736-4927-8c16-9ff815108838" providerId="ADAL" clId="{499EBE74-92CE-4708-B4D0-D68D5EA82886}" dt="2017-09-24T16:59:45.445" v="86"/>
          <ac:spMkLst>
            <pc:docMk/>
            <pc:sldMk cId="858178701" sldId="353"/>
            <ac:spMk id="3" creationId="{00000000-0000-0000-0000-000000000000}"/>
          </ac:spMkLst>
        </pc:spChg>
      </pc:sldChg>
      <pc:sldChg chg="del">
        <pc:chgData name="Sampath Jayarathna" userId="aa7a8714-7736-4927-8c16-9ff815108838" providerId="ADAL" clId="{499EBE74-92CE-4708-B4D0-D68D5EA82886}" dt="2017-09-12T15:04:08.729" v="1" actId="2696"/>
        <pc:sldMkLst>
          <pc:docMk/>
          <pc:sldMk cId="3814497085" sldId="372"/>
        </pc:sldMkLst>
      </pc:sldChg>
      <pc:sldChg chg="del">
        <pc:chgData name="Sampath Jayarathna" userId="aa7a8714-7736-4927-8c16-9ff815108838" providerId="ADAL" clId="{499EBE74-92CE-4708-B4D0-D68D5EA82886}" dt="2017-09-12T15:04:09.166" v="2" actId="2696"/>
        <pc:sldMkLst>
          <pc:docMk/>
          <pc:sldMk cId="410254146" sldId="373"/>
        </pc:sldMkLst>
      </pc:sldChg>
      <pc:sldChg chg="del">
        <pc:chgData name="Sampath Jayarathna" userId="aa7a8714-7736-4927-8c16-9ff815108838" providerId="ADAL" clId="{499EBE74-92CE-4708-B4D0-D68D5EA82886}" dt="2017-09-12T15:04:10.197" v="5" actId="2696"/>
        <pc:sldMkLst>
          <pc:docMk/>
          <pc:sldMk cId="2465032117" sldId="416"/>
        </pc:sldMkLst>
      </pc:sldChg>
      <pc:sldChg chg="del">
        <pc:chgData name="Sampath Jayarathna" userId="aa7a8714-7736-4927-8c16-9ff815108838" providerId="ADAL" clId="{499EBE74-92CE-4708-B4D0-D68D5EA82886}" dt="2017-09-12T15:04:10.431" v="6" actId="2696"/>
        <pc:sldMkLst>
          <pc:docMk/>
          <pc:sldMk cId="560557113" sldId="417"/>
        </pc:sldMkLst>
      </pc:sldChg>
      <pc:sldChg chg="del">
        <pc:chgData name="Sampath Jayarathna" userId="aa7a8714-7736-4927-8c16-9ff815108838" providerId="ADAL" clId="{499EBE74-92CE-4708-B4D0-D68D5EA82886}" dt="2017-09-12T15:04:10.931" v="7" actId="2696"/>
        <pc:sldMkLst>
          <pc:docMk/>
          <pc:sldMk cId="604490762" sldId="419"/>
        </pc:sldMkLst>
      </pc:sldChg>
      <pc:sldChg chg="del">
        <pc:chgData name="Sampath Jayarathna" userId="aa7a8714-7736-4927-8c16-9ff815108838" providerId="ADAL" clId="{499EBE74-92CE-4708-B4D0-D68D5EA82886}" dt="2017-09-12T15:04:11.227" v="8" actId="2696"/>
        <pc:sldMkLst>
          <pc:docMk/>
          <pc:sldMk cId="1281587551" sldId="420"/>
        </pc:sldMkLst>
      </pc:sldChg>
      <pc:sldChg chg="del">
        <pc:chgData name="Sampath Jayarathna" userId="aa7a8714-7736-4927-8c16-9ff815108838" providerId="ADAL" clId="{499EBE74-92CE-4708-B4D0-D68D5EA82886}" dt="2017-09-12T15:04:11.603" v="9" actId="2696"/>
        <pc:sldMkLst>
          <pc:docMk/>
          <pc:sldMk cId="1504104208" sldId="421"/>
        </pc:sldMkLst>
      </pc:sldChg>
      <pc:sldChg chg="del">
        <pc:chgData name="Sampath Jayarathna" userId="aa7a8714-7736-4927-8c16-9ff815108838" providerId="ADAL" clId="{499EBE74-92CE-4708-B4D0-D68D5EA82886}" dt="2017-09-12T15:04:11.994" v="10" actId="2696"/>
        <pc:sldMkLst>
          <pc:docMk/>
          <pc:sldMk cId="3480587755" sldId="422"/>
        </pc:sldMkLst>
      </pc:sldChg>
      <pc:sldChg chg="del">
        <pc:chgData name="Sampath Jayarathna" userId="aa7a8714-7736-4927-8c16-9ff815108838" providerId="ADAL" clId="{499EBE74-92CE-4708-B4D0-D68D5EA82886}" dt="2017-09-12T15:04:12.446" v="11" actId="2696"/>
        <pc:sldMkLst>
          <pc:docMk/>
          <pc:sldMk cId="1631321762" sldId="423"/>
        </pc:sldMkLst>
      </pc:sldChg>
      <pc:sldChg chg="del">
        <pc:chgData name="Sampath Jayarathna" userId="aa7a8714-7736-4927-8c16-9ff815108838" providerId="ADAL" clId="{499EBE74-92CE-4708-B4D0-D68D5EA82886}" dt="2017-09-12T15:04:12.821" v="12" actId="2696"/>
        <pc:sldMkLst>
          <pc:docMk/>
          <pc:sldMk cId="3371586983" sldId="424"/>
        </pc:sldMkLst>
      </pc:sldChg>
      <pc:sldChg chg="del">
        <pc:chgData name="Sampath Jayarathna" userId="aa7a8714-7736-4927-8c16-9ff815108838" providerId="ADAL" clId="{499EBE74-92CE-4708-B4D0-D68D5EA82886}" dt="2017-09-12T15:04:13.180" v="13" actId="2696"/>
        <pc:sldMkLst>
          <pc:docMk/>
          <pc:sldMk cId="617484425" sldId="426"/>
        </pc:sldMkLst>
      </pc:sldChg>
      <pc:sldChg chg="del">
        <pc:chgData name="Sampath Jayarathna" userId="aa7a8714-7736-4927-8c16-9ff815108838" providerId="ADAL" clId="{499EBE74-92CE-4708-B4D0-D68D5EA82886}" dt="2017-09-12T15:04:13.477" v="14" actId="2696"/>
        <pc:sldMkLst>
          <pc:docMk/>
          <pc:sldMk cId="2443456539" sldId="427"/>
        </pc:sldMkLst>
      </pc:sldChg>
      <pc:sldChg chg="del">
        <pc:chgData name="Sampath Jayarathna" userId="aa7a8714-7736-4927-8c16-9ff815108838" providerId="ADAL" clId="{499EBE74-92CE-4708-B4D0-D68D5EA82886}" dt="2017-09-12T15:04:13.743" v="15" actId="2696"/>
        <pc:sldMkLst>
          <pc:docMk/>
          <pc:sldMk cId="2385046714" sldId="428"/>
        </pc:sldMkLst>
      </pc:sldChg>
      <pc:sldChg chg="del">
        <pc:chgData name="Sampath Jayarathna" userId="aa7a8714-7736-4927-8c16-9ff815108838" providerId="ADAL" clId="{499EBE74-92CE-4708-B4D0-D68D5EA82886}" dt="2017-09-12T15:04:14.008" v="16" actId="2696"/>
        <pc:sldMkLst>
          <pc:docMk/>
          <pc:sldMk cId="2459958421" sldId="429"/>
        </pc:sldMkLst>
      </pc:sldChg>
      <pc:sldChg chg="del">
        <pc:chgData name="Sampath Jayarathna" userId="aa7a8714-7736-4927-8c16-9ff815108838" providerId="ADAL" clId="{499EBE74-92CE-4708-B4D0-D68D5EA82886}" dt="2017-09-12T15:04:14.523" v="17" actId="2696"/>
        <pc:sldMkLst>
          <pc:docMk/>
          <pc:sldMk cId="2604325515" sldId="430"/>
        </pc:sldMkLst>
      </pc:sldChg>
      <pc:sldChg chg="del">
        <pc:chgData name="Sampath Jayarathna" userId="aa7a8714-7736-4927-8c16-9ff815108838" providerId="ADAL" clId="{499EBE74-92CE-4708-B4D0-D68D5EA82886}" dt="2017-09-12T15:04:14.962" v="18" actId="2696"/>
        <pc:sldMkLst>
          <pc:docMk/>
          <pc:sldMk cId="4287012752" sldId="431"/>
        </pc:sldMkLst>
      </pc:sldChg>
      <pc:sldChg chg="del">
        <pc:chgData name="Sampath Jayarathna" userId="aa7a8714-7736-4927-8c16-9ff815108838" providerId="ADAL" clId="{499EBE74-92CE-4708-B4D0-D68D5EA82886}" dt="2017-09-12T15:04:15.523" v="19" actId="2696"/>
        <pc:sldMkLst>
          <pc:docMk/>
          <pc:sldMk cId="3254873868" sldId="432"/>
        </pc:sldMkLst>
      </pc:sldChg>
      <pc:sldChg chg="del">
        <pc:chgData name="Sampath Jayarathna" userId="aa7a8714-7736-4927-8c16-9ff815108838" providerId="ADAL" clId="{499EBE74-92CE-4708-B4D0-D68D5EA82886}" dt="2017-09-12T15:04:15.958" v="20" actId="2696"/>
        <pc:sldMkLst>
          <pc:docMk/>
          <pc:sldMk cId="2149540359" sldId="433"/>
        </pc:sldMkLst>
      </pc:sldChg>
      <pc:sldChg chg="del">
        <pc:chgData name="Sampath Jayarathna" userId="aa7a8714-7736-4927-8c16-9ff815108838" providerId="ADAL" clId="{499EBE74-92CE-4708-B4D0-D68D5EA82886}" dt="2017-09-12T15:04:16.368" v="21" actId="2696"/>
        <pc:sldMkLst>
          <pc:docMk/>
          <pc:sldMk cId="1431824454" sldId="434"/>
        </pc:sldMkLst>
      </pc:sldChg>
      <pc:sldChg chg="del">
        <pc:chgData name="Sampath Jayarathna" userId="aa7a8714-7736-4927-8c16-9ff815108838" providerId="ADAL" clId="{499EBE74-92CE-4708-B4D0-D68D5EA82886}" dt="2017-09-12T15:04:16.802" v="22" actId="2696"/>
        <pc:sldMkLst>
          <pc:docMk/>
          <pc:sldMk cId="177052231" sldId="436"/>
        </pc:sldMkLst>
      </pc:sldChg>
      <pc:sldChg chg="del">
        <pc:chgData name="Sampath Jayarathna" userId="aa7a8714-7736-4927-8c16-9ff815108838" providerId="ADAL" clId="{499EBE74-92CE-4708-B4D0-D68D5EA82886}" dt="2017-09-12T15:04:17.192" v="23" actId="2696"/>
        <pc:sldMkLst>
          <pc:docMk/>
          <pc:sldMk cId="237875402" sldId="437"/>
        </pc:sldMkLst>
      </pc:sldChg>
      <pc:sldChg chg="del">
        <pc:chgData name="Sampath Jayarathna" userId="aa7a8714-7736-4927-8c16-9ff815108838" providerId="ADAL" clId="{499EBE74-92CE-4708-B4D0-D68D5EA82886}" dt="2017-09-12T15:04:17.717" v="24" actId="2696"/>
        <pc:sldMkLst>
          <pc:docMk/>
          <pc:sldMk cId="4022589867" sldId="438"/>
        </pc:sldMkLst>
      </pc:sldChg>
      <pc:sldChg chg="del">
        <pc:chgData name="Sampath Jayarathna" userId="aa7a8714-7736-4927-8c16-9ff815108838" providerId="ADAL" clId="{499EBE74-92CE-4708-B4D0-D68D5EA82886}" dt="2017-09-12T15:04:18.371" v="25" actId="2696"/>
        <pc:sldMkLst>
          <pc:docMk/>
          <pc:sldMk cId="2877326565" sldId="441"/>
        </pc:sldMkLst>
      </pc:sldChg>
      <pc:sldChg chg="del">
        <pc:chgData name="Sampath Jayarathna" userId="aa7a8714-7736-4927-8c16-9ff815108838" providerId="ADAL" clId="{499EBE74-92CE-4708-B4D0-D68D5EA82886}" dt="2017-09-12T15:04:18.723" v="26" actId="2696"/>
        <pc:sldMkLst>
          <pc:docMk/>
          <pc:sldMk cId="1634963024" sldId="443"/>
        </pc:sldMkLst>
      </pc:sldChg>
      <pc:sldChg chg="del">
        <pc:chgData name="Sampath Jayarathna" userId="aa7a8714-7736-4927-8c16-9ff815108838" providerId="ADAL" clId="{499EBE74-92CE-4708-B4D0-D68D5EA82886}" dt="2017-09-12T15:04:19.163" v="27" actId="2696"/>
        <pc:sldMkLst>
          <pc:docMk/>
          <pc:sldMk cId="674464450" sldId="444"/>
        </pc:sldMkLst>
      </pc:sldChg>
      <pc:sldChg chg="del">
        <pc:chgData name="Sampath Jayarathna" userId="aa7a8714-7736-4927-8c16-9ff815108838" providerId="ADAL" clId="{499EBE74-92CE-4708-B4D0-D68D5EA82886}" dt="2017-09-12T15:04:19.523" v="28" actId="2696"/>
        <pc:sldMkLst>
          <pc:docMk/>
          <pc:sldMk cId="1103648532" sldId="445"/>
        </pc:sldMkLst>
      </pc:sldChg>
      <pc:sldChg chg="del">
        <pc:chgData name="Sampath Jayarathna" userId="aa7a8714-7736-4927-8c16-9ff815108838" providerId="ADAL" clId="{499EBE74-92CE-4708-B4D0-D68D5EA82886}" dt="2017-09-12T15:04:19.965" v="29" actId="2696"/>
        <pc:sldMkLst>
          <pc:docMk/>
          <pc:sldMk cId="2310452793" sldId="446"/>
        </pc:sldMkLst>
      </pc:sldChg>
      <pc:sldChg chg="del">
        <pc:chgData name="Sampath Jayarathna" userId="aa7a8714-7736-4927-8c16-9ff815108838" providerId="ADAL" clId="{499EBE74-92CE-4708-B4D0-D68D5EA82886}" dt="2017-09-12T15:04:20.408" v="30" actId="2696"/>
        <pc:sldMkLst>
          <pc:docMk/>
          <pc:sldMk cId="2034690977" sldId="447"/>
        </pc:sldMkLst>
      </pc:sldChg>
      <pc:sldChg chg="del">
        <pc:chgData name="Sampath Jayarathna" userId="aa7a8714-7736-4927-8c16-9ff815108838" providerId="ADAL" clId="{499EBE74-92CE-4708-B4D0-D68D5EA82886}" dt="2017-09-12T15:04:20.804" v="31" actId="2696"/>
        <pc:sldMkLst>
          <pc:docMk/>
          <pc:sldMk cId="1558320191" sldId="448"/>
        </pc:sldMkLst>
      </pc:sldChg>
      <pc:sldChg chg="del">
        <pc:chgData name="Sampath Jayarathna" userId="aa7a8714-7736-4927-8c16-9ff815108838" providerId="ADAL" clId="{499EBE74-92CE-4708-B4D0-D68D5EA82886}" dt="2017-09-12T15:04:21.274" v="32" actId="2696"/>
        <pc:sldMkLst>
          <pc:docMk/>
          <pc:sldMk cId="3719010250" sldId="449"/>
        </pc:sldMkLst>
      </pc:sldChg>
      <pc:sldChg chg="del">
        <pc:chgData name="Sampath Jayarathna" userId="aa7a8714-7736-4927-8c16-9ff815108838" providerId="ADAL" clId="{499EBE74-92CE-4708-B4D0-D68D5EA82886}" dt="2017-09-12T15:04:21.916" v="33" actId="2696"/>
        <pc:sldMkLst>
          <pc:docMk/>
          <pc:sldMk cId="364204776" sldId="450"/>
        </pc:sldMkLst>
      </pc:sldChg>
      <pc:sldChg chg="del">
        <pc:chgData name="Sampath Jayarathna" userId="aa7a8714-7736-4927-8c16-9ff815108838" providerId="ADAL" clId="{499EBE74-92CE-4708-B4D0-D68D5EA82886}" dt="2017-09-12T15:04:09.696" v="3" actId="2696"/>
        <pc:sldMkLst>
          <pc:docMk/>
          <pc:sldMk cId="314550613" sldId="451"/>
        </pc:sldMkLst>
      </pc:sldChg>
      <pc:sldChg chg="del">
        <pc:chgData name="Sampath Jayarathna" userId="aa7a8714-7736-4927-8c16-9ff815108838" providerId="ADAL" clId="{499EBE74-92CE-4708-B4D0-D68D5EA82886}" dt="2017-09-12T15:04:09.994" v="4" actId="2696"/>
        <pc:sldMkLst>
          <pc:docMk/>
          <pc:sldMk cId="1882339211" sldId="452"/>
        </pc:sldMkLst>
      </pc:sldChg>
      <pc:sldChg chg="modAnim">
        <pc:chgData name="Sampath Jayarathna" userId="aa7a8714-7736-4927-8c16-9ff815108838" providerId="ADAL" clId="{499EBE74-92CE-4708-B4D0-D68D5EA82886}" dt="2017-09-24T17:59:08.893" v="413"/>
        <pc:sldMkLst>
          <pc:docMk/>
          <pc:sldMk cId="2324434147" sldId="459"/>
        </pc:sldMkLst>
      </pc:sldChg>
      <pc:sldChg chg="modSp modAnim">
        <pc:chgData name="Sampath Jayarathna" userId="aa7a8714-7736-4927-8c16-9ff815108838" providerId="ADAL" clId="{499EBE74-92CE-4708-B4D0-D68D5EA82886}" dt="2017-09-24T17:59:28.132" v="417"/>
        <pc:sldMkLst>
          <pc:docMk/>
          <pc:sldMk cId="2673305904" sldId="460"/>
        </pc:sldMkLst>
        <pc:spChg chg="mod">
          <ac:chgData name="Sampath Jayarathna" userId="aa7a8714-7736-4927-8c16-9ff815108838" providerId="ADAL" clId="{499EBE74-92CE-4708-B4D0-D68D5EA82886}" dt="2017-09-24T17:59:28.132" v="417"/>
          <ac:spMkLst>
            <pc:docMk/>
            <pc:sldMk cId="2673305904" sldId="460"/>
            <ac:spMk id="27652" creationId="{60C014B1-9F59-4E24-8530-CDDA149C3C8F}"/>
          </ac:spMkLst>
        </pc:spChg>
      </pc:sldChg>
      <pc:sldChg chg="modAnim">
        <pc:chgData name="Sampath Jayarathna" userId="aa7a8714-7736-4927-8c16-9ff815108838" providerId="ADAL" clId="{499EBE74-92CE-4708-B4D0-D68D5EA82886}" dt="2017-09-24T18:01:35.321" v="430"/>
        <pc:sldMkLst>
          <pc:docMk/>
          <pc:sldMk cId="3569340784" sldId="462"/>
        </pc:sldMkLst>
      </pc:sldChg>
      <pc:sldChg chg="modAnim">
        <pc:chgData name="Sampath Jayarathna" userId="aa7a8714-7736-4927-8c16-9ff815108838" providerId="ADAL" clId="{499EBE74-92CE-4708-B4D0-D68D5EA82886}" dt="2017-09-24T18:01:26.949" v="428"/>
        <pc:sldMkLst>
          <pc:docMk/>
          <pc:sldMk cId="1650374584" sldId="463"/>
        </pc:sldMkLst>
      </pc:sldChg>
      <pc:sldChg chg="modAnim">
        <pc:chgData name="Sampath Jayarathna" userId="aa7a8714-7736-4927-8c16-9ff815108838" providerId="ADAL" clId="{499EBE74-92CE-4708-B4D0-D68D5EA82886}" dt="2017-09-24T18:01:21.010" v="427"/>
        <pc:sldMkLst>
          <pc:docMk/>
          <pc:sldMk cId="1732650775" sldId="464"/>
        </pc:sldMkLst>
      </pc:sldChg>
      <pc:sldChg chg="modAnim">
        <pc:chgData name="Sampath Jayarathna" userId="aa7a8714-7736-4927-8c16-9ff815108838" providerId="ADAL" clId="{499EBE74-92CE-4708-B4D0-D68D5EA82886}" dt="2017-09-24T18:01:06.897" v="424"/>
        <pc:sldMkLst>
          <pc:docMk/>
          <pc:sldMk cId="2381656722" sldId="465"/>
        </pc:sldMkLst>
      </pc:sldChg>
      <pc:sldChg chg="modAnim">
        <pc:chgData name="Sampath Jayarathna" userId="aa7a8714-7736-4927-8c16-9ff815108838" providerId="ADAL" clId="{499EBE74-92CE-4708-B4D0-D68D5EA82886}" dt="2017-09-24T18:00:51.651" v="422"/>
        <pc:sldMkLst>
          <pc:docMk/>
          <pc:sldMk cId="2743797303" sldId="467"/>
        </pc:sldMkLst>
      </pc:sldChg>
      <pc:sldChg chg="modSp modAnim">
        <pc:chgData name="Sampath Jayarathna" userId="aa7a8714-7736-4927-8c16-9ff815108838" providerId="ADAL" clId="{499EBE74-92CE-4708-B4D0-D68D5EA82886}" dt="2017-09-24T18:00:31.868" v="420"/>
        <pc:sldMkLst>
          <pc:docMk/>
          <pc:sldMk cId="647630597" sldId="468"/>
        </pc:sldMkLst>
        <pc:spChg chg="mod">
          <ac:chgData name="Sampath Jayarathna" userId="aa7a8714-7736-4927-8c16-9ff815108838" providerId="ADAL" clId="{499EBE74-92CE-4708-B4D0-D68D5EA82886}" dt="2017-09-24T17:02:08.052" v="127" actId="20577"/>
          <ac:spMkLst>
            <pc:docMk/>
            <pc:sldMk cId="647630597" sldId="468"/>
            <ac:spMk id="43012" creationId="{3529B49F-5AB4-48C2-9A75-A588B51ABD5C}"/>
          </ac:spMkLst>
        </pc:spChg>
      </pc:sldChg>
      <pc:sldChg chg="addSp delSp modSp add">
        <pc:chgData name="Sampath Jayarathna" userId="aa7a8714-7736-4927-8c16-9ff815108838" providerId="ADAL" clId="{499EBE74-92CE-4708-B4D0-D68D5EA82886}" dt="2017-09-24T17:27:30.949" v="411" actId="20577"/>
        <pc:sldMkLst>
          <pc:docMk/>
          <pc:sldMk cId="4004224794" sldId="469"/>
        </pc:sldMkLst>
        <pc:spChg chg="mod">
          <ac:chgData name="Sampath Jayarathna" userId="aa7a8714-7736-4927-8c16-9ff815108838" providerId="ADAL" clId="{499EBE74-92CE-4708-B4D0-D68D5EA82886}" dt="2017-09-24T17:27:30.949" v="411" actId="20577"/>
          <ac:spMkLst>
            <pc:docMk/>
            <pc:sldMk cId="4004224794" sldId="469"/>
            <ac:spMk id="25603" creationId="{404F4243-B8BE-49AD-AB14-0FE369C1E4E1}"/>
          </ac:spMkLst>
        </pc:spChg>
        <pc:spChg chg="mod">
          <ac:chgData name="Sampath Jayarathna" userId="aa7a8714-7736-4927-8c16-9ff815108838" providerId="ADAL" clId="{499EBE74-92CE-4708-B4D0-D68D5EA82886}" dt="2017-09-24T17:14:17.076" v="370" actId="20577"/>
          <ac:spMkLst>
            <pc:docMk/>
            <pc:sldMk cId="4004224794" sldId="469"/>
            <ac:spMk id="25604" creationId="{1CC20BDA-0ECE-4A4D-AC80-A330D20FA7FE}"/>
          </ac:spMkLst>
        </pc:spChg>
        <pc:picChg chg="add del">
          <ac:chgData name="Sampath Jayarathna" userId="aa7a8714-7736-4927-8c16-9ff815108838" providerId="ADAL" clId="{499EBE74-92CE-4708-B4D0-D68D5EA82886}" dt="2017-09-24T17:12:44.421" v="141"/>
          <ac:picMkLst>
            <pc:docMk/>
            <pc:sldMk cId="4004224794" sldId="469"/>
            <ac:picMk id="2" creationId="{03D96066-6314-495A-8146-11942B0FA05C}"/>
          </ac:picMkLst>
        </pc:picChg>
        <pc:picChg chg="add mod">
          <ac:chgData name="Sampath Jayarathna" userId="aa7a8714-7736-4927-8c16-9ff815108838" providerId="ADAL" clId="{499EBE74-92CE-4708-B4D0-D68D5EA82886}" dt="2017-09-24T17:14:27.741" v="373" actId="1076"/>
          <ac:picMkLst>
            <pc:docMk/>
            <pc:sldMk cId="4004224794" sldId="469"/>
            <ac:picMk id="3" creationId="{4725EAB6-2D18-4526-928D-3B26207B0606}"/>
          </ac:picMkLst>
        </pc:picChg>
      </pc:sldChg>
      <pc:sldChg chg="addSp delSp modSp add ord">
        <pc:chgData name="Sampath Jayarathna" userId="aa7a8714-7736-4927-8c16-9ff815108838" providerId="ADAL" clId="{499EBE74-92CE-4708-B4D0-D68D5EA82886}" dt="2017-09-24T18:00:02.718" v="418"/>
        <pc:sldMkLst>
          <pc:docMk/>
          <pc:sldMk cId="1414251485" sldId="470"/>
        </pc:sldMkLst>
        <pc:spChg chg="mod">
          <ac:chgData name="Sampath Jayarathna" userId="aa7a8714-7736-4927-8c16-9ff815108838" providerId="ADAL" clId="{499EBE74-92CE-4708-B4D0-D68D5EA82886}" dt="2017-09-24T17:18:45.910" v="396" actId="20577"/>
          <ac:spMkLst>
            <pc:docMk/>
            <pc:sldMk cId="1414251485" sldId="470"/>
            <ac:spMk id="30723" creationId="{A129D506-3C2C-43FF-BD16-BE75B2E53A0C}"/>
          </ac:spMkLst>
        </pc:spChg>
        <pc:spChg chg="del">
          <ac:chgData name="Sampath Jayarathna" userId="aa7a8714-7736-4927-8c16-9ff815108838" providerId="ADAL" clId="{499EBE74-92CE-4708-B4D0-D68D5EA82886}" dt="2017-09-24T17:18:56.117" v="397" actId="478"/>
          <ac:spMkLst>
            <pc:docMk/>
            <pc:sldMk cId="1414251485" sldId="470"/>
            <ac:spMk id="30724" creationId="{87DAD555-A649-4C13-83C9-C3BF924892F5}"/>
          </ac:spMkLst>
        </pc:spChg>
        <pc:spChg chg="del">
          <ac:chgData name="Sampath Jayarathna" userId="aa7a8714-7736-4927-8c16-9ff815108838" providerId="ADAL" clId="{499EBE74-92CE-4708-B4D0-D68D5EA82886}" dt="2017-09-24T17:18:59.349" v="399" actId="478"/>
          <ac:spMkLst>
            <pc:docMk/>
            <pc:sldMk cId="1414251485" sldId="470"/>
            <ac:spMk id="30725" creationId="{36DAF2DE-B4D8-41C2-8C63-0D9B2D79EEA4}"/>
          </ac:spMkLst>
        </pc:spChg>
        <pc:spChg chg="del">
          <ac:chgData name="Sampath Jayarathna" userId="aa7a8714-7736-4927-8c16-9ff815108838" providerId="ADAL" clId="{499EBE74-92CE-4708-B4D0-D68D5EA82886}" dt="2017-09-24T17:18:58.037" v="398" actId="478"/>
          <ac:spMkLst>
            <pc:docMk/>
            <pc:sldMk cId="1414251485" sldId="470"/>
            <ac:spMk id="30726" creationId="{B4C2DF14-6451-4456-B87E-AEBD23AB83EB}"/>
          </ac:spMkLst>
        </pc:spChg>
        <pc:picChg chg="add mod">
          <ac:chgData name="Sampath Jayarathna" userId="aa7a8714-7736-4927-8c16-9ff815108838" providerId="ADAL" clId="{499EBE74-92CE-4708-B4D0-D68D5EA82886}" dt="2017-09-24T17:19:11.941" v="404" actId="14100"/>
          <ac:picMkLst>
            <pc:docMk/>
            <pc:sldMk cId="1414251485" sldId="470"/>
            <ac:picMk id="2" creationId="{B4CE6886-46EB-4299-9974-3F2D9C270AE2}"/>
          </ac:picMkLst>
        </pc:picChg>
      </pc:sldChg>
      <pc:sldChg chg="add del">
        <pc:chgData name="Sampath Jayarathna" userId="aa7a8714-7736-4927-8c16-9ff815108838" providerId="ADAL" clId="{499EBE74-92CE-4708-B4D0-D68D5EA82886}" dt="2017-09-24T17:12:20.886" v="137"/>
        <pc:sldMkLst>
          <pc:docMk/>
          <pc:sldMk cId="2815770532" sldId="470"/>
        </pc:sldMkLst>
      </pc:sldChg>
      <pc:sldChg chg="add del">
        <pc:chgData name="Sampath Jayarathna" userId="aa7a8714-7736-4927-8c16-9ff815108838" providerId="ADAL" clId="{499EBE74-92CE-4708-B4D0-D68D5EA82886}" dt="2017-09-24T17:12:28.891" v="139"/>
        <pc:sldMkLst>
          <pc:docMk/>
          <pc:sldMk cId="3299962109" sldId="47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66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1/23/2023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87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74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22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print(obj4.add(obj5, </a:t>
            </a:r>
            <a:r>
              <a:rPr lang="en-US" dirty="0" err="1"/>
              <a:t>fill_value</a:t>
            </a:r>
            <a:r>
              <a:rPr lang="en-US" dirty="0"/>
              <a:t>=0)) to avoid </a:t>
            </a:r>
            <a:r>
              <a:rPr lang="en-US" dirty="0" err="1"/>
              <a:t>NaN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112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Slices</a:t>
            </a:r>
            <a:r>
              <a:rPr lang="en-US" baseline="0" dirty="0"/>
              <a:t> are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22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01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Obj</a:t>
            </a:r>
            <a:r>
              <a:rPr lang="en-US" baseline="0" dirty="0"/>
              <a:t> = </a:t>
            </a:r>
            <a:r>
              <a:rPr lang="en-US" baseline="0" dirty="0" err="1"/>
              <a:t>pd.read_csv</a:t>
            </a:r>
            <a:r>
              <a:rPr lang="en-US" baseline="0" dirty="0"/>
              <a:t>(‘values.csv’)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708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Df</a:t>
            </a:r>
            <a:r>
              <a:rPr lang="en-US" baseline="0" dirty="0"/>
              <a:t> = </a:t>
            </a:r>
            <a:r>
              <a:rPr lang="en-US" baseline="0" dirty="0" err="1"/>
              <a:t>frame.drop</a:t>
            </a:r>
            <a:r>
              <a:rPr lang="en-US" baseline="0" dirty="0"/>
              <a:t>('r1', 0)  # 0 for row, 1 for columns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40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186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Obj</a:t>
            </a:r>
            <a:r>
              <a:rPr lang="en-US" baseline="0" dirty="0"/>
              <a:t> = </a:t>
            </a:r>
            <a:r>
              <a:rPr lang="en-US" baseline="0" dirty="0" err="1"/>
              <a:t>pd.read_csv</a:t>
            </a:r>
            <a:r>
              <a:rPr lang="en-US" baseline="0" dirty="0"/>
              <a:t>(‘values.csv’)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70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Obj</a:t>
            </a:r>
            <a:r>
              <a:rPr lang="en-US" baseline="0" dirty="0"/>
              <a:t> = </a:t>
            </a:r>
            <a:r>
              <a:rPr lang="en-US" baseline="0" dirty="0" err="1"/>
              <a:t>pd.read_csv</a:t>
            </a:r>
            <a:r>
              <a:rPr lang="en-US" baseline="0" dirty="0"/>
              <a:t>(‘values.csv’)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70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s.dropna</a:t>
            </a:r>
            <a:r>
              <a:rPr lang="en-US" dirty="0"/>
              <a:t>(</a:t>
            </a:r>
            <a:r>
              <a:rPr lang="en-US" dirty="0" err="1"/>
              <a:t>inplace</a:t>
            </a:r>
            <a:r>
              <a:rPr lang="en-US" dirty="0"/>
              <a:t>=True)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76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40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3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F2747F-ECC4-BB44-B379-DEBCDE6D0557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4131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6C1ACB-37F4-2E4E-A02F-3AD2C3500E5B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0597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BC9741-E27D-6644-A29C-7357B3CA2856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9485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A6FC00-01EB-8C4B-8EBA-327D665853CA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3251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C4B30A-E151-554F-9F57-FEC60EAD6DEE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5573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F5AC9E-F104-7046-909E-B47A8243FECD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0812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9DDB79-4A56-9B43-9E32-8AACDB1BCC49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458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70207B-D522-9843-9370-2EDD2ED326F5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8871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685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273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odu.edu/~sampath/courses/f19/cs620/files/data/values.csv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>
          <a:xfrm>
            <a:off x="844062" y="2877271"/>
            <a:ext cx="7156938" cy="2387600"/>
          </a:xfrm>
        </p:spPr>
        <p:txBody>
          <a:bodyPr/>
          <a:lstStyle/>
          <a:p>
            <a:r>
              <a:rPr lang="en-US" dirty="0"/>
              <a:t>Lecture 3- Pandas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</a:t>
            </a:fld>
            <a:endParaRPr lang="en-US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70384" y="5380725"/>
            <a:ext cx="6867330" cy="1156214"/>
          </a:xfr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Sampath Jayarathna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Dominion University</a:t>
            </a:r>
          </a:p>
          <a:p>
            <a:r>
              <a:rPr lang="en-US" sz="1400" dirty="0"/>
              <a:t>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77" y="202873"/>
            <a:ext cx="3435183" cy="1159162"/>
          </a:xfrm>
          <a:prstGeom prst="rect">
            <a:avLst/>
          </a:prstGeom>
        </p:spPr>
      </p:pic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87803" y="6342747"/>
            <a:ext cx="836839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US" sz="1200" dirty="0">
                <a:solidFill>
                  <a:schemeClr val="accent2"/>
                </a:solidFill>
                <a:latin typeface="Arial" panose="020B0604020202020204" pitchFamily="34" charset="0"/>
              </a:rPr>
              <a:t>Credit for some of the slides in this lecture goes to </a:t>
            </a:r>
            <a:r>
              <a:rPr lang="en-US" altLang="en-US" sz="1200" dirty="0" err="1">
                <a:solidFill>
                  <a:schemeClr val="accent2"/>
                </a:solidFill>
                <a:latin typeface="Arial" panose="020B0604020202020204" pitchFamily="34" charset="0"/>
              </a:rPr>
              <a:t>Jianhua</a:t>
            </a:r>
            <a:r>
              <a:rPr lang="en-US" altLang="en-US" sz="12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200" dirty="0" err="1">
                <a:solidFill>
                  <a:schemeClr val="accent2"/>
                </a:solidFill>
                <a:latin typeface="Arial" panose="020B0604020202020204" pitchFamily="34" charset="0"/>
              </a:rPr>
              <a:t>Ruan</a:t>
            </a:r>
            <a:r>
              <a:rPr lang="en-US" altLang="en-US" sz="1200" dirty="0">
                <a:solidFill>
                  <a:schemeClr val="accent2"/>
                </a:solidFill>
                <a:latin typeface="Arial" panose="020B0604020202020204" pitchFamily="34" charset="0"/>
              </a:rPr>
              <a:t> UTSA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2594" y="1362035"/>
            <a:ext cx="63588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 620 / DASC 600</a:t>
            </a:r>
          </a:p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Data Science &amp; Analytics</a:t>
            </a:r>
          </a:p>
        </p:txBody>
      </p:sp>
    </p:spTree>
    <p:extLst>
      <p:ext uri="{BB962C8B-B14F-4D97-AF65-F5344CB8AC3E}">
        <p14:creationId xmlns:p14="http://schemas.microsoft.com/office/powerpoint/2010/main" val="1187483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pandas?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most popular library that data scientists use</a:t>
            </a:r>
          </a:p>
          <a:p>
            <a:r>
              <a:rPr lang="en-US" dirty="0"/>
              <a:t>Labeled axes to avoid misalignment of data</a:t>
            </a:r>
          </a:p>
          <a:p>
            <a:pPr lvl="1"/>
            <a:r>
              <a:rPr lang="en-US" dirty="0"/>
              <a:t>When merge two tables, some rows may be different</a:t>
            </a:r>
          </a:p>
          <a:p>
            <a:r>
              <a:rPr lang="en-US" dirty="0"/>
              <a:t>Missing values or special values may need to be removed or replaced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123492"/>
              </p:ext>
            </p:extLst>
          </p:nvPr>
        </p:nvGraphicFramePr>
        <p:xfrm>
          <a:off x="649752" y="4068217"/>
          <a:ext cx="4379845" cy="2560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974">
                  <a:extLst>
                    <a:ext uri="{9D8B030D-6E8A-4147-A177-3AD203B41FA5}">
                      <a16:colId xmlns:a16="http://schemas.microsoft.com/office/drawing/2014/main" val="3987370880"/>
                    </a:ext>
                  </a:extLst>
                </a:gridCol>
                <a:gridCol w="729974">
                  <a:extLst>
                    <a:ext uri="{9D8B030D-6E8A-4147-A177-3AD203B41FA5}">
                      <a16:colId xmlns:a16="http://schemas.microsoft.com/office/drawing/2014/main" val="2409504757"/>
                    </a:ext>
                  </a:extLst>
                </a:gridCol>
                <a:gridCol w="674480">
                  <a:extLst>
                    <a:ext uri="{9D8B030D-6E8A-4147-A177-3AD203B41FA5}">
                      <a16:colId xmlns:a16="http://schemas.microsoft.com/office/drawing/2014/main" val="360844735"/>
                    </a:ext>
                  </a:extLst>
                </a:gridCol>
                <a:gridCol w="785469">
                  <a:extLst>
                    <a:ext uri="{9D8B030D-6E8A-4147-A177-3AD203B41FA5}">
                      <a16:colId xmlns:a16="http://schemas.microsoft.com/office/drawing/2014/main" val="659680590"/>
                    </a:ext>
                  </a:extLst>
                </a:gridCol>
                <a:gridCol w="729974">
                  <a:extLst>
                    <a:ext uri="{9D8B030D-6E8A-4147-A177-3AD203B41FA5}">
                      <a16:colId xmlns:a16="http://schemas.microsoft.com/office/drawing/2014/main" val="2777339186"/>
                    </a:ext>
                  </a:extLst>
                </a:gridCol>
                <a:gridCol w="729974">
                  <a:extLst>
                    <a:ext uri="{9D8B030D-6E8A-4147-A177-3AD203B41FA5}">
                      <a16:colId xmlns:a16="http://schemas.microsoft.com/office/drawing/2014/main" val="1624276275"/>
                    </a:ext>
                  </a:extLst>
                </a:gridCol>
              </a:tblGrid>
              <a:tr h="33513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height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Weight2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Gender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40517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Amy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126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73519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167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155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765793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168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143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079524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David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182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42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23608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Ella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175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133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138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589026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Frank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172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148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77919822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322262"/>
              </p:ext>
            </p:extLst>
          </p:nvPr>
        </p:nvGraphicFramePr>
        <p:xfrm>
          <a:off x="5346826" y="4068217"/>
          <a:ext cx="3189627" cy="2522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209">
                  <a:extLst>
                    <a:ext uri="{9D8B030D-6E8A-4147-A177-3AD203B41FA5}">
                      <a16:colId xmlns:a16="http://schemas.microsoft.com/office/drawing/2014/main" val="3987370880"/>
                    </a:ext>
                  </a:extLst>
                </a:gridCol>
                <a:gridCol w="696321">
                  <a:extLst>
                    <a:ext uri="{9D8B030D-6E8A-4147-A177-3AD203B41FA5}">
                      <a16:colId xmlns:a16="http://schemas.microsoft.com/office/drawing/2014/main" val="2409504757"/>
                    </a:ext>
                  </a:extLst>
                </a:gridCol>
                <a:gridCol w="1430097">
                  <a:extLst>
                    <a:ext uri="{9D8B030D-6E8A-4147-A177-3AD203B41FA5}">
                      <a16:colId xmlns:a16="http://schemas.microsoft.com/office/drawing/2014/main" val="3608447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Credit</a:t>
                      </a:r>
                      <a:r>
                        <a:rPr lang="en-US" baseline="0" dirty="0"/>
                        <a:t> score</a:t>
                      </a:r>
                      <a:endParaRPr lang="en-US" dirty="0"/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405176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Alice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50000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73519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Bob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670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1765793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Chris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60000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079524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David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-99999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750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236080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Ella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70000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685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35890261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Tom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45000</a:t>
                      </a:r>
                    </a:p>
                  </a:txBody>
                  <a:tcPr marL="68580" marR="6858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660</a:t>
                      </a:r>
                    </a:p>
                  </a:txBody>
                  <a:tcPr marL="68580" marR="68580"/>
                </a:tc>
                <a:extLst>
                  <a:ext uri="{0D108BD9-81ED-4DB2-BD59-A6C34878D82A}">
                    <a16:rowId xmlns:a16="http://schemas.microsoft.com/office/drawing/2014/main" val="2779198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778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by Wes McKinney in 2008, now maintained by many others. </a:t>
            </a:r>
          </a:p>
          <a:p>
            <a:pPr lvl="1"/>
            <a:r>
              <a:rPr lang="en-US" dirty="0"/>
              <a:t>Author of one of the textbooks: Python for Data Analysis</a:t>
            </a:r>
          </a:p>
          <a:p>
            <a:r>
              <a:rPr lang="en-US" dirty="0"/>
              <a:t>Powerful and productive Python data analysis and Management Library</a:t>
            </a:r>
          </a:p>
          <a:p>
            <a:r>
              <a:rPr lang="en-US" dirty="0"/>
              <a:t>Panel Data System</a:t>
            </a:r>
          </a:p>
          <a:p>
            <a:pPr lvl="1"/>
            <a:r>
              <a:rPr lang="en-US" dirty="0"/>
              <a:t>The name is derived from the term "panel data", an econometrics term for data sets that include both time-series and cross-sectional data</a:t>
            </a:r>
          </a:p>
          <a:p>
            <a:r>
              <a:rPr lang="en-US" dirty="0"/>
              <a:t>Its an open source product.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4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- 2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Library to provide data analysis features similar to: R, MATLAB, SAS </a:t>
            </a:r>
          </a:p>
          <a:p>
            <a:r>
              <a:rPr lang="en-US" dirty="0"/>
              <a:t>Rich data structures and functions to make working with data structure fast, easy and expressive.</a:t>
            </a:r>
          </a:p>
          <a:p>
            <a:r>
              <a:rPr lang="en-US" dirty="0"/>
              <a:t>It is built on top of </a:t>
            </a:r>
            <a:r>
              <a:rPr lang="en-US" dirty="0" err="1"/>
              <a:t>NumPy</a:t>
            </a:r>
            <a:endParaRPr lang="en-US" dirty="0"/>
          </a:p>
          <a:p>
            <a:r>
              <a:rPr lang="en-US" dirty="0"/>
              <a:t>Key components provided by Pandas:</a:t>
            </a:r>
          </a:p>
          <a:p>
            <a:pPr lvl="1"/>
            <a:r>
              <a:rPr lang="en-US" dirty="0"/>
              <a:t>Series </a:t>
            </a:r>
          </a:p>
          <a:p>
            <a:pPr lvl="1"/>
            <a:r>
              <a:rPr lang="en-US" dirty="0" err="1"/>
              <a:t>DataFrame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02434" y="5253634"/>
            <a:ext cx="7884366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from pandas import Series, </a:t>
            </a:r>
            <a:r>
              <a:rPr lang="en-US" dirty="0" err="1">
                <a:effectLst/>
              </a:rPr>
              <a:t>DataFrame</a:t>
            </a:r>
            <a:endParaRPr lang="en-US" dirty="0">
              <a:effectLst/>
            </a:endParaRPr>
          </a:p>
          <a:p>
            <a:r>
              <a:rPr lang="en-US" dirty="0">
                <a:effectLst/>
              </a:rPr>
              <a:t>import pandas as </a:t>
            </a:r>
            <a:r>
              <a:rPr lang="en-US" dirty="0" err="1">
                <a:effectLst/>
              </a:rPr>
              <a:t>pd</a:t>
            </a:r>
            <a:endParaRPr lang="en-US" dirty="0"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4589" y="477658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rgbClr val="000080"/>
                </a:solidFill>
                <a:effectLst/>
              </a:rPr>
              <a:t>From now on: </a:t>
            </a:r>
          </a:p>
          <a:p>
            <a:endParaRPr lang="en-US" sz="2800" b="1" dirty="0">
              <a:solidFill>
                <a:srgbClr val="00008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607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dimensional array-like object</a:t>
            </a:r>
          </a:p>
          <a:p>
            <a:r>
              <a:rPr lang="en-US" dirty="0"/>
              <a:t>It contains array of data (of any </a:t>
            </a:r>
            <a:r>
              <a:rPr lang="en-US" dirty="0" err="1"/>
              <a:t>NumPy</a:t>
            </a:r>
            <a:r>
              <a:rPr lang="en-US" dirty="0"/>
              <a:t> data type) with associated indexes. (Indexes can be strings or integers or other data types.)</a:t>
            </a:r>
          </a:p>
          <a:p>
            <a:r>
              <a:rPr lang="en-US" dirty="0"/>
              <a:t>By default , the series will get indexing from 0 to N where N = size -1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8650" y="4103844"/>
            <a:ext cx="386524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from pandas import Series, </a:t>
            </a:r>
            <a:r>
              <a:rPr lang="en-US" sz="1600" dirty="0" err="1">
                <a:solidFill>
                  <a:srgbClr val="000080"/>
                </a:solidFill>
              </a:rPr>
              <a:t>DataFrame</a:t>
            </a:r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import pandas as </a:t>
            </a:r>
            <a:r>
              <a:rPr lang="en-US" sz="1600" dirty="0" err="1">
                <a:solidFill>
                  <a:srgbClr val="000080"/>
                </a:solidFill>
              </a:rPr>
              <a:t>pd</a:t>
            </a:r>
            <a:endParaRPr lang="en-US" sz="1600" dirty="0">
              <a:solidFill>
                <a:srgbClr val="000080"/>
              </a:solidFill>
            </a:endParaRPr>
          </a:p>
          <a:p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 err="1">
                <a:solidFill>
                  <a:srgbClr val="000080"/>
                </a:solidFill>
              </a:rPr>
              <a:t>obj</a:t>
            </a:r>
            <a:r>
              <a:rPr lang="en-US" sz="1600" dirty="0">
                <a:solidFill>
                  <a:srgbClr val="000080"/>
                </a:solidFill>
              </a:rPr>
              <a:t> = Series([4, 7, -5, 3])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obj</a:t>
            </a:r>
            <a:r>
              <a:rPr lang="en-US" sz="1600" dirty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obj.index</a:t>
            </a:r>
            <a:r>
              <a:rPr lang="en-US" sz="1600" dirty="0">
                <a:solidFill>
                  <a:srgbClr val="000080"/>
                </a:solidFill>
              </a:rPr>
              <a:t>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obj.values</a:t>
            </a:r>
            <a:r>
              <a:rPr lang="en-US" sz="1600" dirty="0">
                <a:solidFill>
                  <a:srgbClr val="000080"/>
                </a:solidFill>
              </a:rPr>
              <a:t>)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4913772" y="4001294"/>
            <a:ext cx="42302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0    4</a:t>
            </a:r>
          </a:p>
          <a:p>
            <a:r>
              <a:rPr lang="en-US" dirty="0"/>
              <a:t>1    7</a:t>
            </a:r>
          </a:p>
          <a:p>
            <a:r>
              <a:rPr lang="en-US" dirty="0"/>
              <a:t>2   -5</a:t>
            </a:r>
          </a:p>
          <a:p>
            <a:r>
              <a:rPr lang="en-US" dirty="0"/>
              <a:t>3    3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r>
              <a:rPr lang="en-US" dirty="0" err="1"/>
              <a:t>RangeIndex</a:t>
            </a:r>
            <a:r>
              <a:rPr lang="en-US" dirty="0"/>
              <a:t>(start=0, stop=4, step=1)</a:t>
            </a:r>
          </a:p>
          <a:p>
            <a:r>
              <a:rPr lang="en-US" dirty="0"/>
              <a:t>[ 4  7 -5  3]</a:t>
            </a:r>
          </a:p>
        </p:txBody>
      </p:sp>
    </p:spTree>
    <p:extLst>
      <p:ext uri="{BB962C8B-B14F-4D97-AF65-F5344CB8AC3E}">
        <p14:creationId xmlns:p14="http://schemas.microsoft.com/office/powerpoint/2010/main" val="1136280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– referencing elements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7056" y="1433096"/>
            <a:ext cx="4938088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obj2 = Series([4, 7, -5, 3], index=['d', 'b', 'a', 'c'])</a:t>
            </a:r>
          </a:p>
          <a:p>
            <a:r>
              <a:rPr lang="en-US" dirty="0">
                <a:solidFill>
                  <a:srgbClr val="000080"/>
                </a:solidFill>
              </a:rPr>
              <a:t>print(obj2)</a:t>
            </a:r>
          </a:p>
          <a:p>
            <a:r>
              <a:rPr lang="en-US" dirty="0"/>
              <a:t>#Output</a:t>
            </a:r>
          </a:p>
          <a:p>
            <a:r>
              <a:rPr lang="en-US" dirty="0"/>
              <a:t>d    4</a:t>
            </a:r>
          </a:p>
          <a:p>
            <a:r>
              <a:rPr lang="en-US" dirty="0"/>
              <a:t>b    7</a:t>
            </a:r>
          </a:p>
          <a:p>
            <a:r>
              <a:rPr lang="en-US" dirty="0"/>
              <a:t>a   -5</a:t>
            </a:r>
          </a:p>
          <a:p>
            <a:r>
              <a:rPr lang="en-US" dirty="0"/>
              <a:t>c    3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endParaRPr lang="en-US" sz="500" dirty="0"/>
          </a:p>
          <a:p>
            <a:r>
              <a:rPr lang="en-US" dirty="0">
                <a:solidFill>
                  <a:srgbClr val="000080"/>
                </a:solidFill>
              </a:rPr>
              <a:t>print(obj2.index)</a:t>
            </a:r>
            <a:r>
              <a:rPr lang="en-US" dirty="0"/>
              <a:t> </a:t>
            </a:r>
          </a:p>
          <a:p>
            <a:r>
              <a:rPr lang="en-US" dirty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Index(['d', 'b', 'a', 'c'], </a:t>
            </a:r>
            <a:r>
              <a:rPr lang="en-US" dirty="0" err="1"/>
              <a:t>dtype</a:t>
            </a:r>
            <a:r>
              <a:rPr lang="en-US" dirty="0"/>
              <a:t>='object')</a:t>
            </a:r>
          </a:p>
          <a:p>
            <a:endParaRPr lang="en-US" sz="500" dirty="0"/>
          </a:p>
          <a:p>
            <a:r>
              <a:rPr lang="en-US" dirty="0">
                <a:solidFill>
                  <a:srgbClr val="000080"/>
                </a:solidFill>
              </a:rPr>
              <a:t>print(obj2.values)</a:t>
            </a:r>
          </a:p>
          <a:p>
            <a:r>
              <a:rPr lang="en-US" dirty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[ 4  7 -5  3]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print(obj2['a'])</a:t>
            </a:r>
          </a:p>
          <a:p>
            <a:r>
              <a:rPr lang="en-US" dirty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-5</a:t>
            </a:r>
          </a:p>
        </p:txBody>
      </p:sp>
      <p:sp>
        <p:nvSpPr>
          <p:cNvPr id="7" name="Rectangle 6"/>
          <p:cNvSpPr/>
          <p:nvPr/>
        </p:nvSpPr>
        <p:spPr>
          <a:xfrm>
            <a:off x="6136816" y="1437371"/>
            <a:ext cx="2823297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obj2['d']= 10</a:t>
            </a:r>
          </a:p>
          <a:p>
            <a:r>
              <a:rPr lang="en-US" dirty="0">
                <a:solidFill>
                  <a:srgbClr val="000080"/>
                </a:solidFill>
              </a:rPr>
              <a:t>print(obj2[['d', 'c', 'a']])</a:t>
            </a:r>
          </a:p>
          <a:p>
            <a:r>
              <a:rPr lang="en-US" dirty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d    10</a:t>
            </a:r>
          </a:p>
          <a:p>
            <a:r>
              <a:rPr lang="en-US" dirty="0"/>
              <a:t>c     3</a:t>
            </a:r>
          </a:p>
          <a:p>
            <a:r>
              <a:rPr lang="en-US" dirty="0"/>
              <a:t>a    -5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print(obj2[:2])</a:t>
            </a:r>
          </a:p>
          <a:p>
            <a:r>
              <a:rPr lang="en-US" dirty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d    10</a:t>
            </a:r>
          </a:p>
          <a:p>
            <a:r>
              <a:rPr lang="en-US" dirty="0"/>
              <a:t>b     7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print(obj2.a)</a:t>
            </a:r>
          </a:p>
          <a:p>
            <a:r>
              <a:rPr lang="en-US" dirty="0"/>
              <a:t>#Output</a:t>
            </a:r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-5</a:t>
            </a:r>
          </a:p>
        </p:txBody>
      </p:sp>
    </p:spTree>
    <p:extLst>
      <p:ext uri="{BB962C8B-B14F-4D97-AF65-F5344CB8AC3E}">
        <p14:creationId xmlns:p14="http://schemas.microsoft.com/office/powerpoint/2010/main" val="1131353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– array/</a:t>
            </a:r>
            <a:r>
              <a:rPr lang="en-US" dirty="0" err="1"/>
              <a:t>dict</a:t>
            </a:r>
            <a:r>
              <a:rPr lang="en-US" dirty="0"/>
              <a:t>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106" y="5332385"/>
            <a:ext cx="5089342" cy="124351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numpy</a:t>
            </a:r>
            <a:r>
              <a:rPr lang="en-US" dirty="0"/>
              <a:t> array operations can also be applied, which will preserve the index-value link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516448" y="1443313"/>
            <a:ext cx="348615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obj4 = obj3[obj3&gt;0]</a:t>
            </a:r>
          </a:p>
          <a:p>
            <a:r>
              <a:rPr lang="en-US" dirty="0">
                <a:solidFill>
                  <a:srgbClr val="000080"/>
                </a:solidFill>
              </a:rPr>
              <a:t>print(obj4)</a:t>
            </a: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d    10</a:t>
            </a:r>
          </a:p>
          <a:p>
            <a:r>
              <a:rPr lang="en-US" dirty="0"/>
              <a:t>b     7</a:t>
            </a:r>
          </a:p>
          <a:p>
            <a:r>
              <a:rPr lang="en-US" dirty="0"/>
              <a:t>c     3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print(obj3**2)</a:t>
            </a: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d    100</a:t>
            </a:r>
          </a:p>
          <a:p>
            <a:r>
              <a:rPr lang="en-US" dirty="0"/>
              <a:t>b     49</a:t>
            </a:r>
          </a:p>
          <a:p>
            <a:r>
              <a:rPr lang="en-US" dirty="0"/>
              <a:t>a     25</a:t>
            </a:r>
          </a:p>
          <a:p>
            <a:r>
              <a:rPr lang="en-US" dirty="0"/>
              <a:t>c      9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print(‘b’ in obj3)</a:t>
            </a: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true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0179" y="1471674"/>
            <a:ext cx="462313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Can be thought of as a dict. </a:t>
            </a:r>
            <a:br>
              <a:rPr lang="en-US" dirty="0"/>
            </a:br>
            <a:r>
              <a:rPr lang="en-US" dirty="0"/>
              <a:t>Can be constructed from a </a:t>
            </a:r>
            <a:r>
              <a:rPr lang="en-US" dirty="0" err="1"/>
              <a:t>dict</a:t>
            </a:r>
            <a:r>
              <a:rPr lang="en-US" dirty="0"/>
              <a:t> directly.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obj3 = Series({'d': 4, 'b': 7, 'a': -5, 'c':3 })</a:t>
            </a:r>
          </a:p>
          <a:p>
            <a:r>
              <a:rPr lang="en-US" dirty="0">
                <a:solidFill>
                  <a:srgbClr val="000080"/>
                </a:solidFill>
              </a:rPr>
              <a:t>print(obj3)</a:t>
            </a: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pt-BR" dirty="0"/>
              <a:t>d    4</a:t>
            </a:r>
          </a:p>
          <a:p>
            <a:r>
              <a:rPr lang="pt-BR" dirty="0"/>
              <a:t>b    7</a:t>
            </a:r>
          </a:p>
          <a:p>
            <a:r>
              <a:rPr lang="pt-BR" dirty="0"/>
              <a:t>a   -5</a:t>
            </a:r>
          </a:p>
          <a:p>
            <a:r>
              <a:rPr lang="pt-BR" dirty="0"/>
              <a:t>c    3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  <a:endParaRPr lang="en-US" dirty="0">
              <a:solidFill>
                <a:srgbClr val="000080"/>
              </a:solidFill>
            </a:endParaRPr>
          </a:p>
          <a:p>
            <a:endParaRPr lang="en-US" dirty="0">
              <a:effectLst/>
            </a:endParaRPr>
          </a:p>
        </p:txBody>
      </p:sp>
      <p:cxnSp>
        <p:nvCxnSpPr>
          <p:cNvPr id="6" name="Straight Arrow Connector 5"/>
          <p:cNvCxnSpPr>
            <a:stCxn id="3" idx="0"/>
          </p:cNvCxnSpPr>
          <p:nvPr/>
        </p:nvCxnSpPr>
        <p:spPr>
          <a:xfrm flipV="1">
            <a:off x="2971777" y="3944039"/>
            <a:ext cx="1897678" cy="1388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6753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Series – from dictionary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649" y="1690689"/>
            <a:ext cx="544557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80"/>
                </a:solidFill>
              </a:rPr>
              <a:t>sdata</a:t>
            </a:r>
            <a:r>
              <a:rPr lang="en-US" sz="1600" dirty="0">
                <a:solidFill>
                  <a:srgbClr val="000080"/>
                </a:solidFill>
              </a:rPr>
              <a:t> = {'Texas': 10, 'Ohio': 20, 'Oregon': 15, 'Utah': 18}</a:t>
            </a:r>
          </a:p>
          <a:p>
            <a:r>
              <a:rPr lang="en-US" sz="1600" dirty="0">
                <a:solidFill>
                  <a:srgbClr val="000080"/>
                </a:solidFill>
              </a:rPr>
              <a:t>states = ['Texas', 'Ohio', 'Oregon', 'Iowa']</a:t>
            </a:r>
          </a:p>
          <a:p>
            <a:r>
              <a:rPr lang="en-US" sz="1600" dirty="0">
                <a:solidFill>
                  <a:srgbClr val="000080"/>
                </a:solidFill>
              </a:rPr>
              <a:t>obj4 = Series(</a:t>
            </a:r>
            <a:r>
              <a:rPr lang="en-US" sz="1600" dirty="0" err="1">
                <a:solidFill>
                  <a:srgbClr val="000080"/>
                </a:solidFill>
              </a:rPr>
              <a:t>sdata</a:t>
            </a:r>
            <a:r>
              <a:rPr lang="en-US" sz="1600" dirty="0">
                <a:solidFill>
                  <a:srgbClr val="000080"/>
                </a:solidFill>
              </a:rPr>
              <a:t>, index=states)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print(obj4)</a:t>
            </a:r>
          </a:p>
          <a:p>
            <a:r>
              <a:rPr lang="en-US" sz="1600" dirty="0">
                <a:effectLst/>
              </a:rPr>
              <a:t>#output</a:t>
            </a:r>
          </a:p>
          <a:p>
            <a:r>
              <a:rPr lang="en-US" sz="1600" dirty="0"/>
              <a:t>Texas     10.0</a:t>
            </a:r>
          </a:p>
          <a:p>
            <a:r>
              <a:rPr lang="en-US" sz="1600" dirty="0"/>
              <a:t>Ohio      20.0</a:t>
            </a:r>
          </a:p>
          <a:p>
            <a:r>
              <a:rPr lang="en-US" sz="1600" dirty="0"/>
              <a:t>Oregon    15.0</a:t>
            </a:r>
          </a:p>
          <a:p>
            <a:r>
              <a:rPr lang="en-US" sz="1600" dirty="0"/>
              <a:t>Iowa       </a:t>
            </a:r>
            <a:r>
              <a:rPr lang="en-US" sz="1600" dirty="0" err="1"/>
              <a:t>NaN</a:t>
            </a:r>
            <a:endParaRPr lang="en-US" sz="1600" dirty="0"/>
          </a:p>
          <a:p>
            <a:r>
              <a:rPr lang="en-US" sz="1600" dirty="0" err="1"/>
              <a:t>dtype</a:t>
            </a:r>
            <a:r>
              <a:rPr lang="en-US" sz="1600" dirty="0"/>
              <a:t>: float64</a:t>
            </a:r>
          </a:p>
        </p:txBody>
      </p:sp>
      <p:cxnSp>
        <p:nvCxnSpPr>
          <p:cNvPr id="6" name="Straight Arrow Connector 5"/>
          <p:cNvCxnSpPr>
            <a:stCxn id="7" idx="1"/>
          </p:cNvCxnSpPr>
          <p:nvPr/>
        </p:nvCxnSpPr>
        <p:spPr>
          <a:xfrm flipH="1" flipV="1">
            <a:off x="2062066" y="3825551"/>
            <a:ext cx="632621" cy="100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94687" y="3741442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Missing value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2793" y="1510062"/>
            <a:ext cx="253900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80"/>
                </a:solidFill>
              </a:rPr>
              <a:t>print(</a:t>
            </a:r>
            <a:r>
              <a:rPr lang="en-US" sz="1400" dirty="0" err="1">
                <a:effectLst/>
              </a:rPr>
              <a:t>pd.isnull</a:t>
            </a:r>
            <a:r>
              <a:rPr lang="en-US" sz="1400" dirty="0">
                <a:effectLst/>
              </a:rPr>
              <a:t>(obj4))</a:t>
            </a:r>
          </a:p>
          <a:p>
            <a:r>
              <a:rPr lang="en-US" sz="1400" dirty="0"/>
              <a:t>#output</a:t>
            </a:r>
          </a:p>
          <a:p>
            <a:r>
              <a:rPr lang="en-US" sz="1400" dirty="0">
                <a:effectLst/>
              </a:rPr>
              <a:t>Texas False</a:t>
            </a:r>
          </a:p>
          <a:p>
            <a:r>
              <a:rPr lang="en-US" sz="1400" dirty="0">
                <a:effectLst/>
              </a:rPr>
              <a:t>Ohio False</a:t>
            </a:r>
          </a:p>
          <a:p>
            <a:r>
              <a:rPr lang="en-US" sz="1400" dirty="0">
                <a:effectLst/>
              </a:rPr>
              <a:t>Oregon False</a:t>
            </a:r>
          </a:p>
          <a:p>
            <a:r>
              <a:rPr lang="en-US" sz="1400" dirty="0">
                <a:effectLst/>
              </a:rPr>
              <a:t>Iowa True</a:t>
            </a:r>
          </a:p>
          <a:p>
            <a:r>
              <a:rPr lang="en-US" sz="1400" dirty="0" err="1">
                <a:effectLst/>
              </a:rPr>
              <a:t>dtype</a:t>
            </a:r>
            <a:r>
              <a:rPr lang="en-US" sz="1400" dirty="0">
                <a:effectLst/>
              </a:rPr>
              <a:t>: bool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000080"/>
                </a:solidFill>
              </a:rPr>
              <a:t>print(</a:t>
            </a:r>
            <a:r>
              <a:rPr lang="en-US" sz="1400" dirty="0" err="1"/>
              <a:t>pd.notnull</a:t>
            </a:r>
            <a:r>
              <a:rPr lang="en-US" sz="1400" dirty="0"/>
              <a:t>(obj4))</a:t>
            </a:r>
          </a:p>
          <a:p>
            <a:r>
              <a:rPr lang="en-US" sz="1400" dirty="0"/>
              <a:t>#output</a:t>
            </a:r>
          </a:p>
          <a:p>
            <a:r>
              <a:rPr lang="en-US" sz="1400" dirty="0"/>
              <a:t>Texas True</a:t>
            </a:r>
          </a:p>
          <a:p>
            <a:r>
              <a:rPr lang="en-US" sz="1400" dirty="0"/>
              <a:t>Ohio True</a:t>
            </a:r>
          </a:p>
          <a:p>
            <a:r>
              <a:rPr lang="en-US" sz="1400" dirty="0"/>
              <a:t>Oregon True</a:t>
            </a:r>
          </a:p>
          <a:p>
            <a:r>
              <a:rPr lang="en-US" sz="1400" dirty="0"/>
              <a:t>Iowa False</a:t>
            </a:r>
          </a:p>
          <a:p>
            <a:r>
              <a:rPr lang="en-US" sz="1400" dirty="0" err="1"/>
              <a:t>dtype</a:t>
            </a:r>
            <a:r>
              <a:rPr lang="en-US" sz="1400" dirty="0"/>
              <a:t>: bool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000080"/>
                </a:solidFill>
              </a:rPr>
              <a:t>print(</a:t>
            </a:r>
            <a:r>
              <a:rPr lang="en-US" sz="1400" dirty="0"/>
              <a:t>obj4[obj4.notnull()])</a:t>
            </a:r>
          </a:p>
          <a:p>
            <a:r>
              <a:rPr lang="en-US" sz="1400" dirty="0"/>
              <a:t>#output</a:t>
            </a:r>
          </a:p>
          <a:p>
            <a:r>
              <a:rPr lang="en-US" sz="1400" dirty="0"/>
              <a:t>Texas 10.0</a:t>
            </a:r>
          </a:p>
          <a:p>
            <a:r>
              <a:rPr lang="en-US" sz="1400" dirty="0"/>
              <a:t>Ohio 20.0</a:t>
            </a:r>
          </a:p>
          <a:p>
            <a:r>
              <a:rPr lang="en-US" sz="1400" dirty="0"/>
              <a:t>Oregon 15.0</a:t>
            </a:r>
          </a:p>
          <a:p>
            <a:r>
              <a:rPr lang="en-US" sz="1400" dirty="0" err="1"/>
              <a:t>dtype</a:t>
            </a:r>
            <a:r>
              <a:rPr lang="en-US" sz="1400" dirty="0"/>
              <a:t>: float64</a:t>
            </a:r>
          </a:p>
        </p:txBody>
      </p:sp>
      <p:cxnSp>
        <p:nvCxnSpPr>
          <p:cNvPr id="8" name="Straight Arrow Connector 7"/>
          <p:cNvCxnSpPr>
            <a:stCxn id="10" idx="1"/>
          </p:cNvCxnSpPr>
          <p:nvPr/>
        </p:nvCxnSpPr>
        <p:spPr>
          <a:xfrm flipH="1" flipV="1">
            <a:off x="1206631" y="1958463"/>
            <a:ext cx="3070540" cy="935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77171" y="2709329"/>
            <a:ext cx="1582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dictionary</a:t>
            </a:r>
          </a:p>
        </p:txBody>
      </p:sp>
    </p:spTree>
    <p:extLst>
      <p:ext uri="{BB962C8B-B14F-4D97-AF65-F5344CB8AC3E}">
        <p14:creationId xmlns:p14="http://schemas.microsoft.com/office/powerpoint/2010/main" val="1686863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927" y="365126"/>
            <a:ext cx="8062423" cy="1325563"/>
          </a:xfrm>
        </p:spPr>
        <p:txBody>
          <a:bodyPr/>
          <a:lstStyle/>
          <a:p>
            <a:r>
              <a:rPr lang="en-US" dirty="0"/>
              <a:t>Series – auto alignment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11834" y="1628604"/>
            <a:ext cx="250961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print(obj4.add(obj5))</a:t>
            </a: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Iowa       </a:t>
            </a:r>
            <a:r>
              <a:rPr lang="en-US" dirty="0" err="1"/>
              <a:t>NaN</a:t>
            </a:r>
            <a:endParaRPr lang="en-US" dirty="0"/>
          </a:p>
          <a:p>
            <a:r>
              <a:rPr lang="en-US" dirty="0"/>
              <a:t>Ohio      40.0</a:t>
            </a:r>
          </a:p>
          <a:p>
            <a:r>
              <a:rPr lang="en-US" dirty="0"/>
              <a:t>Oregon    30.0</a:t>
            </a:r>
          </a:p>
          <a:p>
            <a:r>
              <a:rPr lang="en-US" dirty="0"/>
              <a:t>Texas     20.0</a:t>
            </a:r>
          </a:p>
          <a:p>
            <a:r>
              <a:rPr lang="en-US" dirty="0"/>
              <a:t>Utah       </a:t>
            </a:r>
            <a:r>
              <a:rPr lang="en-US" dirty="0" err="1"/>
              <a:t>NaN</a:t>
            </a:r>
            <a:endParaRPr lang="en-US" dirty="0"/>
          </a:p>
          <a:p>
            <a:r>
              <a:rPr lang="en-US" dirty="0" err="1"/>
              <a:t>dtype</a:t>
            </a:r>
            <a:r>
              <a:rPr lang="en-US" dirty="0"/>
              <a:t>: float64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75425" y="1362285"/>
            <a:ext cx="6289326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80"/>
                </a:solidFill>
              </a:rPr>
              <a:t>sdata</a:t>
            </a:r>
            <a:r>
              <a:rPr lang="en-US" dirty="0">
                <a:solidFill>
                  <a:srgbClr val="000080"/>
                </a:solidFill>
              </a:rPr>
              <a:t> = {'Texas': 10, 'Ohio': 20, 'Oregon': 15, 'Utah': 18}</a:t>
            </a:r>
          </a:p>
          <a:p>
            <a:r>
              <a:rPr lang="en-US" dirty="0">
                <a:solidFill>
                  <a:srgbClr val="000080"/>
                </a:solidFill>
              </a:rPr>
              <a:t>states = ['Texas', 'Ohio', 'Oregon', 'Iowa']</a:t>
            </a:r>
          </a:p>
          <a:p>
            <a:r>
              <a:rPr lang="en-US" dirty="0">
                <a:solidFill>
                  <a:srgbClr val="000080"/>
                </a:solidFill>
              </a:rPr>
              <a:t>obj4 = Series(</a:t>
            </a:r>
            <a:r>
              <a:rPr lang="en-US" dirty="0" err="1">
                <a:solidFill>
                  <a:srgbClr val="000080"/>
                </a:solidFill>
              </a:rPr>
              <a:t>sdata</a:t>
            </a:r>
            <a:r>
              <a:rPr lang="en-US" dirty="0">
                <a:solidFill>
                  <a:srgbClr val="000080"/>
                </a:solidFill>
              </a:rPr>
              <a:t>, index=states)</a:t>
            </a:r>
          </a:p>
          <a:p>
            <a:r>
              <a:rPr lang="en-US" dirty="0">
                <a:solidFill>
                  <a:srgbClr val="000080"/>
                </a:solidFill>
              </a:rPr>
              <a:t>print(obj4)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#Output</a:t>
            </a:r>
          </a:p>
          <a:p>
            <a:r>
              <a:rPr lang="en-US" sz="1600" dirty="0"/>
              <a:t>Texas     10.0</a:t>
            </a:r>
          </a:p>
          <a:p>
            <a:r>
              <a:rPr lang="en-US" sz="1600" dirty="0"/>
              <a:t>Ohio      20.0</a:t>
            </a:r>
          </a:p>
          <a:p>
            <a:r>
              <a:rPr lang="en-US" sz="1600" dirty="0"/>
              <a:t>Oregon    15.0</a:t>
            </a:r>
          </a:p>
          <a:p>
            <a:r>
              <a:rPr lang="en-US" sz="1600" dirty="0"/>
              <a:t>Iowa       </a:t>
            </a:r>
            <a:r>
              <a:rPr lang="en-US" sz="1600" dirty="0" err="1"/>
              <a:t>NaN</a:t>
            </a:r>
            <a:endParaRPr lang="en-US" sz="1600" dirty="0"/>
          </a:p>
          <a:p>
            <a:r>
              <a:rPr lang="en-US" sz="1600" dirty="0" err="1"/>
              <a:t>dtype</a:t>
            </a:r>
            <a:r>
              <a:rPr lang="en-US" sz="1600" dirty="0"/>
              <a:t>: float64</a:t>
            </a:r>
          </a:p>
          <a:p>
            <a:endParaRPr lang="en-US" dirty="0">
              <a:solidFill>
                <a:srgbClr val="000080"/>
              </a:solidFill>
            </a:endParaRPr>
          </a:p>
          <a:p>
            <a:r>
              <a:rPr lang="en-US" dirty="0" err="1">
                <a:solidFill>
                  <a:srgbClr val="000080"/>
                </a:solidFill>
              </a:rPr>
              <a:t>sdata</a:t>
            </a:r>
            <a:r>
              <a:rPr lang="en-US" dirty="0">
                <a:solidFill>
                  <a:srgbClr val="000080"/>
                </a:solidFill>
              </a:rPr>
              <a:t> = {'Texas': 10, 'Ohio': 20, 'Oregon': 15, 'Utah': 18}</a:t>
            </a:r>
          </a:p>
          <a:p>
            <a:r>
              <a:rPr lang="en-US" dirty="0">
                <a:solidFill>
                  <a:srgbClr val="000080"/>
                </a:solidFill>
              </a:rPr>
              <a:t>states = ['Texas', 'Ohio', 'Oregon', 'Utah']</a:t>
            </a:r>
          </a:p>
          <a:p>
            <a:r>
              <a:rPr lang="en-US" dirty="0">
                <a:solidFill>
                  <a:srgbClr val="000080"/>
                </a:solidFill>
              </a:rPr>
              <a:t>obj5 = Series(</a:t>
            </a:r>
            <a:r>
              <a:rPr lang="en-US" dirty="0" err="1">
                <a:solidFill>
                  <a:srgbClr val="000080"/>
                </a:solidFill>
              </a:rPr>
              <a:t>sdata</a:t>
            </a:r>
            <a:r>
              <a:rPr lang="en-US" dirty="0">
                <a:solidFill>
                  <a:srgbClr val="000080"/>
                </a:solidFill>
              </a:rPr>
              <a:t>, index=states)</a:t>
            </a:r>
          </a:p>
          <a:p>
            <a:r>
              <a:rPr lang="en-US" dirty="0">
                <a:solidFill>
                  <a:srgbClr val="000080"/>
                </a:solidFill>
              </a:rPr>
              <a:t>print(obj5)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#Output</a:t>
            </a:r>
          </a:p>
          <a:p>
            <a:r>
              <a:rPr lang="en-US" sz="1600" dirty="0"/>
              <a:t>Texas     10</a:t>
            </a:r>
          </a:p>
          <a:p>
            <a:r>
              <a:rPr lang="en-US" sz="1600" dirty="0"/>
              <a:t>Ohio      20</a:t>
            </a:r>
          </a:p>
          <a:p>
            <a:r>
              <a:rPr lang="en-US" sz="1600" dirty="0"/>
              <a:t>Oregon   15</a:t>
            </a:r>
          </a:p>
          <a:p>
            <a:r>
              <a:rPr lang="en-US" sz="1600" dirty="0"/>
              <a:t>Utah      18</a:t>
            </a:r>
          </a:p>
          <a:p>
            <a:r>
              <a:rPr lang="en-US" sz="1600" dirty="0" err="1"/>
              <a:t>dtype</a:t>
            </a:r>
            <a:r>
              <a:rPr lang="en-US" sz="1600" dirty="0"/>
              <a:t>: int64</a:t>
            </a:r>
          </a:p>
        </p:txBody>
      </p:sp>
    </p:spTree>
    <p:extLst>
      <p:ext uri="{BB962C8B-B14F-4D97-AF65-F5344CB8AC3E}">
        <p14:creationId xmlns:p14="http://schemas.microsoft.com/office/powerpoint/2010/main" val="1494415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110" y="365126"/>
            <a:ext cx="8028240" cy="1325563"/>
          </a:xfrm>
        </p:spPr>
        <p:txBody>
          <a:bodyPr/>
          <a:lstStyle/>
          <a:p>
            <a:r>
              <a:rPr lang="en-US" dirty="0"/>
              <a:t>Series name and index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83326" y="1610907"/>
            <a:ext cx="793202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80"/>
                </a:solidFill>
              </a:rPr>
              <a:t>sdata</a:t>
            </a:r>
            <a:r>
              <a:rPr lang="en-US" dirty="0">
                <a:solidFill>
                  <a:srgbClr val="000080"/>
                </a:solidFill>
              </a:rPr>
              <a:t> = {'Texas': 10, 'Ohio': 20, 'Oregon': 15, 'Utah': 18}</a:t>
            </a:r>
          </a:p>
          <a:p>
            <a:r>
              <a:rPr lang="en-US" dirty="0">
                <a:solidFill>
                  <a:srgbClr val="000080"/>
                </a:solidFill>
              </a:rPr>
              <a:t>states = ['Texas', 'Ohio', 'Oregon', 'Iowa']</a:t>
            </a:r>
          </a:p>
          <a:p>
            <a:r>
              <a:rPr lang="en-US" dirty="0">
                <a:solidFill>
                  <a:srgbClr val="000080"/>
                </a:solidFill>
              </a:rPr>
              <a:t>obj4 = Series(</a:t>
            </a:r>
            <a:r>
              <a:rPr lang="en-US" dirty="0" err="1">
                <a:solidFill>
                  <a:srgbClr val="000080"/>
                </a:solidFill>
              </a:rPr>
              <a:t>sdata</a:t>
            </a:r>
            <a:r>
              <a:rPr lang="en-US" dirty="0">
                <a:solidFill>
                  <a:srgbClr val="000080"/>
                </a:solidFill>
              </a:rPr>
              <a:t>, index=states)</a:t>
            </a:r>
          </a:p>
          <a:p>
            <a:r>
              <a:rPr lang="en-US" dirty="0">
                <a:solidFill>
                  <a:srgbClr val="000080"/>
                </a:solidFill>
              </a:rPr>
              <a:t>obj4.name = 'population'</a:t>
            </a:r>
          </a:p>
          <a:p>
            <a:r>
              <a:rPr lang="en-US" dirty="0">
                <a:solidFill>
                  <a:srgbClr val="000080"/>
                </a:solidFill>
              </a:rPr>
              <a:t>obj4.index.name = 'state'</a:t>
            </a:r>
          </a:p>
          <a:p>
            <a:r>
              <a:rPr lang="en-US" dirty="0">
                <a:solidFill>
                  <a:srgbClr val="000080"/>
                </a:solidFill>
              </a:rPr>
              <a:t>print(obj4)</a:t>
            </a:r>
          </a:p>
          <a:p>
            <a:r>
              <a:rPr lang="en-US" dirty="0">
                <a:solidFill>
                  <a:srgbClr val="000080"/>
                </a:solidFill>
              </a:rPr>
              <a:t>#output</a:t>
            </a:r>
          </a:p>
          <a:p>
            <a:r>
              <a:rPr lang="en-US" dirty="0"/>
              <a:t>state</a:t>
            </a:r>
          </a:p>
          <a:p>
            <a:r>
              <a:rPr lang="en-US" dirty="0"/>
              <a:t>Texas     10.0</a:t>
            </a:r>
          </a:p>
          <a:p>
            <a:r>
              <a:rPr lang="en-US" dirty="0"/>
              <a:t>Ohio      20.0</a:t>
            </a:r>
          </a:p>
          <a:p>
            <a:r>
              <a:rPr lang="en-US" dirty="0"/>
              <a:t>Oregon    15.0</a:t>
            </a:r>
          </a:p>
          <a:p>
            <a:r>
              <a:rPr lang="en-US" dirty="0"/>
              <a:t>Iowa       </a:t>
            </a:r>
            <a:r>
              <a:rPr lang="en-US" dirty="0" err="1"/>
              <a:t>NaN</a:t>
            </a:r>
            <a:endParaRPr lang="en-US" dirty="0"/>
          </a:p>
          <a:p>
            <a:r>
              <a:rPr lang="en-US" dirty="0"/>
              <a:t>Name: population, </a:t>
            </a:r>
            <a:r>
              <a:rPr lang="en-US" dirty="0" err="1"/>
              <a:t>dtype</a:t>
            </a:r>
            <a:r>
              <a:rPr lang="en-US" dirty="0"/>
              <a:t>: float64</a:t>
            </a:r>
          </a:p>
        </p:txBody>
      </p:sp>
    </p:spTree>
    <p:extLst>
      <p:ext uri="{BB962C8B-B14F-4D97-AF65-F5344CB8AC3E}">
        <p14:creationId xmlns:p14="http://schemas.microsoft.com/office/powerpoint/2010/main" val="1439023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110" y="365126"/>
            <a:ext cx="8028240" cy="1325563"/>
          </a:xfrm>
        </p:spPr>
        <p:txBody>
          <a:bodyPr/>
          <a:lstStyle/>
          <a:p>
            <a:r>
              <a:rPr lang="en-US" dirty="0"/>
              <a:t>Series name and index name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77682" y="1454818"/>
            <a:ext cx="8461045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Index of a series can be changed to a different index.</a:t>
            </a:r>
          </a:p>
          <a:p>
            <a:endParaRPr lang="en-US" dirty="0"/>
          </a:p>
          <a:p>
            <a:pPr lvl="1"/>
            <a:r>
              <a:rPr lang="en-US" dirty="0">
                <a:solidFill>
                  <a:srgbClr val="4141A0"/>
                </a:solidFill>
              </a:rPr>
              <a:t>obj4.index = ['Florida', 'New York', 'Kentucky', 'Georgia']</a:t>
            </a:r>
          </a:p>
          <a:p>
            <a:pPr lvl="1"/>
            <a:r>
              <a:rPr lang="en-US" dirty="0"/>
              <a:t>Florida     10.0</a:t>
            </a:r>
          </a:p>
          <a:p>
            <a:pPr lvl="1"/>
            <a:r>
              <a:rPr lang="en-US" dirty="0"/>
              <a:t>New York    20.0</a:t>
            </a:r>
          </a:p>
          <a:p>
            <a:pPr lvl="1"/>
            <a:r>
              <a:rPr lang="en-US" dirty="0"/>
              <a:t>Kentucky    15.0</a:t>
            </a:r>
          </a:p>
          <a:p>
            <a:pPr lvl="1"/>
            <a:r>
              <a:rPr lang="en-US" dirty="0"/>
              <a:t>Georgia      </a:t>
            </a:r>
            <a:r>
              <a:rPr lang="en-US" dirty="0" err="1"/>
              <a:t>NaN</a:t>
            </a:r>
            <a:endParaRPr lang="en-US" dirty="0"/>
          </a:p>
          <a:p>
            <a:pPr lvl="1"/>
            <a:r>
              <a:rPr lang="en-US" dirty="0"/>
              <a:t>Name: population, </a:t>
            </a:r>
            <a:r>
              <a:rPr lang="en-US" dirty="0" err="1"/>
              <a:t>dtype</a:t>
            </a:r>
            <a:r>
              <a:rPr lang="en-US" dirty="0"/>
              <a:t>: float64</a:t>
            </a:r>
          </a:p>
          <a:p>
            <a:endParaRPr lang="en-US" dirty="0">
              <a:solidFill>
                <a:srgbClr val="00008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Index object itself is immutable.</a:t>
            </a:r>
          </a:p>
          <a:p>
            <a:endParaRPr lang="en-US" dirty="0">
              <a:solidFill>
                <a:srgbClr val="000080"/>
              </a:solidFill>
            </a:endParaRPr>
          </a:p>
          <a:p>
            <a:pPr lvl="1"/>
            <a:r>
              <a:rPr lang="en-US" dirty="0">
                <a:solidFill>
                  <a:srgbClr val="4141A0"/>
                </a:solidFill>
              </a:rPr>
              <a:t>obj4.index[2]='California'</a:t>
            </a:r>
          </a:p>
          <a:p>
            <a:pPr lvl="1"/>
            <a:r>
              <a:rPr lang="en-US" dirty="0" err="1">
                <a:solidFill>
                  <a:srgbClr val="8B0000"/>
                </a:solidFill>
              </a:rPr>
              <a:t>TypeError</a:t>
            </a:r>
            <a:r>
              <a:rPr lang="en-US" dirty="0">
                <a:solidFill>
                  <a:srgbClr val="8B0000"/>
                </a:solidFill>
              </a:rPr>
              <a:t>:</a:t>
            </a:r>
            <a:r>
              <a:rPr lang="en-US" dirty="0"/>
              <a:t> Index does not support mutable operations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rgbClr val="4141A0"/>
                </a:solidFill>
              </a:rPr>
              <a:t>print(obj4.index)</a:t>
            </a:r>
          </a:p>
          <a:p>
            <a:pPr lvl="1"/>
            <a:r>
              <a:rPr lang="en-US" dirty="0"/>
              <a:t>Index(['Florida', 'New York', 'Kentucky', 'Georgia'], </a:t>
            </a:r>
            <a:r>
              <a:rPr lang="en-US" dirty="0" err="1"/>
              <a:t>dtype</a:t>
            </a:r>
            <a:r>
              <a:rPr lang="en-US" dirty="0"/>
              <a:t>='object')</a:t>
            </a:r>
          </a:p>
        </p:txBody>
      </p:sp>
    </p:spTree>
    <p:extLst>
      <p:ext uri="{BB962C8B-B14F-4D97-AF65-F5344CB8AC3E}">
        <p14:creationId xmlns:p14="http://schemas.microsoft.com/office/powerpoint/2010/main" val="982280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Indexing, selection and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368" y="1564368"/>
            <a:ext cx="7886700" cy="4351338"/>
          </a:xfrm>
        </p:spPr>
        <p:txBody>
          <a:bodyPr/>
          <a:lstStyle/>
          <a:p>
            <a:r>
              <a:rPr lang="en-US" dirty="0"/>
              <a:t>Series can be sliced/accessed with label-based indexes, or using position-based indexes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36630" y="2675207"/>
            <a:ext cx="653861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S = Series(range(4), index=['zero', 'one', 'two', 'three'])</a:t>
            </a:r>
          </a:p>
          <a:p>
            <a:r>
              <a:rPr lang="en-US" dirty="0">
                <a:solidFill>
                  <a:srgbClr val="000080"/>
                </a:solidFill>
              </a:rPr>
              <a:t>print(S['two'])</a:t>
            </a:r>
          </a:p>
          <a:p>
            <a:r>
              <a:rPr lang="en-US" dirty="0"/>
              <a:t>2</a:t>
            </a:r>
          </a:p>
          <a:p>
            <a:r>
              <a:rPr lang="en-US" dirty="0">
                <a:solidFill>
                  <a:srgbClr val="000080"/>
                </a:solidFill>
              </a:rPr>
              <a:t>print(S[['zero', 'two']])</a:t>
            </a:r>
          </a:p>
          <a:p>
            <a:r>
              <a:rPr lang="en-US" dirty="0"/>
              <a:t>zero    0</a:t>
            </a:r>
          </a:p>
          <a:p>
            <a:r>
              <a:rPr lang="en-US" dirty="0"/>
              <a:t>two     2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r>
              <a:rPr lang="en-US" dirty="0">
                <a:solidFill>
                  <a:srgbClr val="000080"/>
                </a:solidFill>
              </a:rPr>
              <a:t>print(S[2])</a:t>
            </a:r>
          </a:p>
          <a:p>
            <a:r>
              <a:rPr lang="en-US" dirty="0"/>
              <a:t>2</a:t>
            </a:r>
          </a:p>
          <a:p>
            <a:r>
              <a:rPr lang="en-US" dirty="0">
                <a:solidFill>
                  <a:srgbClr val="000080"/>
                </a:solidFill>
              </a:rPr>
              <a:t>print(S[[0,2]])</a:t>
            </a:r>
          </a:p>
          <a:p>
            <a:r>
              <a:rPr lang="en-US" dirty="0"/>
              <a:t>zero    0</a:t>
            </a:r>
          </a:p>
          <a:p>
            <a:r>
              <a:rPr lang="en-US" dirty="0"/>
              <a:t>two     2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  <a:br>
              <a:rPr lang="en-US" dirty="0"/>
            </a:b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1883121" y="5495453"/>
            <a:ext cx="2158833" cy="737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82928" y="6233013"/>
            <a:ext cx="29370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list operator for items &gt;1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2705493" y="3836709"/>
            <a:ext cx="1488862" cy="2548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029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Indexing, selection and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368" y="1564368"/>
            <a:ext cx="7886700" cy="4351338"/>
          </a:xfrm>
        </p:spPr>
        <p:txBody>
          <a:bodyPr/>
          <a:lstStyle/>
          <a:p>
            <a:r>
              <a:rPr lang="en-US" dirty="0"/>
              <a:t>Series can be sliced/accessed with label-based indexes, or using position-based indexes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36630" y="2675207"/>
            <a:ext cx="653861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S = Series(range(4), index=['zero', 'one', 'two', 'three'])</a:t>
            </a:r>
          </a:p>
          <a:p>
            <a:r>
              <a:rPr lang="en-US" dirty="0">
                <a:solidFill>
                  <a:srgbClr val="000080"/>
                </a:solidFill>
              </a:rPr>
              <a:t>print(S[:2])</a:t>
            </a:r>
          </a:p>
          <a:p>
            <a:r>
              <a:rPr lang="en-US" dirty="0"/>
              <a:t>zero 0</a:t>
            </a:r>
          </a:p>
          <a:p>
            <a:r>
              <a:rPr lang="en-US" dirty="0"/>
              <a:t>one 1</a:t>
            </a:r>
          </a:p>
          <a:p>
            <a:r>
              <a:rPr lang="en-US" dirty="0" err="1"/>
              <a:t>dtype</a:t>
            </a:r>
            <a:r>
              <a:rPr lang="en-US" dirty="0"/>
              <a:t>: int32</a:t>
            </a:r>
          </a:p>
          <a:p>
            <a:r>
              <a:rPr lang="en-US" dirty="0"/>
              <a:t> </a:t>
            </a:r>
          </a:p>
          <a:p>
            <a:r>
              <a:rPr lang="en-US" dirty="0">
                <a:solidFill>
                  <a:srgbClr val="000080"/>
                </a:solidFill>
              </a:rPr>
              <a:t>print(S['zero': 'two'])</a:t>
            </a:r>
          </a:p>
          <a:p>
            <a:r>
              <a:rPr lang="en-US" dirty="0"/>
              <a:t>zero 0</a:t>
            </a:r>
          </a:p>
          <a:p>
            <a:r>
              <a:rPr lang="en-US" dirty="0"/>
              <a:t>one 1</a:t>
            </a:r>
          </a:p>
          <a:p>
            <a:r>
              <a:rPr lang="en-US" dirty="0"/>
              <a:t>two 2</a:t>
            </a:r>
          </a:p>
          <a:p>
            <a:r>
              <a:rPr lang="en-US" dirty="0" err="1"/>
              <a:t>dtype</a:t>
            </a:r>
            <a:r>
              <a:rPr lang="en-US" dirty="0"/>
              <a:t>: int32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2452481" y="4672520"/>
            <a:ext cx="159026" cy="4556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52481" y="5128209"/>
            <a:ext cx="1183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Inclusive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18397" y="3835547"/>
            <a:ext cx="280831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/>
              <a:t>S[S &gt; 1])</a:t>
            </a:r>
          </a:p>
          <a:p>
            <a:r>
              <a:rPr lang="en-US" dirty="0"/>
              <a:t>two 2</a:t>
            </a:r>
          </a:p>
          <a:p>
            <a:r>
              <a:rPr lang="en-US" dirty="0"/>
              <a:t>three 3</a:t>
            </a:r>
          </a:p>
          <a:p>
            <a:r>
              <a:rPr lang="en-US" dirty="0" err="1"/>
              <a:t>dtype</a:t>
            </a:r>
            <a:r>
              <a:rPr lang="en-US" dirty="0"/>
              <a:t>: int32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/>
              <a:t>S[-2:]</a:t>
            </a:r>
            <a:r>
              <a:rPr lang="en-US" dirty="0">
                <a:solidFill>
                  <a:srgbClr val="000080"/>
                </a:solidFill>
              </a:rPr>
              <a:t>)</a:t>
            </a:r>
          </a:p>
          <a:p>
            <a:r>
              <a:rPr lang="en-US" dirty="0"/>
              <a:t>two 2</a:t>
            </a:r>
          </a:p>
          <a:p>
            <a:r>
              <a:rPr lang="en-US" dirty="0"/>
              <a:t>three 3</a:t>
            </a:r>
          </a:p>
          <a:p>
            <a:r>
              <a:rPr lang="en-US" dirty="0" err="1"/>
              <a:t>dtype</a:t>
            </a:r>
            <a:r>
              <a:rPr lang="en-US" dirty="0"/>
              <a:t>: int32</a:t>
            </a:r>
          </a:p>
        </p:txBody>
      </p:sp>
    </p:spTree>
    <p:extLst>
      <p:ext uri="{BB962C8B-B14F-4D97-AF65-F5344CB8AC3E}">
        <p14:creationId xmlns:p14="http://schemas.microsoft.com/office/powerpoint/2010/main" val="1998776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555" y="1607274"/>
            <a:ext cx="7886700" cy="4999714"/>
          </a:xfrm>
        </p:spPr>
        <p:txBody>
          <a:bodyPr>
            <a:normAutofit/>
          </a:bodyPr>
          <a:lstStyle/>
          <a:p>
            <a:r>
              <a:rPr lang="en-US" dirty="0"/>
              <a:t>Create a random list of 10 integers in the range from 1 to 100 </a:t>
            </a:r>
          </a:p>
          <a:p>
            <a:r>
              <a:rPr lang="en-US" dirty="0"/>
              <a:t>Generate a Series using above list with index values of 1-10</a:t>
            </a:r>
          </a:p>
          <a:p>
            <a:pPr lvl="1"/>
            <a:r>
              <a:rPr lang="en-US" dirty="0"/>
              <a:t>Name your Series “Random Numbers”</a:t>
            </a:r>
          </a:p>
          <a:p>
            <a:pPr lvl="1"/>
            <a:r>
              <a:rPr lang="en-US" dirty="0"/>
              <a:t>Name your index “</a:t>
            </a:r>
            <a:r>
              <a:rPr lang="en-US" dirty="0" err="1"/>
              <a:t>idx</a:t>
            </a:r>
            <a:r>
              <a:rPr lang="en-US" dirty="0"/>
              <a:t>”</a:t>
            </a:r>
          </a:p>
          <a:p>
            <a:r>
              <a:rPr lang="en-US" dirty="0"/>
              <a:t>Now generate the Squares of all the values in the Series </a:t>
            </a:r>
          </a:p>
          <a:p>
            <a:pPr lvl="1"/>
            <a:r>
              <a:rPr lang="en-US" dirty="0"/>
              <a:t>display last 4 items of this Series</a:t>
            </a:r>
          </a:p>
          <a:p>
            <a:pPr lvl="1"/>
            <a:r>
              <a:rPr lang="en-US" dirty="0"/>
              <a:t>Also display all the numbers &gt;500 as a list (without the index)</a:t>
            </a:r>
          </a:p>
          <a:p>
            <a:pPr marL="0" indent="0">
              <a:buNone/>
            </a:pPr>
            <a:r>
              <a:rPr lang="en-US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39279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132795" cy="435133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DataFrame</a:t>
            </a:r>
            <a:r>
              <a:rPr lang="en-US" dirty="0"/>
              <a:t> is a tabular data structure comprised of rows and columns, akin to a spreadsheet or database table.</a:t>
            </a:r>
          </a:p>
          <a:p>
            <a:r>
              <a:rPr lang="en-US" dirty="0"/>
              <a:t>It can be treated as an ordered collection of  columns</a:t>
            </a:r>
          </a:p>
          <a:p>
            <a:pPr lvl="1"/>
            <a:r>
              <a:rPr lang="en-US" dirty="0"/>
              <a:t>Each column can be a different data type</a:t>
            </a:r>
          </a:p>
          <a:p>
            <a:pPr lvl="1"/>
            <a:r>
              <a:rPr lang="en-US" dirty="0"/>
              <a:t>Have both row and column indices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28650" y="3668060"/>
            <a:ext cx="822563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data = {'state': ['Ohio', 'Ohio', 'Ohio', 'Nevada', 'Nevada'],</a:t>
            </a:r>
          </a:p>
          <a:p>
            <a:r>
              <a:rPr lang="en-US" sz="1600" dirty="0">
                <a:solidFill>
                  <a:srgbClr val="000080"/>
                </a:solidFill>
              </a:rPr>
              <a:t>'year': [2000, 2001, 2002, 2001, 2002],</a:t>
            </a:r>
          </a:p>
          <a:p>
            <a:r>
              <a:rPr lang="en-US" sz="1600" dirty="0">
                <a:solidFill>
                  <a:srgbClr val="000080"/>
                </a:solidFill>
              </a:rPr>
              <a:t>'pop': [1.5, 1.7, 3.6, 2.4, 2.9]}</a:t>
            </a:r>
          </a:p>
          <a:p>
            <a:r>
              <a:rPr lang="en-US" sz="1600" dirty="0">
                <a:solidFill>
                  <a:srgbClr val="000080"/>
                </a:solidFill>
              </a:rPr>
              <a:t>frame = </a:t>
            </a:r>
            <a:r>
              <a:rPr lang="en-US" sz="1600" dirty="0" err="1">
                <a:solidFill>
                  <a:srgbClr val="000080"/>
                </a:solidFill>
              </a:rPr>
              <a:t>DataFrame</a:t>
            </a:r>
            <a:r>
              <a:rPr lang="en-US" sz="1600" dirty="0">
                <a:solidFill>
                  <a:srgbClr val="000080"/>
                </a:solidFill>
              </a:rPr>
              <a:t>(data)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#output</a:t>
            </a:r>
            <a:endParaRPr lang="en-US" sz="1600" dirty="0">
              <a:solidFill>
                <a:srgbClr val="000080"/>
              </a:solidFill>
              <a:effectLst/>
            </a:endParaRPr>
          </a:p>
          <a:p>
            <a:r>
              <a:rPr lang="en-US" sz="1600" dirty="0"/>
              <a:t>      state  year  pop</a:t>
            </a:r>
          </a:p>
          <a:p>
            <a:r>
              <a:rPr lang="en-US" sz="1600" dirty="0"/>
              <a:t>0    Ohio  2000  1.5</a:t>
            </a:r>
          </a:p>
          <a:p>
            <a:r>
              <a:rPr lang="en-US" sz="1600" dirty="0"/>
              <a:t>1    Ohio  2001  1.7</a:t>
            </a:r>
          </a:p>
          <a:p>
            <a:r>
              <a:rPr lang="en-US" sz="1600" dirty="0"/>
              <a:t>2    Ohio  2002  3.6</a:t>
            </a:r>
          </a:p>
          <a:p>
            <a:r>
              <a:rPr lang="en-US" sz="1600" dirty="0"/>
              <a:t>3  Nevada  2001  2.4</a:t>
            </a:r>
          </a:p>
          <a:p>
            <a:r>
              <a:rPr lang="en-US" sz="1600" dirty="0"/>
              <a:t>4  Nevada  2002  2.9</a:t>
            </a:r>
          </a:p>
        </p:txBody>
      </p:sp>
    </p:spTree>
    <p:extLst>
      <p:ext uri="{BB962C8B-B14F-4D97-AF65-F5344CB8AC3E}">
        <p14:creationId xmlns:p14="http://schemas.microsoft.com/office/powerpoint/2010/main" val="192751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57542" cy="1325563"/>
          </a:xfrm>
        </p:spPr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specifying columns and indices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839" y="1834477"/>
            <a:ext cx="7263053" cy="984511"/>
          </a:xfrm>
        </p:spPr>
        <p:txBody>
          <a:bodyPr>
            <a:normAutofit/>
          </a:bodyPr>
          <a:lstStyle/>
          <a:p>
            <a:r>
              <a:rPr lang="en-US" dirty="0"/>
              <a:t>Order of columns/rows can be specified. </a:t>
            </a:r>
          </a:p>
          <a:p>
            <a:r>
              <a:rPr lang="en-US" dirty="0"/>
              <a:t>Columns not in data will have </a:t>
            </a:r>
            <a:r>
              <a:rPr lang="en-US" dirty="0" err="1"/>
              <a:t>NaN</a:t>
            </a:r>
            <a:r>
              <a:rPr lang="en-US" dirty="0"/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839" y="2818988"/>
            <a:ext cx="84825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141A0"/>
                </a:solidFill>
                <a:effectLst/>
              </a:rPr>
              <a:t>frame2 = </a:t>
            </a:r>
            <a:r>
              <a:rPr lang="en-US" sz="1600" dirty="0" err="1">
                <a:solidFill>
                  <a:srgbClr val="4141A0"/>
                </a:solidFill>
                <a:effectLst/>
              </a:rPr>
              <a:t>DataFrame</a:t>
            </a:r>
            <a:r>
              <a:rPr lang="en-US" sz="1600" dirty="0">
                <a:solidFill>
                  <a:srgbClr val="4141A0"/>
                </a:solidFill>
                <a:effectLst/>
              </a:rPr>
              <a:t>(data, columns=['year', 'state', 'pop', 'debt'], index=['A', 'B', 'C', 'D', 'E'])</a:t>
            </a:r>
          </a:p>
          <a:p>
            <a:endParaRPr lang="en-US" sz="1600" dirty="0">
              <a:effectLst/>
            </a:endParaRPr>
          </a:p>
          <a:p>
            <a:r>
              <a:rPr lang="en-US" sz="1600" dirty="0">
                <a:solidFill>
                  <a:srgbClr val="000080"/>
                </a:solidFill>
                <a:effectLst/>
              </a:rPr>
              <a:t>Print(frame2)</a:t>
            </a:r>
            <a:endParaRPr lang="en-US" sz="1600" dirty="0">
              <a:effectLst/>
            </a:endParaRPr>
          </a:p>
          <a:p>
            <a:r>
              <a:rPr lang="it-IT" sz="1600" dirty="0"/>
              <a:t>     year   state  pop debt</a:t>
            </a:r>
          </a:p>
          <a:p>
            <a:r>
              <a:rPr lang="it-IT" sz="1600" dirty="0"/>
              <a:t>A  2000    Ohio  1.5  NaN</a:t>
            </a:r>
          </a:p>
          <a:p>
            <a:r>
              <a:rPr lang="it-IT" sz="1600" dirty="0"/>
              <a:t>B  2001    Ohio  1.7  NaN</a:t>
            </a:r>
          </a:p>
          <a:p>
            <a:r>
              <a:rPr lang="it-IT" sz="1600" dirty="0"/>
              <a:t>C  2002    Ohio  3.6  NaN</a:t>
            </a:r>
          </a:p>
          <a:p>
            <a:r>
              <a:rPr lang="it-IT" sz="1600" dirty="0"/>
              <a:t>D  2001  Nevada  2.4  NaN</a:t>
            </a:r>
          </a:p>
          <a:p>
            <a:r>
              <a:rPr lang="it-IT" sz="1600" dirty="0"/>
              <a:t>E  2002  Nevada  2.9  NaN</a:t>
            </a:r>
            <a:endParaRPr lang="en-US" sz="1600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2957804" y="3713584"/>
            <a:ext cx="1655496" cy="813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4589294" y="3139515"/>
            <a:ext cx="318608" cy="11614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89294" y="4300924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Same order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2957804" y="5101022"/>
            <a:ext cx="1426689" cy="39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88913" y="527766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Initialized with </a:t>
            </a:r>
            <a:r>
              <a:rPr lang="en-US" dirty="0" err="1"/>
              <a:t>NaN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25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from nested </a:t>
            </a:r>
            <a:r>
              <a:rPr lang="en-US" dirty="0" err="1"/>
              <a:t>dict</a:t>
            </a:r>
            <a:r>
              <a:rPr lang="en-US" dirty="0"/>
              <a:t> of </a:t>
            </a:r>
            <a:r>
              <a:rPr lang="en-US" dirty="0" err="1"/>
              <a:t>dicts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Outer </a:t>
            </a:r>
            <a:r>
              <a:rPr lang="en-US" dirty="0" err="1"/>
              <a:t>dict</a:t>
            </a:r>
            <a:r>
              <a:rPr lang="en-US" dirty="0"/>
              <a:t> keys as columns and inner </a:t>
            </a:r>
            <a:r>
              <a:rPr lang="en-US" dirty="0" err="1"/>
              <a:t>dict</a:t>
            </a:r>
            <a:r>
              <a:rPr lang="en-US" dirty="0"/>
              <a:t> keys as row indices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650" y="2329650"/>
            <a:ext cx="8122243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pop = {'Nevada': {2001: 2.9, 2002: 2.9}, 'Ohio': {2002: 3.6, 2001: 1.7, 2000: 1.5}}</a:t>
            </a:r>
          </a:p>
          <a:p>
            <a:r>
              <a:rPr lang="en-US" sz="1600" dirty="0">
                <a:solidFill>
                  <a:srgbClr val="000080"/>
                </a:solidFill>
              </a:rPr>
              <a:t>frame3 = </a:t>
            </a:r>
            <a:r>
              <a:rPr lang="en-US" sz="1600" dirty="0" err="1">
                <a:solidFill>
                  <a:srgbClr val="000080"/>
                </a:solidFill>
              </a:rPr>
              <a:t>DataFrame</a:t>
            </a:r>
            <a:r>
              <a:rPr lang="en-US" sz="1600" dirty="0">
                <a:solidFill>
                  <a:srgbClr val="000080"/>
                </a:solidFill>
              </a:rPr>
              <a:t>(pop)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print(frame3)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#output</a:t>
            </a:r>
          </a:p>
          <a:p>
            <a:r>
              <a:rPr lang="pt-BR" sz="1600" dirty="0"/>
              <a:t> 	 Nevada  Ohio</a:t>
            </a:r>
          </a:p>
          <a:p>
            <a:r>
              <a:rPr lang="pt-BR" sz="1600" dirty="0"/>
              <a:t>2000     NaN   1.5</a:t>
            </a:r>
          </a:p>
          <a:p>
            <a:r>
              <a:rPr lang="pt-BR" sz="1600" dirty="0"/>
              <a:t>2001     2.9   1.7</a:t>
            </a:r>
          </a:p>
          <a:p>
            <a:r>
              <a:rPr lang="pt-BR" sz="1600" dirty="0"/>
              <a:t>2002     2.9   3.6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5042019" y="4699635"/>
            <a:ext cx="396524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print(frame3.T)</a:t>
            </a:r>
          </a:p>
          <a:p>
            <a:r>
              <a:rPr lang="fi-FI" dirty="0"/>
              <a:t>		2000  2001  2002</a:t>
            </a:r>
          </a:p>
          <a:p>
            <a:r>
              <a:rPr lang="fi-FI" dirty="0"/>
              <a:t>Nevada   NaN   2.9   2.9</a:t>
            </a:r>
          </a:p>
          <a:p>
            <a:r>
              <a:rPr lang="fi-FI" dirty="0"/>
              <a:t>Ohio     	  1.5   1.7   3.6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28129" y="4269314"/>
            <a:ext cx="13870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Transpose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876693" y="4422532"/>
            <a:ext cx="177666" cy="63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8650" y="5061492"/>
            <a:ext cx="3865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Union of inner keys (in sorted order)</a:t>
            </a:r>
          </a:p>
        </p:txBody>
      </p:sp>
    </p:spTree>
    <p:extLst>
      <p:ext uri="{BB962C8B-B14F-4D97-AF65-F5344CB8AC3E}">
        <p14:creationId xmlns:p14="http://schemas.microsoft.com/office/powerpoint/2010/main" val="13882404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index, columns,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6967" y="1379684"/>
            <a:ext cx="79046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frame3.index.name = 'year'</a:t>
            </a:r>
          </a:p>
          <a:p>
            <a:r>
              <a:rPr lang="en-US" dirty="0">
                <a:solidFill>
                  <a:srgbClr val="000080"/>
                </a:solidFill>
              </a:rPr>
              <a:t>frame3.columns.name='state‘</a:t>
            </a:r>
            <a:br>
              <a:rPr lang="en-US" dirty="0">
                <a:solidFill>
                  <a:srgbClr val="000080"/>
                </a:solidFill>
              </a:rPr>
            </a:br>
            <a:r>
              <a:rPr lang="en-US" dirty="0">
                <a:solidFill>
                  <a:srgbClr val="000080"/>
                </a:solidFill>
              </a:rPr>
              <a:t>print(frame3)</a:t>
            </a:r>
          </a:p>
          <a:p>
            <a:r>
              <a:rPr lang="en-US" dirty="0"/>
              <a:t>state  Nevada  Ohio</a:t>
            </a:r>
          </a:p>
          <a:p>
            <a:r>
              <a:rPr lang="en-US" dirty="0"/>
              <a:t>year               </a:t>
            </a:r>
          </a:p>
          <a:p>
            <a:r>
              <a:rPr lang="en-US" dirty="0"/>
              <a:t>2000      </a:t>
            </a:r>
            <a:r>
              <a:rPr lang="en-US" dirty="0" err="1"/>
              <a:t>NaN</a:t>
            </a:r>
            <a:r>
              <a:rPr lang="en-US" dirty="0"/>
              <a:t>   1.5</a:t>
            </a:r>
          </a:p>
          <a:p>
            <a:r>
              <a:rPr lang="en-US" dirty="0"/>
              <a:t>2001      2.9   1.7</a:t>
            </a:r>
          </a:p>
          <a:p>
            <a:r>
              <a:rPr lang="en-US" dirty="0"/>
              <a:t>2002      2.9   3.6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print(frame3.index)</a:t>
            </a:r>
          </a:p>
          <a:p>
            <a:r>
              <a:rPr lang="en-US" dirty="0"/>
              <a:t>Int64Index([2000, 2001, 2002], </a:t>
            </a:r>
            <a:r>
              <a:rPr lang="en-US" dirty="0" err="1"/>
              <a:t>dtype</a:t>
            </a:r>
            <a:r>
              <a:rPr lang="en-US" dirty="0"/>
              <a:t>='int64', name='year')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print(frame3.columns)</a:t>
            </a:r>
          </a:p>
          <a:p>
            <a:r>
              <a:rPr lang="en-US" dirty="0"/>
              <a:t>Index(['Nevada', 'Ohio'], </a:t>
            </a:r>
            <a:r>
              <a:rPr lang="en-US" dirty="0" err="1"/>
              <a:t>dtype</a:t>
            </a:r>
            <a:r>
              <a:rPr lang="en-US" dirty="0"/>
              <a:t>='object', name='state')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print(frame3.values)</a:t>
            </a:r>
          </a:p>
          <a:p>
            <a:r>
              <a:rPr lang="en-US" dirty="0"/>
              <a:t>[[nan 1.5]</a:t>
            </a:r>
          </a:p>
          <a:p>
            <a:r>
              <a:rPr lang="en-US" dirty="0"/>
              <a:t> [2.9 1.7]</a:t>
            </a:r>
          </a:p>
          <a:p>
            <a:r>
              <a:rPr lang="en-US" dirty="0"/>
              <a:t> [2.9 3.6]]</a:t>
            </a:r>
          </a:p>
        </p:txBody>
      </p:sp>
    </p:spTree>
    <p:extLst>
      <p:ext uri="{BB962C8B-B14F-4D97-AF65-F5344CB8AC3E}">
        <p14:creationId xmlns:p14="http://schemas.microsoft.com/office/powerpoint/2010/main" val="4002234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376" y="445222"/>
            <a:ext cx="7886700" cy="1325563"/>
          </a:xfrm>
        </p:spPr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retrieving a 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3376" y="1536376"/>
            <a:ext cx="7886700" cy="1169229"/>
          </a:xfrm>
        </p:spPr>
        <p:txBody>
          <a:bodyPr>
            <a:normAutofit/>
          </a:bodyPr>
          <a:lstStyle/>
          <a:p>
            <a:r>
              <a:rPr lang="en-US" dirty="0"/>
              <a:t>A column in a </a:t>
            </a:r>
            <a:r>
              <a:rPr lang="en-US" dirty="0" err="1"/>
              <a:t>DataFrame</a:t>
            </a:r>
            <a:r>
              <a:rPr lang="en-US" dirty="0"/>
              <a:t> can be retrieved as a Series by </a:t>
            </a:r>
            <a:r>
              <a:rPr lang="en-US" dirty="0" err="1"/>
              <a:t>dict</a:t>
            </a:r>
            <a:r>
              <a:rPr lang="en-US" dirty="0"/>
              <a:t>-like notation or as attribute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01806" y="2705605"/>
            <a:ext cx="794767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data = {'state': ['Ohio', 'Ohio', 'Ohio', 'Nevada', 'Nevada'],</a:t>
            </a:r>
          </a:p>
          <a:p>
            <a:r>
              <a:rPr lang="en-US" dirty="0">
                <a:solidFill>
                  <a:srgbClr val="000080"/>
                </a:solidFill>
              </a:rPr>
              <a:t>'year': [2000, 2001, 2002, 2001, 2002],</a:t>
            </a:r>
          </a:p>
          <a:p>
            <a:r>
              <a:rPr lang="en-US" dirty="0">
                <a:solidFill>
                  <a:srgbClr val="000080"/>
                </a:solidFill>
              </a:rPr>
              <a:t>'pop': [1.5, 1.7, 3.6, 2.4, 2.9]}</a:t>
            </a:r>
          </a:p>
          <a:p>
            <a:r>
              <a:rPr lang="en-US" dirty="0">
                <a:solidFill>
                  <a:srgbClr val="000080"/>
                </a:solidFill>
              </a:rPr>
              <a:t>frame = </a:t>
            </a:r>
            <a:r>
              <a:rPr lang="en-US" dirty="0" err="1">
                <a:solidFill>
                  <a:srgbClr val="000080"/>
                </a:solidFill>
              </a:rPr>
              <a:t>DataFrame</a:t>
            </a:r>
            <a:r>
              <a:rPr lang="en-US" dirty="0">
                <a:solidFill>
                  <a:srgbClr val="000080"/>
                </a:solidFill>
              </a:rPr>
              <a:t>(data)</a:t>
            </a:r>
          </a:p>
          <a:p>
            <a:r>
              <a:rPr lang="en-US" dirty="0">
                <a:solidFill>
                  <a:srgbClr val="000080"/>
                </a:solidFill>
              </a:rPr>
              <a:t>print(frame['state'])</a:t>
            </a:r>
          </a:p>
          <a:p>
            <a:r>
              <a:rPr lang="en-US" dirty="0"/>
              <a:t>0      Ohio</a:t>
            </a:r>
          </a:p>
          <a:p>
            <a:r>
              <a:rPr lang="en-US" dirty="0"/>
              <a:t>1      Ohio</a:t>
            </a:r>
          </a:p>
          <a:p>
            <a:r>
              <a:rPr lang="en-US" dirty="0"/>
              <a:t>2      Ohio</a:t>
            </a:r>
          </a:p>
          <a:p>
            <a:r>
              <a:rPr lang="en-US" dirty="0"/>
              <a:t>3    Nevada</a:t>
            </a:r>
          </a:p>
          <a:p>
            <a:r>
              <a:rPr lang="en-US" dirty="0"/>
              <a:t>4    Nevada</a:t>
            </a:r>
          </a:p>
          <a:p>
            <a:r>
              <a:rPr lang="en-US" dirty="0"/>
              <a:t>Name: state, </a:t>
            </a:r>
            <a:r>
              <a:rPr lang="en-US" dirty="0" err="1"/>
              <a:t>dtype</a:t>
            </a:r>
            <a:r>
              <a:rPr lang="en-US" dirty="0"/>
              <a:t>: object</a:t>
            </a:r>
          </a:p>
          <a:p>
            <a:r>
              <a:rPr lang="en-US" dirty="0">
                <a:solidFill>
                  <a:srgbClr val="000080"/>
                </a:solidFill>
              </a:rPr>
              <a:t>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675641" y="3864703"/>
            <a:ext cx="338351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 err="1">
                <a:solidFill>
                  <a:srgbClr val="000080"/>
                </a:solidFill>
              </a:rPr>
              <a:t>frame.state</a:t>
            </a:r>
            <a:r>
              <a:rPr lang="en-US" dirty="0">
                <a:solidFill>
                  <a:srgbClr val="000080"/>
                </a:solidFill>
              </a:rPr>
              <a:t>)</a:t>
            </a:r>
          </a:p>
          <a:p>
            <a:r>
              <a:rPr lang="en-US" dirty="0"/>
              <a:t>0      Ohio</a:t>
            </a:r>
          </a:p>
          <a:p>
            <a:r>
              <a:rPr lang="en-US" dirty="0"/>
              <a:t>1      Ohio</a:t>
            </a:r>
          </a:p>
          <a:p>
            <a:r>
              <a:rPr lang="en-US" dirty="0"/>
              <a:t>2      Ohio</a:t>
            </a:r>
          </a:p>
          <a:p>
            <a:r>
              <a:rPr lang="en-US" dirty="0"/>
              <a:t>3    Nevada</a:t>
            </a:r>
          </a:p>
          <a:p>
            <a:r>
              <a:rPr lang="en-US" dirty="0"/>
              <a:t>4    Nevada</a:t>
            </a:r>
          </a:p>
          <a:p>
            <a:r>
              <a:rPr lang="en-US" dirty="0"/>
              <a:t>Name: state, </a:t>
            </a:r>
            <a:r>
              <a:rPr lang="en-US" dirty="0" err="1"/>
              <a:t>dtype</a:t>
            </a:r>
            <a:r>
              <a:rPr lang="en-US" dirty="0"/>
              <a:t>: object</a:t>
            </a:r>
          </a:p>
        </p:txBody>
      </p:sp>
    </p:spTree>
    <p:extLst>
      <p:ext uri="{BB962C8B-B14F-4D97-AF65-F5344CB8AC3E}">
        <p14:creationId xmlns:p14="http://schemas.microsoft.com/office/powerpoint/2010/main" val="2910850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555" y="1607274"/>
            <a:ext cx="7886700" cy="4999714"/>
          </a:xfrm>
        </p:spPr>
        <p:txBody>
          <a:bodyPr>
            <a:normAutofit/>
          </a:bodyPr>
          <a:lstStyle/>
          <a:p>
            <a:r>
              <a:rPr lang="en-US" dirty="0"/>
              <a:t>Download the following csv file and load it to your python module or use the </a:t>
            </a:r>
            <a:r>
              <a:rPr lang="en-US" dirty="0" err="1"/>
              <a:t>url</a:t>
            </a:r>
            <a:r>
              <a:rPr lang="en-US" dirty="0"/>
              <a:t> directly in </a:t>
            </a:r>
            <a:r>
              <a:rPr lang="en-US" dirty="0" err="1"/>
              <a:t>pd.read_csv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) which will read it to a </a:t>
            </a:r>
            <a:r>
              <a:rPr lang="en-US" dirty="0" err="1"/>
              <a:t>DataFrame</a:t>
            </a:r>
            <a:endParaRPr lang="en-US" dirty="0"/>
          </a:p>
          <a:p>
            <a:pPr lvl="1"/>
            <a:r>
              <a:rPr lang="en-US" dirty="0"/>
              <a:t> </a:t>
            </a:r>
            <a:r>
              <a:rPr lang="en-US" dirty="0">
                <a:hlinkClick r:id="rId3"/>
              </a:rPr>
              <a:t>https://www.cs.odu.edu/~sampath/courses/f19/cs620/files/data/values.csv</a:t>
            </a:r>
            <a:r>
              <a:rPr lang="en-US" dirty="0"/>
              <a:t>  </a:t>
            </a:r>
          </a:p>
          <a:p>
            <a:r>
              <a:rPr lang="en-US" dirty="0"/>
              <a:t>Calculate the average and standard deviation (</a:t>
            </a:r>
            <a:r>
              <a:rPr lang="en-US" dirty="0" err="1"/>
              <a:t>std</a:t>
            </a:r>
            <a:r>
              <a:rPr lang="en-US" dirty="0"/>
              <a:t>) of the column factor_1  and display the result. </a:t>
            </a:r>
          </a:p>
          <a:p>
            <a:pPr lvl="1"/>
            <a:r>
              <a:rPr lang="en-US" dirty="0"/>
              <a:t>Pandas mean() and </a:t>
            </a:r>
            <a:r>
              <a:rPr lang="en-US" dirty="0" err="1"/>
              <a:t>std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210711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getting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054" y="1477283"/>
            <a:ext cx="7886700" cy="820559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loc</a:t>
            </a:r>
            <a:r>
              <a:rPr lang="en-US" dirty="0"/>
              <a:t> for using indexes and </a:t>
            </a:r>
            <a:r>
              <a:rPr lang="en-US" dirty="0" err="1"/>
              <a:t>iloc</a:t>
            </a:r>
            <a:r>
              <a:rPr lang="en-US" dirty="0"/>
              <a:t> for using positions</a:t>
            </a:r>
          </a:p>
          <a:p>
            <a:pPr lvl="1"/>
            <a:r>
              <a:rPr lang="en-US" dirty="0" err="1"/>
              <a:t>loc</a:t>
            </a:r>
            <a:r>
              <a:rPr lang="en-US" dirty="0"/>
              <a:t> gets rows (or columns) with particular labels from the index.</a:t>
            </a:r>
          </a:p>
          <a:p>
            <a:pPr lvl="1"/>
            <a:r>
              <a:rPr lang="en-US" dirty="0" err="1"/>
              <a:t>iloc</a:t>
            </a:r>
            <a:r>
              <a:rPr lang="en-US" dirty="0"/>
              <a:t> gets rows (or columns) at particular positions in the index (so it only takes integers).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650" y="2297842"/>
            <a:ext cx="837539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data = {'state': ['Ohio', 'Ohio', 'Ohio', 'Nevada', 'Nevada'],</a:t>
            </a:r>
          </a:p>
          <a:p>
            <a:r>
              <a:rPr lang="en-US" sz="1600" dirty="0">
                <a:solidFill>
                  <a:srgbClr val="000080"/>
                </a:solidFill>
              </a:rPr>
              <a:t>'year': [2000, 2001, 2002, 2001, 2002],</a:t>
            </a:r>
          </a:p>
          <a:p>
            <a:r>
              <a:rPr lang="en-US" sz="1600" dirty="0">
                <a:solidFill>
                  <a:srgbClr val="000080"/>
                </a:solidFill>
              </a:rPr>
              <a:t>'pop': [1.5, 1.7, 3.6, 2.4, 2.9]}</a:t>
            </a:r>
          </a:p>
          <a:p>
            <a:r>
              <a:rPr lang="en-US" sz="1600" dirty="0">
                <a:solidFill>
                  <a:srgbClr val="000080"/>
                </a:solidFill>
              </a:rPr>
              <a:t>frame2 = </a:t>
            </a:r>
            <a:r>
              <a:rPr lang="en-US" sz="1600" dirty="0" err="1">
                <a:solidFill>
                  <a:srgbClr val="000080"/>
                </a:solidFill>
              </a:rPr>
              <a:t>DataFrame</a:t>
            </a:r>
            <a:r>
              <a:rPr lang="en-US" sz="1600" dirty="0">
                <a:solidFill>
                  <a:srgbClr val="000080"/>
                </a:solidFill>
              </a:rPr>
              <a:t>(data, columns=['year', 'state', 'pop', 'debt'], index=['A', 'B', 'C', 'D', 'E'])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print(frame2)</a:t>
            </a:r>
          </a:p>
          <a:p>
            <a:r>
              <a:rPr lang="it-IT" sz="1600" dirty="0"/>
              <a:t> 	year   state  pop debt</a:t>
            </a:r>
          </a:p>
          <a:p>
            <a:r>
              <a:rPr lang="it-IT" sz="1600" dirty="0"/>
              <a:t>A  2000    Ohio  1.5  NaN</a:t>
            </a:r>
          </a:p>
          <a:p>
            <a:r>
              <a:rPr lang="it-IT" sz="1600" dirty="0"/>
              <a:t>B  2001    Ohio  1.7  NaN</a:t>
            </a:r>
          </a:p>
          <a:p>
            <a:r>
              <a:rPr lang="it-IT" sz="1600" dirty="0"/>
              <a:t>C  2002    Ohio  3.6  NaN</a:t>
            </a:r>
          </a:p>
          <a:p>
            <a:r>
              <a:rPr lang="it-IT" sz="1600" dirty="0"/>
              <a:t>D  2001  Nevada  2.4  NaN</a:t>
            </a:r>
          </a:p>
          <a:p>
            <a:r>
              <a:rPr lang="it-IT" sz="1600" dirty="0"/>
              <a:t>E  2002  Nevada  2.9  NaN</a:t>
            </a:r>
          </a:p>
          <a:p>
            <a:endParaRPr lang="it-IT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print(frame2.loc['A'])</a:t>
            </a:r>
          </a:p>
          <a:p>
            <a:r>
              <a:rPr lang="en-US" sz="1600" dirty="0"/>
              <a:t>year     2000</a:t>
            </a:r>
          </a:p>
          <a:p>
            <a:r>
              <a:rPr lang="en-US" sz="1600" dirty="0"/>
              <a:t>state    Ohio</a:t>
            </a:r>
          </a:p>
          <a:p>
            <a:r>
              <a:rPr lang="en-US" sz="1600" dirty="0"/>
              <a:t>pop       1.5</a:t>
            </a:r>
          </a:p>
          <a:p>
            <a:r>
              <a:rPr lang="en-US" sz="1600" dirty="0"/>
              <a:t>debt      </a:t>
            </a:r>
            <a:r>
              <a:rPr lang="en-US" sz="1600" dirty="0" err="1"/>
              <a:t>NaN</a:t>
            </a:r>
            <a:endParaRPr lang="en-US" sz="1600" dirty="0"/>
          </a:p>
          <a:p>
            <a:r>
              <a:rPr lang="en-US" sz="1600" dirty="0"/>
              <a:t>Name: A, </a:t>
            </a:r>
            <a:r>
              <a:rPr lang="en-US" sz="1600" dirty="0" err="1"/>
              <a:t>dtype</a:t>
            </a:r>
            <a:r>
              <a:rPr lang="en-US" sz="1600" dirty="0"/>
              <a:t>: object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5673" y="3564536"/>
            <a:ext cx="3013788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print(frame2.loc[['A', 'B']])</a:t>
            </a:r>
          </a:p>
          <a:p>
            <a:r>
              <a:rPr lang="en-US" sz="1600" dirty="0"/>
              <a:t> 	year state  pop debt</a:t>
            </a:r>
          </a:p>
          <a:p>
            <a:r>
              <a:rPr lang="en-US" sz="1600" dirty="0"/>
              <a:t>A  2000  Ohio  1.5  </a:t>
            </a:r>
            <a:r>
              <a:rPr lang="en-US" sz="1600" dirty="0" err="1"/>
              <a:t>NaN</a:t>
            </a:r>
            <a:endParaRPr lang="en-US" sz="1600" dirty="0"/>
          </a:p>
          <a:p>
            <a:r>
              <a:rPr lang="en-US" sz="1600" dirty="0"/>
              <a:t>B  2001  Ohio  1.7  </a:t>
            </a:r>
            <a:r>
              <a:rPr lang="en-US" sz="1600" dirty="0" err="1"/>
              <a:t>NaN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4141A0"/>
                </a:solidFill>
              </a:rPr>
              <a:t>print(frame2.loc['A':'E',['</a:t>
            </a:r>
            <a:r>
              <a:rPr lang="en-US" sz="1600" dirty="0" err="1">
                <a:solidFill>
                  <a:srgbClr val="4141A0"/>
                </a:solidFill>
              </a:rPr>
              <a:t>state','pop</a:t>
            </a:r>
            <a:r>
              <a:rPr lang="en-US" sz="1600" dirty="0">
                <a:solidFill>
                  <a:srgbClr val="4141A0"/>
                </a:solidFill>
              </a:rPr>
              <a:t>']])</a:t>
            </a:r>
          </a:p>
          <a:p>
            <a:r>
              <a:rPr lang="en-US" sz="1600" dirty="0"/>
              <a:t>      state  pop</a:t>
            </a:r>
          </a:p>
          <a:p>
            <a:r>
              <a:rPr lang="en-US" sz="1600" dirty="0"/>
              <a:t>A    Ohio  1.5</a:t>
            </a:r>
          </a:p>
          <a:p>
            <a:r>
              <a:rPr lang="en-US" sz="1600" dirty="0"/>
              <a:t>B    Ohio  1.7</a:t>
            </a:r>
          </a:p>
          <a:p>
            <a:r>
              <a:rPr lang="en-US" sz="1600" dirty="0"/>
              <a:t>C    Ohio  3.6</a:t>
            </a:r>
          </a:p>
          <a:p>
            <a:r>
              <a:rPr lang="en-US" sz="1600" dirty="0"/>
              <a:t>D  Nevada  2.4</a:t>
            </a:r>
          </a:p>
          <a:p>
            <a:r>
              <a:rPr lang="en-US" sz="1600" dirty="0"/>
              <a:t>E  Nevada  2.9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6429" y="3564536"/>
            <a:ext cx="27152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print(frame2.iloc[1:3])</a:t>
            </a:r>
            <a:r>
              <a:rPr lang="en-US" sz="1600" dirty="0"/>
              <a:t> </a:t>
            </a:r>
          </a:p>
          <a:p>
            <a:r>
              <a:rPr lang="en-US" sz="1600" dirty="0"/>
              <a:t>      year state  pop debt</a:t>
            </a:r>
          </a:p>
          <a:p>
            <a:r>
              <a:rPr lang="en-US" sz="1600" dirty="0"/>
              <a:t>B  2001  Ohio  1.7  </a:t>
            </a:r>
            <a:r>
              <a:rPr lang="en-US" sz="1600" dirty="0" err="1"/>
              <a:t>NaN</a:t>
            </a:r>
            <a:endParaRPr lang="en-US" sz="1600" dirty="0"/>
          </a:p>
          <a:p>
            <a:r>
              <a:rPr lang="en-US" sz="1600" dirty="0"/>
              <a:t>C  2002  Ohio  3.6  </a:t>
            </a:r>
            <a:r>
              <a:rPr lang="en-US" sz="1600" dirty="0" err="1"/>
              <a:t>NaN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4141A0"/>
                </a:solidFill>
              </a:rPr>
              <a:t>print(frame2.iloc[:,1:3])</a:t>
            </a:r>
          </a:p>
          <a:p>
            <a:r>
              <a:rPr lang="en-US" sz="1600" dirty="0"/>
              <a:t>     state  pop</a:t>
            </a:r>
          </a:p>
          <a:p>
            <a:r>
              <a:rPr lang="en-US" sz="1600" dirty="0"/>
              <a:t>A    Ohio  1.5</a:t>
            </a:r>
          </a:p>
          <a:p>
            <a:r>
              <a:rPr lang="en-US" sz="1600" dirty="0"/>
              <a:t>B    Ohio  1.7</a:t>
            </a:r>
          </a:p>
          <a:p>
            <a:r>
              <a:rPr lang="en-US" sz="1600" dirty="0"/>
              <a:t>C    Ohio  3.6</a:t>
            </a:r>
          </a:p>
          <a:p>
            <a:r>
              <a:rPr lang="en-US" sz="1600" dirty="0"/>
              <a:t>D  Nevada  2.4</a:t>
            </a:r>
          </a:p>
          <a:p>
            <a:r>
              <a:rPr lang="en-US" sz="1600" dirty="0"/>
              <a:t>E  Nevada  2.9</a:t>
            </a:r>
          </a:p>
        </p:txBody>
      </p:sp>
    </p:spTree>
    <p:extLst>
      <p:ext uri="{BB962C8B-B14F-4D97-AF65-F5344CB8AC3E}">
        <p14:creationId xmlns:p14="http://schemas.microsoft.com/office/powerpoint/2010/main" val="3144662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modifying 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9490" y="1481344"/>
            <a:ext cx="5396828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frame2['debt'] = 0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print(frame2)</a:t>
            </a:r>
          </a:p>
          <a:p>
            <a:r>
              <a:rPr lang="en-US" sz="1600" dirty="0"/>
              <a:t>     year   state  pop  debt</a:t>
            </a:r>
          </a:p>
          <a:p>
            <a:r>
              <a:rPr lang="en-US" sz="1600" dirty="0"/>
              <a:t>A  2000    Ohio  1.5     0</a:t>
            </a:r>
          </a:p>
          <a:p>
            <a:r>
              <a:rPr lang="en-US" sz="1600" dirty="0"/>
              <a:t>B  2001    Ohio  1.7     0</a:t>
            </a:r>
          </a:p>
          <a:p>
            <a:r>
              <a:rPr lang="en-US" sz="1600" dirty="0"/>
              <a:t>C  2002    Ohio  3.6     0</a:t>
            </a:r>
          </a:p>
          <a:p>
            <a:r>
              <a:rPr lang="en-US" sz="1600" dirty="0"/>
              <a:t>D  2001  Nevada  2.4     0</a:t>
            </a:r>
          </a:p>
          <a:p>
            <a:r>
              <a:rPr lang="en-US" sz="1600" dirty="0"/>
              <a:t>E  2002  Nevada  2.9     0</a:t>
            </a:r>
          </a:p>
          <a:p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frame2['debt'] = range(5)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print(frame2)</a:t>
            </a:r>
          </a:p>
          <a:p>
            <a:r>
              <a:rPr lang="en-US" sz="1600" dirty="0"/>
              <a:t>     year   state  pop  debt</a:t>
            </a:r>
          </a:p>
          <a:p>
            <a:r>
              <a:rPr lang="en-US" sz="1600" dirty="0"/>
              <a:t>A  2000    Ohio  1.5     0</a:t>
            </a:r>
          </a:p>
          <a:p>
            <a:r>
              <a:rPr lang="en-US" sz="1600" dirty="0"/>
              <a:t>B  2001    Ohio  1.7     1</a:t>
            </a:r>
          </a:p>
          <a:p>
            <a:r>
              <a:rPr lang="en-US" sz="1600" dirty="0"/>
              <a:t>C  2002    Ohio  3.6     2</a:t>
            </a:r>
          </a:p>
          <a:p>
            <a:r>
              <a:rPr lang="en-US" sz="1600" dirty="0"/>
              <a:t>D  2001  Nevada  2.4     3</a:t>
            </a:r>
          </a:p>
          <a:p>
            <a:r>
              <a:rPr lang="en-US" sz="1600" dirty="0"/>
              <a:t>E  2002  Nevada  2.9     4</a:t>
            </a:r>
          </a:p>
        </p:txBody>
      </p:sp>
      <p:sp>
        <p:nvSpPr>
          <p:cNvPr id="6" name="Rectangle 5"/>
          <p:cNvSpPr/>
          <p:nvPr/>
        </p:nvSpPr>
        <p:spPr>
          <a:xfrm>
            <a:off x="3442648" y="1517059"/>
            <a:ext cx="516566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n-NO" sz="1600" dirty="0">
                <a:solidFill>
                  <a:srgbClr val="000080"/>
                </a:solidFill>
              </a:rPr>
              <a:t>val = Series([10, 10, 10], index = ['A', 'C', 'D'])</a:t>
            </a:r>
          </a:p>
          <a:p>
            <a:r>
              <a:rPr lang="nn-NO" sz="1600" dirty="0">
                <a:solidFill>
                  <a:srgbClr val="000080"/>
                </a:solidFill>
              </a:rPr>
              <a:t>frame2['debt'] = val</a:t>
            </a:r>
          </a:p>
          <a:p>
            <a:r>
              <a:rPr lang="nn-NO" sz="1600" dirty="0">
                <a:solidFill>
                  <a:srgbClr val="000080"/>
                </a:solidFill>
              </a:rPr>
              <a:t>print(frame2)</a:t>
            </a:r>
          </a:p>
          <a:p>
            <a:r>
              <a:rPr lang="nn-NO" sz="1600" dirty="0">
                <a:solidFill>
                  <a:srgbClr val="000080"/>
                </a:solidFill>
              </a:rPr>
              <a:t>     </a:t>
            </a:r>
            <a:r>
              <a:rPr lang="nn-NO" sz="1600" dirty="0"/>
              <a:t>year   state  pop  debt</a:t>
            </a:r>
          </a:p>
          <a:p>
            <a:r>
              <a:rPr lang="nn-NO" sz="1600" dirty="0"/>
              <a:t>A  2000    Ohio  1.5  10.0</a:t>
            </a:r>
          </a:p>
          <a:p>
            <a:r>
              <a:rPr lang="nn-NO" sz="1600" dirty="0"/>
              <a:t>B  2001    Ohio  1.7   NaN</a:t>
            </a:r>
          </a:p>
          <a:p>
            <a:r>
              <a:rPr lang="nn-NO" sz="1600" dirty="0"/>
              <a:t>C  2002    Ohio  3.6  10.0</a:t>
            </a:r>
          </a:p>
          <a:p>
            <a:r>
              <a:rPr lang="nn-NO" sz="1600" dirty="0"/>
              <a:t>D  2001  Nevada  2.4  10.0</a:t>
            </a:r>
          </a:p>
          <a:p>
            <a:r>
              <a:rPr lang="nn-NO" sz="1600" dirty="0"/>
              <a:t>E  2002  Nevada  2.9   NaN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0970" y="4176858"/>
            <a:ext cx="49832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Rows or individual elements can be modified similarly. Using </a:t>
            </a:r>
            <a:r>
              <a:rPr lang="en-US" sz="2000" dirty="0" err="1"/>
              <a:t>loc</a:t>
            </a:r>
            <a:r>
              <a:rPr lang="en-US" sz="2000" dirty="0"/>
              <a:t> or </a:t>
            </a:r>
            <a:r>
              <a:rPr lang="en-US" sz="2000" dirty="0" err="1"/>
              <a:t>iloc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10630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– removing 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650" y="1859339"/>
            <a:ext cx="781555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del frame2['debt']</a:t>
            </a:r>
          </a:p>
          <a:p>
            <a:r>
              <a:rPr lang="en-US" dirty="0">
                <a:solidFill>
                  <a:srgbClr val="000080"/>
                </a:solidFill>
              </a:rPr>
              <a:t>print(frame2)</a:t>
            </a:r>
          </a:p>
          <a:p>
            <a:r>
              <a:rPr lang="en-US" dirty="0"/>
              <a:t>	 year 	state 	pop</a:t>
            </a:r>
          </a:p>
          <a:p>
            <a:r>
              <a:rPr lang="en-US" dirty="0"/>
              <a:t>A 	2000 	Ohio 	1.5</a:t>
            </a:r>
          </a:p>
          <a:p>
            <a:r>
              <a:rPr lang="en-US" dirty="0"/>
              <a:t>B 	2001 	Ohio 	1.7</a:t>
            </a:r>
          </a:p>
          <a:p>
            <a:r>
              <a:rPr lang="en-US" dirty="0"/>
              <a:t>C 	2002 	Ohio 	3.6</a:t>
            </a:r>
          </a:p>
          <a:p>
            <a:r>
              <a:rPr lang="en-US" dirty="0"/>
              <a:t>D 	2001 	Nevada 	2.4</a:t>
            </a:r>
          </a:p>
          <a:p>
            <a:r>
              <a:rPr lang="en-US" dirty="0"/>
              <a:t>E 	2002 	Nevada 	2.9</a:t>
            </a:r>
          </a:p>
        </p:txBody>
      </p:sp>
    </p:spTree>
    <p:extLst>
      <p:ext uri="{BB962C8B-B14F-4D97-AF65-F5344CB8AC3E}">
        <p14:creationId xmlns:p14="http://schemas.microsoft.com/office/powerpoint/2010/main" val="643679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</a:t>
            </a:r>
            <a:r>
              <a:rPr lang="en-US" dirty="0" err="1"/>
              <a:t>DataFrame</a:t>
            </a:r>
            <a:r>
              <a:rPr lang="en-US" dirty="0"/>
              <a:t> indexing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39807" y="1483592"/>
            <a:ext cx="845226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import </a:t>
            </a:r>
            <a:r>
              <a:rPr lang="en-US" sz="1600" dirty="0" err="1">
                <a:solidFill>
                  <a:srgbClr val="000080"/>
                </a:solidFill>
              </a:rPr>
              <a:t>numpy</a:t>
            </a:r>
            <a:r>
              <a:rPr lang="en-US" sz="1600" dirty="0">
                <a:solidFill>
                  <a:srgbClr val="000080"/>
                </a:solidFill>
              </a:rPr>
              <a:t> as np</a:t>
            </a:r>
          </a:p>
          <a:p>
            <a:r>
              <a:rPr lang="en-US" sz="1600" dirty="0">
                <a:solidFill>
                  <a:srgbClr val="000080"/>
                </a:solidFill>
              </a:rPr>
              <a:t>data = </a:t>
            </a:r>
            <a:r>
              <a:rPr lang="en-US" sz="1600" dirty="0" err="1">
                <a:solidFill>
                  <a:srgbClr val="000080"/>
                </a:solidFill>
              </a:rPr>
              <a:t>np.arange</a:t>
            </a:r>
            <a:r>
              <a:rPr lang="en-US" sz="1600" dirty="0">
                <a:solidFill>
                  <a:srgbClr val="000080"/>
                </a:solidFill>
              </a:rPr>
              <a:t>(9).reshape(3,3)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print(data)</a:t>
            </a:r>
          </a:p>
          <a:p>
            <a:r>
              <a:rPr lang="en-US" sz="1600" dirty="0"/>
              <a:t>[[0 1 2]</a:t>
            </a:r>
          </a:p>
          <a:p>
            <a:r>
              <a:rPr lang="en-US" sz="1600" dirty="0"/>
              <a:t> [3 4 5]</a:t>
            </a:r>
          </a:p>
          <a:p>
            <a:r>
              <a:rPr lang="en-US" sz="1600" dirty="0"/>
              <a:t> [6 7 8]]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frame = </a:t>
            </a:r>
            <a:r>
              <a:rPr lang="en-US" sz="1600" dirty="0" err="1">
                <a:solidFill>
                  <a:srgbClr val="000080"/>
                </a:solidFill>
              </a:rPr>
              <a:t>DataFrame</a:t>
            </a:r>
            <a:r>
              <a:rPr lang="en-US" sz="1600" dirty="0">
                <a:solidFill>
                  <a:srgbClr val="000080"/>
                </a:solidFill>
              </a:rPr>
              <a:t>(data, index=['r1', 'r2', 'r3'], columns=['c1', 'c2', 'c3'])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print(frame)</a:t>
            </a:r>
          </a:p>
          <a:p>
            <a:r>
              <a:rPr lang="pt-BR" sz="1600" dirty="0"/>
              <a:t>     c1  c2  c3</a:t>
            </a:r>
          </a:p>
          <a:p>
            <a:r>
              <a:rPr lang="pt-BR" sz="1600" dirty="0"/>
              <a:t>r1   0   1   2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8</a:t>
            </a:r>
          </a:p>
          <a:p>
            <a:endParaRPr lang="en-US" sz="1600" dirty="0"/>
          </a:p>
        </p:txBody>
      </p:sp>
      <p:sp>
        <p:nvSpPr>
          <p:cNvPr id="18" name="Rectangle 17"/>
          <p:cNvSpPr/>
          <p:nvPr/>
        </p:nvSpPr>
        <p:spPr>
          <a:xfrm>
            <a:off x="2121857" y="3480613"/>
            <a:ext cx="29509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print(frame['c1'])</a:t>
            </a:r>
          </a:p>
          <a:p>
            <a:r>
              <a:rPr lang="pt-BR" sz="1600" dirty="0"/>
              <a:t>r1    0</a:t>
            </a:r>
          </a:p>
          <a:p>
            <a:r>
              <a:rPr lang="pt-BR" sz="1600" dirty="0"/>
              <a:t>r2    3</a:t>
            </a:r>
          </a:p>
          <a:p>
            <a:r>
              <a:rPr lang="pt-BR" sz="1600" dirty="0"/>
              <a:t>r3    6</a:t>
            </a:r>
          </a:p>
          <a:p>
            <a:r>
              <a:rPr lang="pt-BR" sz="1600" dirty="0"/>
              <a:t>Name: c1, dtype: int32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07" y="4786478"/>
            <a:ext cx="2950918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print(frame['c1']['r1'])</a:t>
            </a:r>
          </a:p>
          <a:p>
            <a:r>
              <a:rPr lang="en-US" sz="1600" dirty="0"/>
              <a:t>0</a:t>
            </a:r>
          </a:p>
          <a:p>
            <a:endParaRPr lang="en-US" sz="5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print(frame[['c1', 'c3']])</a:t>
            </a:r>
          </a:p>
          <a:p>
            <a:r>
              <a:rPr lang="pt-BR" sz="1600" dirty="0"/>
              <a:t>     c1  c3</a:t>
            </a:r>
          </a:p>
          <a:p>
            <a:r>
              <a:rPr lang="pt-BR" sz="1600" dirty="0"/>
              <a:t>r1   0   2</a:t>
            </a:r>
          </a:p>
          <a:p>
            <a:r>
              <a:rPr lang="pt-BR" sz="1600" dirty="0"/>
              <a:t>r2   3   5</a:t>
            </a:r>
          </a:p>
          <a:p>
            <a:r>
              <a:rPr lang="pt-BR" sz="1600" dirty="0"/>
              <a:t>r3   6   8</a:t>
            </a:r>
            <a:endParaRPr lang="en-US" sz="1600" dirty="0"/>
          </a:p>
        </p:txBody>
      </p:sp>
      <p:sp>
        <p:nvSpPr>
          <p:cNvPr id="20" name="Rectangle 19"/>
          <p:cNvSpPr/>
          <p:nvPr/>
        </p:nvSpPr>
        <p:spPr>
          <a:xfrm>
            <a:off x="4476281" y="3480612"/>
            <a:ext cx="295091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frame.loc</a:t>
            </a:r>
            <a:r>
              <a:rPr lang="en-US" sz="1600" dirty="0">
                <a:solidFill>
                  <a:srgbClr val="000080"/>
                </a:solidFill>
              </a:rPr>
              <a:t>['r1'])</a:t>
            </a:r>
          </a:p>
          <a:p>
            <a:r>
              <a:rPr lang="en-US" sz="1600" dirty="0"/>
              <a:t>c1    0</a:t>
            </a:r>
          </a:p>
          <a:p>
            <a:r>
              <a:rPr lang="en-US" sz="1600" dirty="0"/>
              <a:t>c2    1</a:t>
            </a:r>
          </a:p>
          <a:p>
            <a:r>
              <a:rPr lang="en-US" sz="1600" dirty="0"/>
              <a:t>c3    2</a:t>
            </a:r>
          </a:p>
          <a:p>
            <a:r>
              <a:rPr lang="en-US" sz="1600" dirty="0"/>
              <a:t>Name: r1, </a:t>
            </a:r>
            <a:r>
              <a:rPr lang="en-US" sz="1600" dirty="0" err="1"/>
              <a:t>dtype</a:t>
            </a:r>
            <a:r>
              <a:rPr lang="en-US" sz="1600" dirty="0"/>
              <a:t>: int32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72445" y="4785389"/>
            <a:ext cx="29509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frame.loc</a:t>
            </a:r>
            <a:r>
              <a:rPr lang="en-US" sz="1600" dirty="0">
                <a:solidFill>
                  <a:srgbClr val="000080"/>
                </a:solidFill>
              </a:rPr>
              <a:t>[['r1','r3']])</a:t>
            </a:r>
          </a:p>
          <a:p>
            <a:r>
              <a:rPr lang="pt-BR" sz="1600" dirty="0"/>
              <a:t>    c1  c2  c3</a:t>
            </a:r>
          </a:p>
          <a:p>
            <a:r>
              <a:rPr lang="pt-BR" sz="1600" dirty="0"/>
              <a:t>r1   0   1   2</a:t>
            </a:r>
          </a:p>
          <a:p>
            <a:r>
              <a:rPr lang="pt-BR" sz="1600" dirty="0"/>
              <a:t>r3   6   7   8</a:t>
            </a:r>
            <a:endParaRPr lang="en-US" sz="1600" dirty="0"/>
          </a:p>
        </p:txBody>
      </p:sp>
      <p:sp>
        <p:nvSpPr>
          <p:cNvPr id="22" name="Rectangle 21"/>
          <p:cNvSpPr/>
          <p:nvPr/>
        </p:nvSpPr>
        <p:spPr>
          <a:xfrm>
            <a:off x="7533914" y="4773945"/>
            <a:ext cx="165648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print(frame[:2])</a:t>
            </a:r>
          </a:p>
          <a:p>
            <a:r>
              <a:rPr lang="pt-BR" sz="1600" dirty="0"/>
              <a:t>    c1  c2  c3</a:t>
            </a:r>
          </a:p>
          <a:p>
            <a:r>
              <a:rPr lang="pt-BR" sz="1600" dirty="0"/>
              <a:t>r1   0   1   2</a:t>
            </a:r>
          </a:p>
          <a:p>
            <a:r>
              <a:rPr lang="pt-BR" sz="1600" dirty="0"/>
              <a:t>r2   3   4   5</a:t>
            </a:r>
            <a:endParaRPr lang="en-US" sz="1600" dirty="0"/>
          </a:p>
        </p:txBody>
      </p:sp>
      <p:sp>
        <p:nvSpPr>
          <p:cNvPr id="23" name="Rectangle 22"/>
          <p:cNvSpPr/>
          <p:nvPr/>
        </p:nvSpPr>
        <p:spPr>
          <a:xfrm>
            <a:off x="5279366" y="4804052"/>
            <a:ext cx="19562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frame.iloc</a:t>
            </a:r>
            <a:r>
              <a:rPr lang="en-US" sz="1600" dirty="0">
                <a:solidFill>
                  <a:srgbClr val="000080"/>
                </a:solidFill>
              </a:rPr>
              <a:t>[:2])</a:t>
            </a:r>
          </a:p>
          <a:p>
            <a:r>
              <a:rPr lang="pt-BR" sz="1600" dirty="0"/>
              <a:t>    c1  c2  c3</a:t>
            </a:r>
          </a:p>
          <a:p>
            <a:r>
              <a:rPr lang="pt-BR" sz="1600" dirty="0"/>
              <a:t>r1   0   1   2</a:t>
            </a:r>
          </a:p>
          <a:p>
            <a:r>
              <a:rPr lang="pt-BR" sz="1600" dirty="0"/>
              <a:t>r2   3   4  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1822" y="6449696"/>
            <a:ext cx="1287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Row slices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 flipV="1">
            <a:off x="6400800" y="5851163"/>
            <a:ext cx="588584" cy="523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7427199" y="5851163"/>
            <a:ext cx="382523" cy="523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037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</a:t>
            </a:r>
            <a:r>
              <a:rPr lang="en-US" dirty="0" err="1"/>
              <a:t>DataFrame</a:t>
            </a:r>
            <a:r>
              <a:rPr lang="en-US" dirty="0"/>
              <a:t> indexing - 2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47262" y="1482633"/>
            <a:ext cx="833284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80"/>
                </a:solidFill>
              </a:rPr>
              <a:t>print(frame.loc[['r1', 'r2'], ['c1', 'c2']])</a:t>
            </a:r>
          </a:p>
          <a:p>
            <a:r>
              <a:rPr lang="pt-BR" sz="1600" dirty="0"/>
              <a:t>  c1 c2</a:t>
            </a:r>
          </a:p>
          <a:p>
            <a:r>
              <a:rPr lang="pt-BR" sz="1600" dirty="0"/>
              <a:t>r1 0 1</a:t>
            </a:r>
          </a:p>
          <a:p>
            <a:r>
              <a:rPr lang="pt-BR" sz="1600" dirty="0"/>
              <a:t>r2 3 4</a:t>
            </a:r>
          </a:p>
          <a:p>
            <a:endParaRPr lang="pt-BR" sz="1600" dirty="0"/>
          </a:p>
          <a:p>
            <a:r>
              <a:rPr lang="pt-BR" sz="1600" dirty="0">
                <a:solidFill>
                  <a:srgbClr val="000080"/>
                </a:solidFill>
              </a:rPr>
              <a:t>print(frame.iloc[:2,:2])</a:t>
            </a:r>
          </a:p>
          <a:p>
            <a:r>
              <a:rPr lang="pt-BR" sz="1600" dirty="0"/>
              <a:t>     c1  c2</a:t>
            </a:r>
          </a:p>
          <a:p>
            <a:r>
              <a:rPr lang="pt-BR" sz="1600" dirty="0"/>
              <a:t>r1   0   1</a:t>
            </a:r>
          </a:p>
          <a:p>
            <a:r>
              <a:rPr lang="pt-BR" sz="1600" dirty="0"/>
              <a:t>r2   3   4</a:t>
            </a:r>
          </a:p>
          <a:p>
            <a:endParaRPr lang="pt-BR" sz="1600" dirty="0"/>
          </a:p>
          <a:p>
            <a:r>
              <a:rPr lang="pt-BR" sz="1600" dirty="0">
                <a:solidFill>
                  <a:srgbClr val="000080"/>
                </a:solidFill>
              </a:rPr>
              <a:t>v = DataFrame(np.arange(9).reshape(3,3), index=['a', 'a', 'b'], columns=['c1','c2','c3'])</a:t>
            </a:r>
          </a:p>
          <a:p>
            <a:r>
              <a:rPr lang="pt-BR" sz="1600" dirty="0">
                <a:solidFill>
                  <a:srgbClr val="000080"/>
                </a:solidFill>
              </a:rPr>
              <a:t>print(v)</a:t>
            </a:r>
          </a:p>
          <a:p>
            <a:r>
              <a:rPr lang="pt-BR" sz="1600" dirty="0"/>
              <a:t>    c1  c2  c3</a:t>
            </a:r>
          </a:p>
          <a:p>
            <a:r>
              <a:rPr lang="pt-BR" sz="1600" dirty="0"/>
              <a:t>a   0   1   2</a:t>
            </a:r>
          </a:p>
          <a:p>
            <a:r>
              <a:rPr lang="pt-BR" sz="1600" dirty="0"/>
              <a:t>a   3   4   5</a:t>
            </a:r>
          </a:p>
          <a:p>
            <a:r>
              <a:rPr lang="pt-BR" sz="1600" dirty="0"/>
              <a:t>b   6   7   8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print(v.loc['a'])</a:t>
            </a:r>
            <a:endParaRPr lang="pt-BR" sz="1600" dirty="0"/>
          </a:p>
          <a:p>
            <a:r>
              <a:rPr lang="pt-BR" sz="1600" dirty="0"/>
              <a:t>    c1  c2  c3</a:t>
            </a:r>
          </a:p>
          <a:p>
            <a:r>
              <a:rPr lang="pt-BR" sz="1600" dirty="0"/>
              <a:t>a   0   1   2</a:t>
            </a:r>
          </a:p>
          <a:p>
            <a:r>
              <a:rPr lang="pt-BR" sz="1600" dirty="0"/>
              <a:t>a   3   4   5</a:t>
            </a:r>
            <a:endParaRPr lang="en-US" sz="1600" dirty="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5325176" y="4264315"/>
            <a:ext cx="715618" cy="573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279333" y="4837397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Duplicated keys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42658" y="1482633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>
                <a:solidFill>
                  <a:srgbClr val="000080"/>
                </a:solidFill>
              </a:rPr>
              <a:t>print(frame.loc['r1':'r3', 'c1':'c3'])</a:t>
            </a:r>
          </a:p>
          <a:p>
            <a:r>
              <a:rPr lang="pt-BR" sz="1600" dirty="0">
                <a:solidFill>
                  <a:srgbClr val="000080"/>
                </a:solidFill>
              </a:rPr>
              <a:t>    </a:t>
            </a:r>
            <a:r>
              <a:rPr lang="pt-BR" sz="1600" dirty="0"/>
              <a:t> c1  c2  c3</a:t>
            </a:r>
          </a:p>
          <a:p>
            <a:r>
              <a:rPr lang="pt-BR" sz="1600" dirty="0"/>
              <a:t>r1   0   1   2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8</a:t>
            </a:r>
          </a:p>
        </p:txBody>
      </p:sp>
    </p:spTree>
    <p:extLst>
      <p:ext uri="{BB962C8B-B14F-4D97-AF65-F5344CB8AC3E}">
        <p14:creationId xmlns:p14="http://schemas.microsoft.com/office/powerpoint/2010/main" val="2818584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on </a:t>
            </a:r>
            <a:r>
              <a:rPr lang="en-US" dirty="0" err="1"/>
              <a:t>DataFrame</a:t>
            </a:r>
            <a:r>
              <a:rPr lang="en-US" dirty="0"/>
              <a:t> indexing - 3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085" y="1441316"/>
            <a:ext cx="276632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print(frame)</a:t>
            </a:r>
          </a:p>
          <a:p>
            <a:r>
              <a:rPr lang="pt-BR" sz="1600" dirty="0"/>
              <a:t>    c1  c2  c3</a:t>
            </a:r>
          </a:p>
          <a:p>
            <a:r>
              <a:rPr lang="pt-BR" sz="1600" dirty="0"/>
              <a:t>r1   0   1   2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8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print(frame &lt;3)</a:t>
            </a:r>
          </a:p>
          <a:p>
            <a:r>
              <a:rPr lang="en-US" sz="1600" dirty="0"/>
              <a:t>         c1     c2     c3</a:t>
            </a:r>
          </a:p>
          <a:p>
            <a:r>
              <a:rPr lang="en-US" sz="1600" dirty="0"/>
              <a:t>r1   True   </a:t>
            </a:r>
            <a:r>
              <a:rPr lang="en-US" sz="1600" dirty="0" err="1"/>
              <a:t>True</a:t>
            </a:r>
            <a:r>
              <a:rPr lang="en-US" sz="1600" dirty="0"/>
              <a:t>   </a:t>
            </a:r>
            <a:r>
              <a:rPr lang="en-US" sz="1600" dirty="0" err="1"/>
              <a:t>True</a:t>
            </a:r>
            <a:endParaRPr lang="en-US" sz="1600" dirty="0"/>
          </a:p>
          <a:p>
            <a:r>
              <a:rPr lang="en-US" sz="1600" dirty="0"/>
              <a:t>r2  False  </a:t>
            </a:r>
            <a:r>
              <a:rPr lang="en-US" sz="1600" dirty="0" err="1"/>
              <a:t>False</a:t>
            </a:r>
            <a:r>
              <a:rPr lang="en-US" sz="1600" dirty="0"/>
              <a:t>  </a:t>
            </a:r>
            <a:r>
              <a:rPr lang="en-US" sz="1600" dirty="0" err="1"/>
              <a:t>False</a:t>
            </a:r>
            <a:endParaRPr lang="en-US" sz="1600" dirty="0"/>
          </a:p>
          <a:p>
            <a:r>
              <a:rPr lang="en-US" sz="1600" dirty="0"/>
              <a:t>r3  False  </a:t>
            </a:r>
            <a:r>
              <a:rPr lang="en-US" sz="1600" dirty="0" err="1"/>
              <a:t>False</a:t>
            </a:r>
            <a:r>
              <a:rPr lang="en-US" sz="1600" dirty="0"/>
              <a:t>  </a:t>
            </a:r>
            <a:r>
              <a:rPr lang="en-US" sz="1600" dirty="0" err="1"/>
              <a:t>False</a:t>
            </a:r>
            <a:endParaRPr lang="en-US" sz="1600" dirty="0"/>
          </a:p>
          <a:p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4001481" y="1441316"/>
            <a:ext cx="276632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print(frame[frame['c1']&gt;0])</a:t>
            </a:r>
          </a:p>
          <a:p>
            <a:r>
              <a:rPr lang="pt-BR" sz="1600" dirty="0"/>
              <a:t>     c1  c2  c3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8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print(frame['c1']&gt;0)</a:t>
            </a:r>
          </a:p>
          <a:p>
            <a:r>
              <a:rPr lang="pt-BR" sz="1600" dirty="0"/>
              <a:t>r1    False</a:t>
            </a:r>
          </a:p>
          <a:p>
            <a:r>
              <a:rPr lang="pt-BR" sz="1600" dirty="0"/>
              <a:t>r2     True</a:t>
            </a:r>
          </a:p>
          <a:p>
            <a:r>
              <a:rPr lang="pt-BR" sz="1600" dirty="0"/>
              <a:t>r3     True</a:t>
            </a:r>
          </a:p>
          <a:p>
            <a:r>
              <a:rPr lang="pt-BR" sz="1600" dirty="0"/>
              <a:t>Name: c1, dtype: bool</a:t>
            </a:r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 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407844" y="4644826"/>
            <a:ext cx="276632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frame[frame&lt;3] = 3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print(frame)</a:t>
            </a:r>
          </a:p>
          <a:p>
            <a:r>
              <a:rPr lang="pt-BR" sz="1600" dirty="0"/>
              <a:t>    c1  c2  c3</a:t>
            </a:r>
          </a:p>
          <a:p>
            <a:r>
              <a:rPr lang="pt-BR" sz="1600" dirty="0"/>
              <a:t>r1   3   3   3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8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706259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555" y="1607274"/>
            <a:ext cx="7886700" cy="4999714"/>
          </a:xfrm>
        </p:spPr>
        <p:txBody>
          <a:bodyPr>
            <a:normAutofit/>
          </a:bodyPr>
          <a:lstStyle/>
          <a:p>
            <a:r>
              <a:rPr lang="en-US" dirty="0"/>
              <a:t>Create a </a:t>
            </a:r>
            <a:r>
              <a:rPr lang="en-US" dirty="0" err="1"/>
              <a:t>numpy</a:t>
            </a:r>
            <a:r>
              <a:rPr lang="en-US" dirty="0"/>
              <a:t> array of the shape (3,5): 3 rows and 5 columns  with random values from 1 to 100 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np.random.randint</a:t>
            </a:r>
            <a:r>
              <a:rPr lang="en-US" dirty="0"/>
              <a:t>(</a:t>
            </a:r>
            <a:r>
              <a:rPr lang="en-US" dirty="0" err="1"/>
              <a:t>low,high</a:t>
            </a:r>
            <a:r>
              <a:rPr lang="en-US" dirty="0"/>
              <a:t>, (shape)) </a:t>
            </a:r>
          </a:p>
          <a:p>
            <a:r>
              <a:rPr lang="en-US" dirty="0"/>
              <a:t>Use the </a:t>
            </a:r>
            <a:r>
              <a:rPr lang="en-US" dirty="0" err="1"/>
              <a:t>numpy</a:t>
            </a:r>
            <a:r>
              <a:rPr lang="en-US" dirty="0"/>
              <a:t> array to generate a Data Frame with index = </a:t>
            </a:r>
            <a:r>
              <a:rPr lang="en-US" dirty="0" err="1"/>
              <a:t>a,b,c</a:t>
            </a:r>
            <a:r>
              <a:rPr lang="en-US" dirty="0"/>
              <a:t> and columns 1,2,3,4, 5</a:t>
            </a:r>
          </a:p>
          <a:p>
            <a:r>
              <a:rPr lang="en-US" dirty="0"/>
              <a:t>Transpose (using .T) the </a:t>
            </a:r>
            <a:r>
              <a:rPr lang="en-US" dirty="0" err="1"/>
              <a:t>DataFrame</a:t>
            </a:r>
            <a:r>
              <a:rPr lang="en-US" dirty="0"/>
              <a:t> and change the values less than 40 to 0 in the Data Frame. </a:t>
            </a:r>
          </a:p>
        </p:txBody>
      </p:sp>
    </p:spTree>
    <p:extLst>
      <p:ext uri="{BB962C8B-B14F-4D97-AF65-F5344CB8AC3E}">
        <p14:creationId xmlns:p14="http://schemas.microsoft.com/office/powerpoint/2010/main" val="34366939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rows/columns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61508" y="1555037"/>
            <a:ext cx="378473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80"/>
                </a:solidFill>
              </a:rPr>
              <a:t>print(frame)</a:t>
            </a:r>
          </a:p>
          <a:p>
            <a:r>
              <a:rPr lang="pt-BR" sz="1600" dirty="0"/>
              <a:t>     c1  c2  c3</a:t>
            </a:r>
          </a:p>
          <a:p>
            <a:r>
              <a:rPr lang="pt-BR" sz="1600" dirty="0"/>
              <a:t>r1   0   1   2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8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print(frame.drop(['r1']))</a:t>
            </a:r>
          </a:p>
          <a:p>
            <a:r>
              <a:rPr lang="pt-BR" sz="1600" dirty="0">
                <a:solidFill>
                  <a:srgbClr val="000080"/>
                </a:solidFill>
              </a:rPr>
              <a:t>     </a:t>
            </a:r>
            <a:r>
              <a:rPr lang="pt-BR" sz="1600" dirty="0"/>
              <a:t>c1  c2  c3</a:t>
            </a:r>
          </a:p>
          <a:p>
            <a:r>
              <a:rPr lang="pt-BR" sz="1600" dirty="0"/>
              <a:t>r2   3   4   5</a:t>
            </a:r>
          </a:p>
          <a:p>
            <a:r>
              <a:rPr lang="pt-BR" sz="1600" dirty="0"/>
              <a:t>r3   6   7   8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print(frame.drop(['r1','r3']))</a:t>
            </a:r>
          </a:p>
          <a:p>
            <a:r>
              <a:rPr lang="pt-BR" sz="1600" dirty="0">
                <a:solidFill>
                  <a:srgbClr val="000080"/>
                </a:solidFill>
              </a:rPr>
              <a:t>     </a:t>
            </a:r>
            <a:r>
              <a:rPr lang="pt-BR" sz="1600" dirty="0"/>
              <a:t>c1  c2  c3</a:t>
            </a:r>
          </a:p>
          <a:p>
            <a:r>
              <a:rPr lang="pt-BR" sz="1600" dirty="0"/>
              <a:t>r2   3   4   5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print(frame.drop(['c1'], axis=1))</a:t>
            </a:r>
          </a:p>
          <a:p>
            <a:r>
              <a:rPr lang="pt-BR" sz="1600" dirty="0"/>
              <a:t>     c2  c3</a:t>
            </a:r>
          </a:p>
          <a:p>
            <a:r>
              <a:rPr lang="pt-BR" sz="1600" dirty="0"/>
              <a:t>r1   1   2</a:t>
            </a:r>
          </a:p>
          <a:p>
            <a:r>
              <a:rPr lang="pt-BR" sz="1600" dirty="0"/>
              <a:t>r2   4   5</a:t>
            </a:r>
          </a:p>
          <a:p>
            <a:r>
              <a:rPr lang="pt-BR" sz="1600" dirty="0"/>
              <a:t>r3   7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8691" y="2964173"/>
            <a:ext cx="30476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This returns a new object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130" y="4897926"/>
            <a:ext cx="3077329" cy="160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2084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Reindexing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Alter the order of rows/columns of a </a:t>
            </a:r>
            <a:r>
              <a:rPr lang="en-US" dirty="0" err="1"/>
              <a:t>DataFrame</a:t>
            </a:r>
            <a:r>
              <a:rPr lang="en-US" dirty="0"/>
              <a:t> or order of a series according to new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781334" y="2646363"/>
            <a:ext cx="794278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80"/>
                </a:solidFill>
              </a:rPr>
              <a:t>frame2 = frame.reindex(columns=['c2', 'c3', 'c1'])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print(frame2) </a:t>
            </a:r>
          </a:p>
          <a:p>
            <a:r>
              <a:rPr lang="pt-BR" sz="1600" dirty="0"/>
              <a:t>     c2  c3  c1</a:t>
            </a:r>
          </a:p>
          <a:p>
            <a:r>
              <a:rPr lang="pt-BR" sz="1600" dirty="0"/>
              <a:t>r1   1   2   0</a:t>
            </a:r>
          </a:p>
          <a:p>
            <a:r>
              <a:rPr lang="pt-BR" sz="1600" dirty="0"/>
              <a:t>r2   4   5   3</a:t>
            </a:r>
          </a:p>
          <a:p>
            <a:r>
              <a:rPr lang="pt-BR" sz="1600" dirty="0"/>
              <a:t>r3   7   8   6</a:t>
            </a:r>
          </a:p>
          <a:p>
            <a:endParaRPr lang="pt-BR" sz="1600" dirty="0"/>
          </a:p>
          <a:p>
            <a:r>
              <a:rPr lang="pt-BR" sz="1600" dirty="0">
                <a:solidFill>
                  <a:srgbClr val="000080"/>
                </a:solidFill>
              </a:rPr>
              <a:t>frame2 = frame.reindex(['r1', 'r3', 'r2', 'r4'])</a:t>
            </a:r>
            <a:r>
              <a:rPr lang="pt-BR" sz="1600" dirty="0"/>
              <a:t>     </a:t>
            </a:r>
          </a:p>
          <a:p>
            <a:r>
              <a:rPr lang="pt-BR" sz="1600" dirty="0"/>
              <a:t>     c1 c2 c3</a:t>
            </a:r>
          </a:p>
          <a:p>
            <a:r>
              <a:rPr lang="pt-BR" sz="1600" dirty="0"/>
              <a:t>r1 0.0 1.0 2.0</a:t>
            </a:r>
          </a:p>
          <a:p>
            <a:r>
              <a:rPr lang="pt-BR" sz="1600" dirty="0"/>
              <a:t>r3 6.0 7.0 8.0</a:t>
            </a:r>
          </a:p>
          <a:p>
            <a:r>
              <a:rPr lang="pt-BR" sz="1600" dirty="0"/>
              <a:t>r2 3.0 4.0 5.0</a:t>
            </a:r>
          </a:p>
          <a:p>
            <a:r>
              <a:rPr lang="pt-BR" sz="1600" dirty="0"/>
              <a:t>r4 NaN NaN NaN</a:t>
            </a:r>
          </a:p>
          <a:p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3553703" y="3164228"/>
            <a:ext cx="3188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This returns a new object  </a:t>
            </a:r>
          </a:p>
        </p:txBody>
      </p:sp>
    </p:spTree>
    <p:extLst>
      <p:ext uri="{BB962C8B-B14F-4D97-AF65-F5344CB8AC3E}">
        <p14:creationId xmlns:p14="http://schemas.microsoft.com/office/powerpoint/2010/main" val="3266221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application and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60" y="1540660"/>
            <a:ext cx="8450036" cy="903960"/>
          </a:xfrm>
        </p:spPr>
        <p:txBody>
          <a:bodyPr/>
          <a:lstStyle/>
          <a:p>
            <a:r>
              <a:rPr lang="en-US" dirty="0" err="1"/>
              <a:t>DataFrame.applymap</a:t>
            </a:r>
            <a:r>
              <a:rPr lang="en-US" dirty="0"/>
              <a:t>(f) applies f to every entry</a:t>
            </a:r>
          </a:p>
          <a:p>
            <a:r>
              <a:rPr lang="en-US" dirty="0" err="1"/>
              <a:t>DataFrame.apply</a:t>
            </a:r>
            <a:r>
              <a:rPr lang="en-US" dirty="0"/>
              <a:t>(f) applies f to every column (default) or 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357396" y="2563463"/>
            <a:ext cx="4572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80"/>
                </a:solidFill>
              </a:rPr>
              <a:t>def</a:t>
            </a:r>
            <a:r>
              <a:rPr lang="en-US" dirty="0">
                <a:solidFill>
                  <a:srgbClr val="000080"/>
                </a:solidFill>
              </a:rPr>
              <a:t> </a:t>
            </a:r>
            <a:r>
              <a:rPr lang="en-US" dirty="0" err="1">
                <a:solidFill>
                  <a:srgbClr val="000080"/>
                </a:solidFill>
              </a:rPr>
              <a:t>max_minus_min</a:t>
            </a:r>
            <a:r>
              <a:rPr lang="en-US" dirty="0">
                <a:solidFill>
                  <a:srgbClr val="000080"/>
                </a:solidFill>
              </a:rPr>
              <a:t>(x): </a:t>
            </a:r>
          </a:p>
          <a:p>
            <a:r>
              <a:rPr lang="en-US" dirty="0">
                <a:solidFill>
                  <a:srgbClr val="000080"/>
                </a:solidFill>
              </a:rPr>
              <a:t>    return max(x)-min(x)</a:t>
            </a:r>
          </a:p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 err="1">
                <a:solidFill>
                  <a:srgbClr val="000080"/>
                </a:solidFill>
              </a:rPr>
              <a:t>frame.apply</a:t>
            </a:r>
            <a:r>
              <a:rPr lang="en-US" dirty="0">
                <a:solidFill>
                  <a:srgbClr val="000080"/>
                </a:solidFill>
              </a:rPr>
              <a:t>(</a:t>
            </a:r>
            <a:r>
              <a:rPr lang="en-US" dirty="0" err="1">
                <a:solidFill>
                  <a:srgbClr val="000080"/>
                </a:solidFill>
              </a:rPr>
              <a:t>max_minus_min</a:t>
            </a:r>
            <a:r>
              <a:rPr lang="en-US" dirty="0">
                <a:solidFill>
                  <a:srgbClr val="000080"/>
                </a:solidFill>
              </a:rPr>
              <a:t>))</a:t>
            </a:r>
          </a:p>
          <a:p>
            <a:r>
              <a:rPr lang="en-US" dirty="0"/>
              <a:t>c1    6</a:t>
            </a:r>
          </a:p>
          <a:p>
            <a:r>
              <a:rPr lang="en-US" dirty="0"/>
              <a:t>c2    6</a:t>
            </a:r>
          </a:p>
          <a:p>
            <a:r>
              <a:rPr lang="en-US" dirty="0"/>
              <a:t>c3    6</a:t>
            </a:r>
          </a:p>
          <a:p>
            <a:r>
              <a:rPr lang="en-US" dirty="0" err="1"/>
              <a:t>dtype</a:t>
            </a:r>
            <a:r>
              <a:rPr lang="en-US" dirty="0"/>
              <a:t>: int64</a:t>
            </a:r>
          </a:p>
          <a:p>
            <a:endParaRPr lang="en-US" dirty="0"/>
          </a:p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 err="1">
                <a:solidFill>
                  <a:srgbClr val="000080"/>
                </a:solidFill>
              </a:rPr>
              <a:t>frame.apply</a:t>
            </a:r>
            <a:r>
              <a:rPr lang="en-US" dirty="0">
                <a:solidFill>
                  <a:srgbClr val="000080"/>
                </a:solidFill>
              </a:rPr>
              <a:t>(</a:t>
            </a:r>
            <a:r>
              <a:rPr lang="en-US" dirty="0" err="1">
                <a:solidFill>
                  <a:srgbClr val="000080"/>
                </a:solidFill>
              </a:rPr>
              <a:t>max_minus_min,axis</a:t>
            </a:r>
            <a:r>
              <a:rPr lang="en-US" dirty="0">
                <a:solidFill>
                  <a:srgbClr val="000080"/>
                </a:solidFill>
              </a:rPr>
              <a:t>=1))</a:t>
            </a:r>
            <a:endParaRPr lang="en-US" dirty="0"/>
          </a:p>
          <a:p>
            <a:r>
              <a:rPr lang="pt-BR" dirty="0"/>
              <a:t>r1    2</a:t>
            </a:r>
          </a:p>
          <a:p>
            <a:r>
              <a:rPr lang="pt-BR" dirty="0"/>
              <a:t>r2    2</a:t>
            </a:r>
          </a:p>
          <a:p>
            <a:r>
              <a:rPr lang="pt-BR" dirty="0"/>
              <a:t>r3    2</a:t>
            </a:r>
          </a:p>
          <a:p>
            <a:r>
              <a:rPr lang="pt-BR" dirty="0"/>
              <a:t>dtype: int64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8650" y="2563463"/>
            <a:ext cx="518768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80"/>
                </a:solidFill>
              </a:rPr>
              <a:t>print(frame) </a:t>
            </a:r>
            <a:endParaRPr lang="pt-BR" dirty="0"/>
          </a:p>
          <a:p>
            <a:r>
              <a:rPr lang="pt-BR" dirty="0"/>
              <a:t>      c1  c2  c3</a:t>
            </a:r>
          </a:p>
          <a:p>
            <a:r>
              <a:rPr lang="pt-BR" dirty="0"/>
              <a:t>r1   0   1   2</a:t>
            </a:r>
          </a:p>
          <a:p>
            <a:r>
              <a:rPr lang="pt-BR" dirty="0"/>
              <a:t>r2   3   4   5</a:t>
            </a:r>
          </a:p>
          <a:p>
            <a:r>
              <a:rPr lang="pt-BR" dirty="0"/>
              <a:t>r3   6   7   8</a:t>
            </a:r>
          </a:p>
          <a:p>
            <a:endParaRPr lang="pt-BR" dirty="0"/>
          </a:p>
          <a:p>
            <a:r>
              <a:rPr lang="en-US" dirty="0" err="1">
                <a:solidFill>
                  <a:srgbClr val="4141A0"/>
                </a:solidFill>
              </a:rPr>
              <a:t>def</a:t>
            </a:r>
            <a:r>
              <a:rPr lang="en-US" dirty="0">
                <a:solidFill>
                  <a:srgbClr val="4141A0"/>
                </a:solidFill>
              </a:rPr>
              <a:t> square(x): </a:t>
            </a:r>
          </a:p>
          <a:p>
            <a:r>
              <a:rPr lang="en-US" dirty="0">
                <a:solidFill>
                  <a:srgbClr val="4141A0"/>
                </a:solidFill>
              </a:rPr>
              <a:t>    return x**2</a:t>
            </a:r>
          </a:p>
          <a:p>
            <a:r>
              <a:rPr lang="en-US" dirty="0">
                <a:solidFill>
                  <a:srgbClr val="4141A0"/>
                </a:solidFill>
              </a:rPr>
              <a:t>print(</a:t>
            </a:r>
            <a:r>
              <a:rPr lang="en-US" dirty="0" err="1">
                <a:solidFill>
                  <a:srgbClr val="4141A0"/>
                </a:solidFill>
              </a:rPr>
              <a:t>frame.applymap</a:t>
            </a:r>
            <a:r>
              <a:rPr lang="en-US" dirty="0">
                <a:solidFill>
                  <a:srgbClr val="4141A0"/>
                </a:solidFill>
              </a:rPr>
              <a:t>(square))</a:t>
            </a:r>
          </a:p>
          <a:p>
            <a:r>
              <a:rPr lang="pt-BR" dirty="0"/>
              <a:t>      c1  c2  c3</a:t>
            </a:r>
          </a:p>
          <a:p>
            <a:r>
              <a:rPr lang="pt-BR" dirty="0"/>
              <a:t>r1   0   1   4</a:t>
            </a:r>
          </a:p>
          <a:p>
            <a:r>
              <a:rPr lang="pt-BR" dirty="0"/>
              <a:t>r2   9  16  25</a:t>
            </a:r>
          </a:p>
          <a:p>
            <a:r>
              <a:rPr lang="pt-BR" dirty="0"/>
              <a:t>r3  36  49  64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3320" y="5211576"/>
            <a:ext cx="2477621" cy="1295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44936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application and mapping - 2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650" y="1690689"/>
            <a:ext cx="631332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80"/>
                </a:solidFill>
              </a:rPr>
              <a:t>def</a:t>
            </a:r>
            <a:r>
              <a:rPr lang="en-US" dirty="0">
                <a:solidFill>
                  <a:srgbClr val="000080"/>
                </a:solidFill>
              </a:rPr>
              <a:t> </a:t>
            </a:r>
            <a:r>
              <a:rPr lang="en-US" dirty="0" err="1">
                <a:solidFill>
                  <a:srgbClr val="000080"/>
                </a:solidFill>
              </a:rPr>
              <a:t>max_min</a:t>
            </a:r>
            <a:r>
              <a:rPr lang="en-US" dirty="0">
                <a:solidFill>
                  <a:srgbClr val="000080"/>
                </a:solidFill>
              </a:rPr>
              <a:t>(x): </a:t>
            </a:r>
          </a:p>
          <a:p>
            <a:r>
              <a:rPr lang="en-US" dirty="0">
                <a:solidFill>
                  <a:srgbClr val="000080"/>
                </a:solidFill>
              </a:rPr>
              <a:t>    return Series([max(x), min(x)], index=['max', 'min'])</a:t>
            </a:r>
          </a:p>
          <a:p>
            <a:endParaRPr lang="en-US" dirty="0">
              <a:solidFill>
                <a:srgbClr val="000080"/>
              </a:solidFill>
            </a:endParaRPr>
          </a:p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 err="1">
                <a:solidFill>
                  <a:srgbClr val="000080"/>
                </a:solidFill>
              </a:rPr>
              <a:t>frame.apply</a:t>
            </a:r>
            <a:r>
              <a:rPr lang="en-US" dirty="0">
                <a:solidFill>
                  <a:srgbClr val="000080"/>
                </a:solidFill>
              </a:rPr>
              <a:t>(</a:t>
            </a:r>
            <a:r>
              <a:rPr lang="en-US" dirty="0" err="1">
                <a:solidFill>
                  <a:srgbClr val="000080"/>
                </a:solidFill>
              </a:rPr>
              <a:t>max_min</a:t>
            </a:r>
            <a:r>
              <a:rPr lang="en-US" dirty="0">
                <a:solidFill>
                  <a:srgbClr val="000080"/>
                </a:solidFill>
              </a:rPr>
              <a:t>))</a:t>
            </a:r>
          </a:p>
          <a:p>
            <a:endParaRPr lang="en-US" dirty="0">
              <a:solidFill>
                <a:srgbClr val="000080"/>
              </a:solidFill>
            </a:endParaRPr>
          </a:p>
          <a:p>
            <a:r>
              <a:rPr lang="en-US" dirty="0"/>
              <a:t>         c1  c2  c3</a:t>
            </a:r>
          </a:p>
          <a:p>
            <a:r>
              <a:rPr lang="en-US" dirty="0"/>
              <a:t>max   6   7   8</a:t>
            </a:r>
          </a:p>
          <a:p>
            <a:r>
              <a:rPr lang="en-US" dirty="0"/>
              <a:t>min    0   1   2</a:t>
            </a:r>
          </a:p>
        </p:txBody>
      </p:sp>
    </p:spTree>
    <p:extLst>
      <p:ext uri="{BB962C8B-B14F-4D97-AF65-F5344CB8AC3E}">
        <p14:creationId xmlns:p14="http://schemas.microsoft.com/office/powerpoint/2010/main" val="31641668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</a:t>
            </a:r>
            <a:r>
              <a:rPr lang="en-US" dirty="0" err="1"/>
              <a:t>DataFrame</a:t>
            </a:r>
            <a:r>
              <a:rPr lang="en-US" dirty="0"/>
              <a:t>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3693"/>
            <a:ext cx="3038889" cy="533122"/>
          </a:xfrm>
        </p:spPr>
        <p:txBody>
          <a:bodyPr/>
          <a:lstStyle/>
          <a:p>
            <a:r>
              <a:rPr lang="en-US" dirty="0" err="1"/>
              <a:t>sort_index</a:t>
            </a:r>
            <a:r>
              <a:rPr lang="en-US" dirty="0"/>
              <a:t>()</a:t>
            </a:r>
          </a:p>
        </p:txBody>
      </p:sp>
      <p:sp>
        <p:nvSpPr>
          <p:cNvPr id="4" name="Rectangle 3"/>
          <p:cNvSpPr/>
          <p:nvPr/>
        </p:nvSpPr>
        <p:spPr>
          <a:xfrm>
            <a:off x="332175" y="1957250"/>
            <a:ext cx="3004457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80"/>
                </a:solidFill>
              </a:rPr>
              <a:t>frame.index</a:t>
            </a:r>
            <a:r>
              <a:rPr lang="en-US" sz="1600" dirty="0">
                <a:solidFill>
                  <a:srgbClr val="000080"/>
                </a:solidFill>
              </a:rPr>
              <a:t>=['A', 'C', 'B']; </a:t>
            </a:r>
            <a:r>
              <a:rPr lang="en-US" sz="1600" dirty="0" err="1">
                <a:solidFill>
                  <a:srgbClr val="000080"/>
                </a:solidFill>
              </a:rPr>
              <a:t>frame.columns</a:t>
            </a:r>
            <a:r>
              <a:rPr lang="en-US" sz="1600" dirty="0">
                <a:solidFill>
                  <a:srgbClr val="000080"/>
                </a:solidFill>
              </a:rPr>
              <a:t>=['</a:t>
            </a:r>
            <a:r>
              <a:rPr lang="en-US" sz="1600" dirty="0" err="1">
                <a:solidFill>
                  <a:srgbClr val="000080"/>
                </a:solidFill>
              </a:rPr>
              <a:t>b','a','c</a:t>
            </a:r>
            <a:r>
              <a:rPr lang="en-US" sz="1600" dirty="0">
                <a:solidFill>
                  <a:srgbClr val="000080"/>
                </a:solidFill>
              </a:rPr>
              <a:t>'];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print(frame) </a:t>
            </a:r>
          </a:p>
          <a:p>
            <a:r>
              <a:rPr lang="pt-BR" sz="1600" dirty="0"/>
              <a:t>     b  a  c</a:t>
            </a:r>
          </a:p>
          <a:p>
            <a:r>
              <a:rPr lang="pt-BR" sz="1600" dirty="0"/>
              <a:t>A  0  1  2</a:t>
            </a:r>
          </a:p>
          <a:p>
            <a:r>
              <a:rPr lang="pt-BR" sz="1600" dirty="0"/>
              <a:t>C  3  4  5</a:t>
            </a:r>
          </a:p>
          <a:p>
            <a:r>
              <a:rPr lang="pt-BR" sz="1600" dirty="0"/>
              <a:t>B  6  7  8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frame.sort_index</a:t>
            </a:r>
            <a:r>
              <a:rPr lang="en-US" sz="1600" dirty="0">
                <a:solidFill>
                  <a:srgbClr val="000080"/>
                </a:solidFill>
              </a:rPr>
              <a:t>())</a:t>
            </a:r>
          </a:p>
          <a:p>
            <a:r>
              <a:rPr lang="pt-BR" sz="1600" dirty="0"/>
              <a:t>     b  a  c</a:t>
            </a:r>
          </a:p>
          <a:p>
            <a:r>
              <a:rPr lang="pt-BR" sz="1600" dirty="0"/>
              <a:t>A  0  1  2</a:t>
            </a:r>
          </a:p>
          <a:p>
            <a:r>
              <a:rPr lang="pt-BR" sz="1600" dirty="0"/>
              <a:t>B  6  7  8</a:t>
            </a:r>
          </a:p>
          <a:p>
            <a:r>
              <a:rPr lang="pt-BR" sz="1600" dirty="0"/>
              <a:t>C  3  4  5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frame.sort_index</a:t>
            </a:r>
            <a:r>
              <a:rPr lang="en-US" sz="1600" dirty="0">
                <a:solidFill>
                  <a:srgbClr val="000080"/>
                </a:solidFill>
              </a:rPr>
              <a:t>(axis=1))</a:t>
            </a:r>
          </a:p>
          <a:p>
            <a:r>
              <a:rPr lang="pt-BR" sz="1600" dirty="0"/>
              <a:t>     a  b  c</a:t>
            </a:r>
          </a:p>
          <a:p>
            <a:r>
              <a:rPr lang="pt-BR" sz="1600" dirty="0"/>
              <a:t>A  1  0  2</a:t>
            </a:r>
          </a:p>
          <a:p>
            <a:r>
              <a:rPr lang="pt-BR" sz="1600" dirty="0"/>
              <a:t>C  4  3  5</a:t>
            </a:r>
          </a:p>
          <a:p>
            <a:r>
              <a:rPr lang="pt-BR" sz="1600" dirty="0"/>
              <a:t>B  7  6  8</a:t>
            </a:r>
            <a:endParaRPr lang="en-US" sz="1600" dirty="0"/>
          </a:p>
        </p:txBody>
      </p:sp>
      <p:sp>
        <p:nvSpPr>
          <p:cNvPr id="5" name="Rectangle 4"/>
          <p:cNvSpPr/>
          <p:nvPr/>
        </p:nvSpPr>
        <p:spPr>
          <a:xfrm>
            <a:off x="3536302" y="1873771"/>
            <a:ext cx="545840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000080"/>
                </a:solidFill>
              </a:rPr>
              <a:t>frame = DataFrame(np.random.randint(0, 10, 9).reshape(3,-1), index=['r1', 'r2', 'r3'], columns=['c1', 'c2', 'c3'])</a:t>
            </a:r>
          </a:p>
          <a:p>
            <a:r>
              <a:rPr lang="pt-BR" sz="1600" dirty="0">
                <a:solidFill>
                  <a:srgbClr val="000080"/>
                </a:solidFill>
              </a:rPr>
              <a:t>print(frame)</a:t>
            </a:r>
          </a:p>
          <a:p>
            <a:r>
              <a:rPr lang="pt-BR" sz="1600" dirty="0"/>
              <a:t>    c1  c2  c3</a:t>
            </a:r>
          </a:p>
          <a:p>
            <a:r>
              <a:rPr lang="pt-BR" sz="1600" dirty="0"/>
              <a:t>r1   6   9   0</a:t>
            </a:r>
          </a:p>
          <a:p>
            <a:r>
              <a:rPr lang="pt-BR" sz="1600" dirty="0"/>
              <a:t>r2   8   2   9</a:t>
            </a:r>
          </a:p>
          <a:p>
            <a:r>
              <a:rPr lang="pt-BR" sz="1600" dirty="0"/>
              <a:t>r3   8   0   6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print(frame.sort_values(by='c1'))</a:t>
            </a:r>
          </a:p>
          <a:p>
            <a:r>
              <a:rPr lang="pt-BR" sz="1600" dirty="0"/>
              <a:t>     c1  c2  c3</a:t>
            </a:r>
          </a:p>
          <a:p>
            <a:r>
              <a:rPr lang="pt-BR" sz="1600" dirty="0"/>
              <a:t>r1   6   9   0</a:t>
            </a:r>
          </a:p>
          <a:p>
            <a:r>
              <a:rPr lang="pt-BR" sz="1600" dirty="0"/>
              <a:t>r2   8   2   9</a:t>
            </a:r>
          </a:p>
          <a:p>
            <a:r>
              <a:rPr lang="pt-BR" sz="1600" dirty="0"/>
              <a:t>r3   8   0   6</a:t>
            </a:r>
          </a:p>
          <a:p>
            <a:endParaRPr lang="pt-BR" sz="1600" dirty="0">
              <a:solidFill>
                <a:srgbClr val="000080"/>
              </a:solidFill>
            </a:endParaRPr>
          </a:p>
          <a:p>
            <a:r>
              <a:rPr lang="pt-BR" sz="1600" dirty="0">
                <a:solidFill>
                  <a:srgbClr val="000080"/>
                </a:solidFill>
              </a:rPr>
              <a:t>print(frame.sort_values(axis=1,by=['r3','r1']))</a:t>
            </a:r>
          </a:p>
          <a:p>
            <a:r>
              <a:rPr lang="pt-BR" sz="1600" dirty="0"/>
              <a:t>     c2  c3  c1</a:t>
            </a:r>
          </a:p>
          <a:p>
            <a:r>
              <a:rPr lang="pt-BR" sz="1600" dirty="0"/>
              <a:t>r1   9   0   6</a:t>
            </a:r>
          </a:p>
          <a:p>
            <a:r>
              <a:rPr lang="pt-BR" sz="1600" dirty="0"/>
              <a:t>r2   2   9   8</a:t>
            </a:r>
          </a:p>
          <a:p>
            <a:r>
              <a:rPr lang="pt-BR" sz="1600" dirty="0"/>
              <a:t>r3   0   6   8</a:t>
            </a:r>
            <a:endParaRPr lang="en-US" sz="16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789298" y="1424128"/>
            <a:ext cx="3038889" cy="533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sort_values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1229807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555" y="1607274"/>
            <a:ext cx="7886700" cy="4999714"/>
          </a:xfrm>
        </p:spPr>
        <p:txBody>
          <a:bodyPr>
            <a:normAutofit/>
          </a:bodyPr>
          <a:lstStyle/>
          <a:p>
            <a:r>
              <a:rPr lang="en-US" dirty="0"/>
              <a:t>Use the Data Frame created at the Activity 6</a:t>
            </a:r>
          </a:p>
          <a:p>
            <a:r>
              <a:rPr lang="en-US" dirty="0"/>
              <a:t>Apply a lambda function to calculate the square root of each value in the data frame</a:t>
            </a:r>
          </a:p>
          <a:p>
            <a:pPr lvl="1"/>
            <a:r>
              <a:rPr lang="en-US" dirty="0"/>
              <a:t>import math  </a:t>
            </a:r>
            <a:r>
              <a:rPr lang="en-US" dirty="0" err="1"/>
              <a:t>math.sqrt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840339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</a:t>
            </a:r>
            <a:r>
              <a:rPr lang="en-US" dirty="0" err="1"/>
              <a:t>DataFrame</a:t>
            </a:r>
            <a:r>
              <a:rPr lang="en-US" dirty="0"/>
              <a:t>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mean()</a:t>
            </a:r>
          </a:p>
          <a:p>
            <a:pPr lvl="1"/>
            <a:r>
              <a:rPr lang="en-US" dirty="0"/>
              <a:t>Mean(axis=0, </a:t>
            </a:r>
            <a:r>
              <a:rPr lang="en-US" dirty="0" err="1"/>
              <a:t>skipna</a:t>
            </a:r>
            <a:r>
              <a:rPr lang="en-US" dirty="0"/>
              <a:t>=True)</a:t>
            </a:r>
          </a:p>
          <a:p>
            <a:r>
              <a:rPr lang="en-US" dirty="0"/>
              <a:t>sum()</a:t>
            </a:r>
          </a:p>
          <a:p>
            <a:r>
              <a:rPr lang="en-US" dirty="0" err="1"/>
              <a:t>cumsum</a:t>
            </a:r>
            <a:r>
              <a:rPr lang="en-US" dirty="0"/>
              <a:t>()</a:t>
            </a:r>
          </a:p>
          <a:p>
            <a:r>
              <a:rPr lang="en-US" dirty="0"/>
              <a:t>describe(): return summary statistics of each column</a:t>
            </a:r>
          </a:p>
          <a:p>
            <a:pPr lvl="1"/>
            <a:r>
              <a:rPr lang="en-US" dirty="0"/>
              <a:t>for numeric data: mean, </a:t>
            </a:r>
            <a:r>
              <a:rPr lang="en-US" dirty="0" err="1"/>
              <a:t>std</a:t>
            </a:r>
            <a:r>
              <a:rPr lang="en-US" dirty="0"/>
              <a:t>, max, min, 25%, 50%, 75%, etc.</a:t>
            </a:r>
          </a:p>
          <a:p>
            <a:pPr lvl="1"/>
            <a:r>
              <a:rPr lang="en-US" dirty="0"/>
              <a:t>For non-numeric data: count, </a:t>
            </a:r>
            <a:r>
              <a:rPr lang="en-US" dirty="0" err="1"/>
              <a:t>uniq</a:t>
            </a:r>
            <a:r>
              <a:rPr lang="en-US" dirty="0"/>
              <a:t>, most-frequent item, etc.</a:t>
            </a:r>
          </a:p>
          <a:p>
            <a:r>
              <a:rPr lang="en-US" dirty="0" err="1"/>
              <a:t>corr</a:t>
            </a:r>
            <a:r>
              <a:rPr lang="en-US" dirty="0"/>
              <a:t>(): correlation between two Series, or between columns of a </a:t>
            </a:r>
            <a:r>
              <a:rPr lang="en-US" dirty="0" err="1"/>
              <a:t>DataFrame</a:t>
            </a:r>
            <a:endParaRPr lang="en-US" dirty="0"/>
          </a:p>
          <a:p>
            <a:r>
              <a:rPr lang="en-US" dirty="0" err="1"/>
              <a:t>corr_with</a:t>
            </a:r>
            <a:r>
              <a:rPr lang="en-US" dirty="0"/>
              <a:t>(): correlation between columns of </a:t>
            </a:r>
            <a:r>
              <a:rPr lang="en-US" dirty="0" err="1"/>
              <a:t>DataFram</a:t>
            </a:r>
            <a:r>
              <a:rPr lang="en-US" dirty="0"/>
              <a:t> and a series or between the columns of another </a:t>
            </a:r>
            <a:r>
              <a:rPr lang="en-US" dirty="0" err="1"/>
              <a:t>DataFrame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93923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616" y="1452401"/>
            <a:ext cx="7886700" cy="488366"/>
          </a:xfrm>
        </p:spPr>
        <p:txBody>
          <a:bodyPr/>
          <a:lstStyle/>
          <a:p>
            <a:r>
              <a:rPr lang="en-US" dirty="0"/>
              <a:t>Filtering out missing values</a:t>
            </a:r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3315" y="1800150"/>
            <a:ext cx="4751158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from </a:t>
            </a:r>
            <a:r>
              <a:rPr lang="en-US" sz="1600" dirty="0" err="1">
                <a:solidFill>
                  <a:srgbClr val="000080"/>
                </a:solidFill>
              </a:rPr>
              <a:t>numpy</a:t>
            </a:r>
            <a:r>
              <a:rPr lang="en-US" sz="1600" dirty="0">
                <a:solidFill>
                  <a:srgbClr val="000080"/>
                </a:solidFill>
              </a:rPr>
              <a:t> import nan as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data = Series([1,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, 2.5,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, 6])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print(data)</a:t>
            </a:r>
          </a:p>
          <a:p>
            <a:r>
              <a:rPr lang="fi-FI" sz="1600" dirty="0"/>
              <a:t>0    1.0</a:t>
            </a:r>
          </a:p>
          <a:p>
            <a:r>
              <a:rPr lang="fi-FI" sz="1600" dirty="0"/>
              <a:t>1    NaN</a:t>
            </a:r>
          </a:p>
          <a:p>
            <a:r>
              <a:rPr lang="fi-FI" sz="1600" dirty="0"/>
              <a:t>2    2.5</a:t>
            </a:r>
          </a:p>
          <a:p>
            <a:r>
              <a:rPr lang="fi-FI" sz="1600" dirty="0"/>
              <a:t>3    NaN</a:t>
            </a:r>
          </a:p>
          <a:p>
            <a:pPr marL="342900" indent="-342900">
              <a:buAutoNum type="arabicPlain" startAt="4"/>
            </a:pPr>
            <a:r>
              <a:rPr lang="fi-FI" sz="1600" dirty="0"/>
              <a:t>6.0</a:t>
            </a:r>
          </a:p>
          <a:p>
            <a:r>
              <a:rPr lang="en-US" sz="1600" dirty="0" err="1"/>
              <a:t>dtype</a:t>
            </a:r>
            <a:r>
              <a:rPr lang="en-US" sz="1600" dirty="0"/>
              <a:t>: float64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data.notnull</a:t>
            </a:r>
            <a:r>
              <a:rPr lang="en-US" sz="1600" dirty="0">
                <a:solidFill>
                  <a:srgbClr val="000080"/>
                </a:solidFill>
              </a:rPr>
              <a:t>())</a:t>
            </a:r>
          </a:p>
          <a:p>
            <a:r>
              <a:rPr lang="en-US" sz="1600" dirty="0"/>
              <a:t>0     True</a:t>
            </a:r>
          </a:p>
          <a:p>
            <a:r>
              <a:rPr lang="en-US" sz="1600" dirty="0"/>
              <a:t>1    False</a:t>
            </a:r>
          </a:p>
          <a:p>
            <a:r>
              <a:rPr lang="en-US" sz="1600" dirty="0"/>
              <a:t>2     True</a:t>
            </a:r>
          </a:p>
          <a:p>
            <a:r>
              <a:rPr lang="en-US" sz="1600" dirty="0"/>
              <a:t>3    False</a:t>
            </a:r>
          </a:p>
          <a:p>
            <a:r>
              <a:rPr lang="en-US" sz="1600" dirty="0"/>
              <a:t>4     True</a:t>
            </a:r>
          </a:p>
          <a:p>
            <a:r>
              <a:rPr lang="en-US" sz="1600" dirty="0" err="1"/>
              <a:t>dtype</a:t>
            </a:r>
            <a:r>
              <a:rPr lang="en-US" sz="1600" dirty="0"/>
              <a:t>: bool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5593" y="4272762"/>
            <a:ext cx="25541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print(data[</a:t>
            </a:r>
            <a:r>
              <a:rPr lang="en-US" sz="1600" dirty="0" err="1">
                <a:solidFill>
                  <a:srgbClr val="000080"/>
                </a:solidFill>
              </a:rPr>
              <a:t>data.notnull</a:t>
            </a:r>
            <a:r>
              <a:rPr lang="en-US" sz="1600" dirty="0">
                <a:solidFill>
                  <a:srgbClr val="000080"/>
                </a:solidFill>
              </a:rPr>
              <a:t>()])</a:t>
            </a:r>
          </a:p>
          <a:p>
            <a:r>
              <a:rPr lang="en-US" sz="1600" dirty="0"/>
              <a:t>0    1.0</a:t>
            </a:r>
          </a:p>
          <a:p>
            <a:r>
              <a:rPr lang="en-US" sz="1600" dirty="0"/>
              <a:t>2    2.5</a:t>
            </a:r>
          </a:p>
          <a:p>
            <a:r>
              <a:rPr lang="en-US" sz="1600" dirty="0"/>
              <a:t>4    6.0</a:t>
            </a:r>
          </a:p>
          <a:p>
            <a:r>
              <a:rPr lang="en-US" sz="1600" dirty="0" err="1"/>
              <a:t>dtype</a:t>
            </a:r>
            <a:r>
              <a:rPr lang="en-US" sz="1600" dirty="0"/>
              <a:t>: float64</a:t>
            </a:r>
          </a:p>
          <a:p>
            <a:endParaRPr lang="en-US" sz="1600" dirty="0">
              <a:solidFill>
                <a:srgbClr val="00008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92147" y="4272762"/>
            <a:ext cx="255415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data.dropna</a:t>
            </a:r>
            <a:r>
              <a:rPr lang="en-US" sz="1600" dirty="0">
                <a:solidFill>
                  <a:srgbClr val="000080"/>
                </a:solidFill>
              </a:rPr>
              <a:t>())</a:t>
            </a:r>
          </a:p>
          <a:p>
            <a:r>
              <a:rPr lang="en-US" sz="1600" dirty="0"/>
              <a:t>0    1.0</a:t>
            </a:r>
          </a:p>
          <a:p>
            <a:r>
              <a:rPr lang="en-US" sz="1600" dirty="0"/>
              <a:t>2    2.5</a:t>
            </a:r>
          </a:p>
          <a:p>
            <a:r>
              <a:rPr lang="en-US" sz="1600" dirty="0"/>
              <a:t>4    6.0</a:t>
            </a:r>
          </a:p>
          <a:p>
            <a:r>
              <a:rPr lang="en-US" sz="1600" dirty="0" err="1"/>
              <a:t>dtype</a:t>
            </a:r>
            <a:r>
              <a:rPr lang="en-US" sz="1600" dirty="0"/>
              <a:t>: float64</a:t>
            </a:r>
          </a:p>
        </p:txBody>
      </p:sp>
    </p:spTree>
    <p:extLst>
      <p:ext uri="{BB962C8B-B14F-4D97-AF65-F5344CB8AC3E}">
        <p14:creationId xmlns:p14="http://schemas.microsoft.com/office/powerpoint/2010/main" val="1225852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missing data - 2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7669" y="1397797"/>
            <a:ext cx="859067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data = </a:t>
            </a:r>
            <a:r>
              <a:rPr lang="en-US" sz="1600" dirty="0" err="1">
                <a:solidFill>
                  <a:srgbClr val="000080"/>
                </a:solidFill>
              </a:rPr>
              <a:t>DataFrame</a:t>
            </a:r>
            <a:r>
              <a:rPr lang="en-US" sz="1600" dirty="0">
                <a:solidFill>
                  <a:srgbClr val="000080"/>
                </a:solidFill>
              </a:rPr>
              <a:t>([[1, 2, 3], [1,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,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], [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,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, 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], [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r>
              <a:rPr lang="en-US" sz="1600" dirty="0">
                <a:solidFill>
                  <a:srgbClr val="000080"/>
                </a:solidFill>
              </a:rPr>
              <a:t>, 4, 5]])</a:t>
            </a:r>
          </a:p>
          <a:p>
            <a:r>
              <a:rPr lang="en-US" sz="1600" dirty="0">
                <a:solidFill>
                  <a:srgbClr val="000080"/>
                </a:solidFill>
              </a:rPr>
              <a:t>print(data)</a:t>
            </a:r>
          </a:p>
          <a:p>
            <a:r>
              <a:rPr lang="fi-FI" sz="1400" dirty="0">
                <a:solidFill>
                  <a:srgbClr val="000080"/>
                </a:solidFill>
              </a:rPr>
              <a:t>      </a:t>
            </a:r>
            <a:r>
              <a:rPr lang="fi-FI" sz="1400" dirty="0"/>
              <a:t>0    1    2</a:t>
            </a:r>
          </a:p>
          <a:p>
            <a:r>
              <a:rPr lang="fi-FI" sz="1400" dirty="0"/>
              <a:t>0  1.0  2.0  3.0</a:t>
            </a:r>
          </a:p>
          <a:p>
            <a:r>
              <a:rPr lang="fi-FI" sz="1400" dirty="0"/>
              <a:t>1  1.0  NaN  NaN</a:t>
            </a:r>
          </a:p>
          <a:p>
            <a:r>
              <a:rPr lang="fi-FI" sz="1400" dirty="0"/>
              <a:t>2  NaN  NaN  NaN</a:t>
            </a:r>
          </a:p>
          <a:p>
            <a:pPr marL="342900" indent="-342900">
              <a:buAutoNum type="arabicPlain" startAt="3"/>
            </a:pPr>
            <a:r>
              <a:rPr lang="fi-FI" sz="1400" dirty="0"/>
              <a:t>NaN  4.0  5.0</a:t>
            </a:r>
            <a:r>
              <a:rPr lang="en-US" sz="1400" dirty="0">
                <a:solidFill>
                  <a:srgbClr val="000080"/>
                </a:solidFill>
              </a:rPr>
              <a:t> </a:t>
            </a:r>
            <a:endParaRPr lang="en-US" sz="1400" dirty="0"/>
          </a:p>
        </p:txBody>
      </p:sp>
      <p:sp>
        <p:nvSpPr>
          <p:cNvPr id="7" name="Rectangle 6"/>
          <p:cNvSpPr/>
          <p:nvPr/>
        </p:nvSpPr>
        <p:spPr>
          <a:xfrm>
            <a:off x="2063560" y="2808197"/>
            <a:ext cx="347173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data.dropna</a:t>
            </a:r>
            <a:r>
              <a:rPr lang="en-US" sz="1600" dirty="0">
                <a:solidFill>
                  <a:srgbClr val="000080"/>
                </a:solidFill>
              </a:rPr>
              <a:t>())</a:t>
            </a:r>
          </a:p>
          <a:p>
            <a:r>
              <a:rPr lang="en-US" sz="1600" dirty="0"/>
              <a:t> 	0    1    2</a:t>
            </a:r>
          </a:p>
          <a:p>
            <a:r>
              <a:rPr lang="en-US" sz="1600" dirty="0"/>
              <a:t> 0  1.0  2.0  3.0</a:t>
            </a:r>
          </a:p>
          <a:p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data.dropna</a:t>
            </a:r>
            <a:r>
              <a:rPr lang="en-US" sz="1600" dirty="0">
                <a:solidFill>
                  <a:srgbClr val="000080"/>
                </a:solidFill>
              </a:rPr>
              <a:t>(how='all'))</a:t>
            </a:r>
          </a:p>
          <a:p>
            <a:r>
              <a:rPr lang="fi-FI" sz="1600" dirty="0"/>
              <a:t> 	0    1    2</a:t>
            </a:r>
          </a:p>
          <a:p>
            <a:r>
              <a:rPr lang="fi-FI" sz="1600" dirty="0"/>
              <a:t>0  1.0  2.0  3.0</a:t>
            </a:r>
          </a:p>
          <a:p>
            <a:r>
              <a:rPr lang="fi-FI" sz="1600" dirty="0"/>
              <a:t>1  1.0  NaN  NaN</a:t>
            </a:r>
          </a:p>
          <a:p>
            <a:pPr marL="342900" indent="-342900">
              <a:buAutoNum type="arabicPlain" startAt="3"/>
            </a:pPr>
            <a:r>
              <a:rPr lang="fi-FI" sz="1600" dirty="0"/>
              <a:t>NaN  4.0  5.0 </a:t>
            </a:r>
          </a:p>
          <a:p>
            <a:endParaRPr lang="fi-FI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data.dropna</a:t>
            </a:r>
            <a:r>
              <a:rPr lang="en-US" sz="1600" dirty="0">
                <a:solidFill>
                  <a:srgbClr val="000080"/>
                </a:solidFill>
              </a:rPr>
              <a:t>(axis=1, how='all'))</a:t>
            </a:r>
          </a:p>
          <a:p>
            <a:r>
              <a:rPr lang="fi-FI" sz="1600" dirty="0">
                <a:solidFill>
                  <a:srgbClr val="000080"/>
                </a:solidFill>
              </a:rPr>
              <a:t> </a:t>
            </a:r>
            <a:r>
              <a:rPr lang="fi-FI" sz="1600" dirty="0"/>
              <a:t>	0    1    2</a:t>
            </a:r>
          </a:p>
          <a:p>
            <a:r>
              <a:rPr lang="fi-FI" sz="1600" dirty="0"/>
              <a:t>0  1.0  2.0  3.0</a:t>
            </a:r>
          </a:p>
          <a:p>
            <a:r>
              <a:rPr lang="fi-FI" sz="1600" dirty="0"/>
              <a:t>1  1.0  NaN  NaN</a:t>
            </a:r>
          </a:p>
          <a:p>
            <a:r>
              <a:rPr lang="fi-FI" sz="1600" dirty="0"/>
              <a:t>2  NaN  NaN  NaN</a:t>
            </a:r>
          </a:p>
          <a:p>
            <a:r>
              <a:rPr lang="fi-FI" sz="1600" dirty="0"/>
              <a:t>3  NaN  4.0  5.0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>
            <a:off x="5527980" y="2826127"/>
            <a:ext cx="353793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data[4]=</a:t>
            </a:r>
            <a:r>
              <a:rPr lang="en-US" sz="1600" dirty="0" err="1">
                <a:solidFill>
                  <a:srgbClr val="000080"/>
                </a:solidFill>
              </a:rPr>
              <a:t>NaN</a:t>
            </a:r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print(data)</a:t>
            </a:r>
          </a:p>
          <a:p>
            <a:r>
              <a:rPr lang="fi-FI" sz="1600" dirty="0"/>
              <a:t> 	0    1    2   4</a:t>
            </a:r>
          </a:p>
          <a:p>
            <a:r>
              <a:rPr lang="fi-FI" sz="1600" dirty="0"/>
              <a:t>0  1.0  2.0  3.0 NaN</a:t>
            </a:r>
          </a:p>
          <a:p>
            <a:r>
              <a:rPr lang="fi-FI" sz="1600" dirty="0"/>
              <a:t>1  1.0  NaN  NaN NaN</a:t>
            </a:r>
          </a:p>
          <a:p>
            <a:r>
              <a:rPr lang="fi-FI" sz="1600" dirty="0"/>
              <a:t>2  NaN  NaN  NaN NaN</a:t>
            </a:r>
          </a:p>
          <a:p>
            <a:pPr marL="342900" indent="-342900">
              <a:buAutoNum type="arabicPlain" startAt="3"/>
            </a:pPr>
            <a:r>
              <a:rPr lang="fi-FI" sz="1600" dirty="0"/>
              <a:t>NaN  4.0  5.0 NaN</a:t>
            </a:r>
          </a:p>
          <a:p>
            <a:endParaRPr lang="en-US" sz="1600" dirty="0">
              <a:solidFill>
                <a:srgbClr val="000080"/>
              </a:solidFill>
            </a:endParaRPr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data.dropna</a:t>
            </a:r>
            <a:r>
              <a:rPr lang="en-US" sz="1600" dirty="0">
                <a:solidFill>
                  <a:srgbClr val="000080"/>
                </a:solidFill>
              </a:rPr>
              <a:t>(axis=1, how='all'))</a:t>
            </a:r>
          </a:p>
          <a:p>
            <a:r>
              <a:rPr lang="fi-FI" sz="1600" dirty="0"/>
              <a:t> 	0    1    2</a:t>
            </a:r>
          </a:p>
          <a:p>
            <a:r>
              <a:rPr lang="fi-FI" sz="1600" dirty="0"/>
              <a:t>0  1.0  2.0  3.0</a:t>
            </a:r>
          </a:p>
          <a:p>
            <a:r>
              <a:rPr lang="fi-FI" sz="1600" dirty="0"/>
              <a:t>1  1.0  NaN  NaN</a:t>
            </a:r>
          </a:p>
          <a:p>
            <a:r>
              <a:rPr lang="fi-FI" sz="1600" dirty="0"/>
              <a:t>2  NaN  NaN  NaN</a:t>
            </a:r>
          </a:p>
          <a:p>
            <a:r>
              <a:rPr lang="fi-FI" sz="1600" dirty="0"/>
              <a:t>3  NaN  4.0  5.0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159782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Filling in missing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246" y="1513999"/>
            <a:ext cx="2786773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print(data)</a:t>
            </a:r>
          </a:p>
          <a:p>
            <a:r>
              <a:rPr lang="fi-FI" sz="1600" dirty="0"/>
              <a:t>        0    1    2   4</a:t>
            </a:r>
          </a:p>
          <a:p>
            <a:r>
              <a:rPr lang="fi-FI" sz="1600" dirty="0"/>
              <a:t>0  1.0  2.0  3.0 NaN</a:t>
            </a:r>
          </a:p>
          <a:p>
            <a:r>
              <a:rPr lang="fi-FI" sz="1600" dirty="0"/>
              <a:t>1  1.0  NaN  NaN NaN</a:t>
            </a:r>
          </a:p>
          <a:p>
            <a:r>
              <a:rPr lang="fi-FI" sz="1600" dirty="0"/>
              <a:t>2  NaN  NaN  NaN NaN</a:t>
            </a:r>
          </a:p>
          <a:p>
            <a:pPr marL="342900" indent="-342900">
              <a:buAutoNum type="arabicPlain" startAt="3"/>
            </a:pPr>
            <a:r>
              <a:rPr lang="fi-FI" sz="1600" dirty="0"/>
              <a:t>NaN  4.0  5.0 NaN</a:t>
            </a:r>
          </a:p>
          <a:p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data.fillna</a:t>
            </a:r>
            <a:r>
              <a:rPr lang="en-US" sz="1600" dirty="0">
                <a:solidFill>
                  <a:srgbClr val="000080"/>
                </a:solidFill>
              </a:rPr>
              <a:t>(0)) </a:t>
            </a:r>
            <a:endParaRPr lang="en-US" sz="1600" dirty="0"/>
          </a:p>
          <a:p>
            <a:r>
              <a:rPr lang="en-US" sz="1600" dirty="0"/>
              <a:t>       0    1    2    4</a:t>
            </a:r>
          </a:p>
          <a:p>
            <a:r>
              <a:rPr lang="en-US" sz="1600" dirty="0"/>
              <a:t>0  1.0  2.0  3.0  0.0</a:t>
            </a:r>
          </a:p>
          <a:p>
            <a:r>
              <a:rPr lang="en-US" sz="1600" dirty="0"/>
              <a:t>1  1.0  0.0  0.0  0.0</a:t>
            </a:r>
          </a:p>
          <a:p>
            <a:r>
              <a:rPr lang="en-US" sz="1600" dirty="0"/>
              <a:t>2  0.0  0.0  0.0  0.0</a:t>
            </a:r>
          </a:p>
          <a:p>
            <a:r>
              <a:rPr lang="en-US" sz="1600" dirty="0"/>
              <a:t>3  0.0  4.0  5.0  0.0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246" y="4804067"/>
            <a:ext cx="358041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80"/>
                </a:solidFill>
              </a:rPr>
              <a:t>print(</a:t>
            </a:r>
            <a:r>
              <a:rPr lang="en-US" dirty="0" err="1">
                <a:solidFill>
                  <a:srgbClr val="000080"/>
                </a:solidFill>
              </a:rPr>
              <a:t>data.fillna</a:t>
            </a:r>
            <a:r>
              <a:rPr lang="en-US" dirty="0">
                <a:solidFill>
                  <a:srgbClr val="000080"/>
                </a:solidFill>
              </a:rPr>
              <a:t>(0, </a:t>
            </a:r>
            <a:r>
              <a:rPr lang="en-US" dirty="0" err="1">
                <a:solidFill>
                  <a:srgbClr val="000080"/>
                </a:solidFill>
              </a:rPr>
              <a:t>inplace</a:t>
            </a:r>
            <a:r>
              <a:rPr lang="en-US" dirty="0">
                <a:solidFill>
                  <a:srgbClr val="000080"/>
                </a:solidFill>
              </a:rPr>
              <a:t>=True))</a:t>
            </a:r>
          </a:p>
          <a:p>
            <a:r>
              <a:rPr lang="en-US" dirty="0">
                <a:solidFill>
                  <a:srgbClr val="000080"/>
                </a:solidFill>
              </a:rPr>
              <a:t>print(data)</a:t>
            </a:r>
          </a:p>
          <a:p>
            <a:r>
              <a:rPr lang="en-US" dirty="0"/>
              <a:t>       0    1    2    4</a:t>
            </a:r>
          </a:p>
          <a:p>
            <a:r>
              <a:rPr lang="en-US" dirty="0"/>
              <a:t>0  1.0  2.0  3.0  0.0</a:t>
            </a:r>
          </a:p>
          <a:p>
            <a:r>
              <a:rPr lang="en-US" dirty="0"/>
              <a:t>1  1.0  0.0  0.0  0.0</a:t>
            </a:r>
          </a:p>
          <a:p>
            <a:r>
              <a:rPr lang="en-US" dirty="0"/>
              <a:t>2  0.0  0.0  0.0  0.0</a:t>
            </a:r>
          </a:p>
          <a:p>
            <a:r>
              <a:rPr lang="en-US" dirty="0"/>
              <a:t>3  0.0  4.0  5.0  0.0</a:t>
            </a:r>
          </a:p>
        </p:txBody>
      </p:sp>
      <p:sp>
        <p:nvSpPr>
          <p:cNvPr id="6" name="Rectangle 5"/>
          <p:cNvSpPr/>
          <p:nvPr/>
        </p:nvSpPr>
        <p:spPr>
          <a:xfrm>
            <a:off x="4402318" y="1513999"/>
            <a:ext cx="429254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80"/>
                </a:solidFill>
              </a:rPr>
              <a:t>print(data)</a:t>
            </a:r>
          </a:p>
          <a:p>
            <a:r>
              <a:rPr lang="fi-FI" sz="1600" dirty="0"/>
              <a:t>      0    1    2</a:t>
            </a:r>
          </a:p>
          <a:p>
            <a:r>
              <a:rPr lang="fi-FI" sz="1600" dirty="0"/>
              <a:t>0  1.0  2.0  3.0</a:t>
            </a:r>
          </a:p>
          <a:p>
            <a:r>
              <a:rPr lang="fi-FI" sz="1600" dirty="0"/>
              <a:t>1  1.0  NaN  NaN</a:t>
            </a:r>
          </a:p>
          <a:p>
            <a:r>
              <a:rPr lang="fi-FI" sz="1600" dirty="0"/>
              <a:t>2  NaN  NaN  NaN</a:t>
            </a:r>
          </a:p>
          <a:p>
            <a:r>
              <a:rPr lang="fi-FI" sz="1600" dirty="0"/>
              <a:t>3  NaN  4.0  5.0</a:t>
            </a:r>
            <a:br>
              <a:rPr lang="en-US" sz="1600" dirty="0"/>
            </a:br>
            <a:endParaRPr lang="en-US" sz="1600" dirty="0"/>
          </a:p>
          <a:p>
            <a:r>
              <a:rPr lang="en-US" sz="1600" dirty="0">
                <a:solidFill>
                  <a:srgbClr val="000080"/>
                </a:solidFill>
              </a:rPr>
              <a:t>print(</a:t>
            </a:r>
            <a:r>
              <a:rPr lang="en-US" sz="1600" dirty="0" err="1">
                <a:solidFill>
                  <a:srgbClr val="000080"/>
                </a:solidFill>
              </a:rPr>
              <a:t>data.fillna</a:t>
            </a:r>
            <a:r>
              <a:rPr lang="en-US" sz="1600" dirty="0">
                <a:solidFill>
                  <a:srgbClr val="000080"/>
                </a:solidFill>
              </a:rPr>
              <a:t>(</a:t>
            </a:r>
            <a:r>
              <a:rPr lang="en-US" sz="1600" dirty="0" err="1">
                <a:solidFill>
                  <a:srgbClr val="000080"/>
                </a:solidFill>
              </a:rPr>
              <a:t>data.mean</a:t>
            </a:r>
            <a:r>
              <a:rPr lang="en-US" sz="1600" dirty="0">
                <a:solidFill>
                  <a:srgbClr val="000080"/>
                </a:solidFill>
              </a:rPr>
              <a:t>(</a:t>
            </a:r>
            <a:r>
              <a:rPr lang="en-US" sz="1600" dirty="0" err="1">
                <a:solidFill>
                  <a:srgbClr val="000080"/>
                </a:solidFill>
              </a:rPr>
              <a:t>skipna</a:t>
            </a:r>
            <a:r>
              <a:rPr lang="en-US" sz="1600" dirty="0">
                <a:solidFill>
                  <a:srgbClr val="000080"/>
                </a:solidFill>
              </a:rPr>
              <a:t>=True)))</a:t>
            </a:r>
            <a:r>
              <a:rPr lang="fi-FI" sz="1600" dirty="0"/>
              <a:t> </a:t>
            </a:r>
            <a:endParaRPr lang="en-US" sz="1600" dirty="0"/>
          </a:p>
          <a:p>
            <a:r>
              <a:rPr lang="en-US" sz="1600" dirty="0"/>
              <a:t>      0    1    2</a:t>
            </a:r>
          </a:p>
          <a:p>
            <a:r>
              <a:rPr lang="en-US" sz="1600" dirty="0"/>
              <a:t>0  1.0  2.0  3.0</a:t>
            </a:r>
          </a:p>
          <a:p>
            <a:r>
              <a:rPr lang="en-US" sz="1600" dirty="0"/>
              <a:t>1  1.0  3.0  4.0</a:t>
            </a:r>
          </a:p>
          <a:p>
            <a:r>
              <a:rPr lang="en-US" sz="1600" dirty="0"/>
              <a:t>2  1.0  3.0  4.0</a:t>
            </a:r>
          </a:p>
          <a:p>
            <a:r>
              <a:rPr lang="en-US" sz="1600" dirty="0"/>
              <a:t>3  1.0  4.0  5.0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3226121" y="5193973"/>
            <a:ext cx="2006902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Modify the </a:t>
            </a:r>
            <a:r>
              <a:rPr lang="en-US" dirty="0" err="1"/>
              <a:t>dataframe</a:t>
            </a:r>
            <a:r>
              <a:rPr lang="en-US" dirty="0"/>
              <a:t> instead of returning a new object (default)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2714921" y="5193973"/>
            <a:ext cx="465881" cy="738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3680" y="4888526"/>
            <a:ext cx="3313728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replace nan with column mean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6867331" y="3582955"/>
            <a:ext cx="401216" cy="1305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355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9738</TotalTime>
  <Words>4362</Words>
  <Application>Microsoft Office PowerPoint</Application>
  <PresentationFormat>On-screen Show (4:3)</PresentationFormat>
  <Paragraphs>862</Paragraphs>
  <Slides>37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Times New Roman</vt:lpstr>
      <vt:lpstr>Office Theme</vt:lpstr>
      <vt:lpstr>Lecture 3- Pandas</vt:lpstr>
      <vt:lpstr>Why pandas?</vt:lpstr>
      <vt:lpstr>Overview</vt:lpstr>
      <vt:lpstr>Overview - 2</vt:lpstr>
      <vt:lpstr>Series</vt:lpstr>
      <vt:lpstr>Series – referencing elements</vt:lpstr>
      <vt:lpstr>Series – array/dict operations</vt:lpstr>
      <vt:lpstr>Series – from dictionary</vt:lpstr>
      <vt:lpstr>Series – auto alignment</vt:lpstr>
      <vt:lpstr>Series name and index name</vt:lpstr>
      <vt:lpstr>Series name and index name</vt:lpstr>
      <vt:lpstr>Indexing, selection and filtering</vt:lpstr>
      <vt:lpstr>Indexing, selection and filtering</vt:lpstr>
      <vt:lpstr>Activity 4</vt:lpstr>
      <vt:lpstr>DataFrame</vt:lpstr>
      <vt:lpstr>DataFrame – specifying columns and indices</vt:lpstr>
      <vt:lpstr>DataFrame – from nested dict of dicts</vt:lpstr>
      <vt:lpstr>DataFrame – index, columns, values</vt:lpstr>
      <vt:lpstr>DataFrame – retrieving a column</vt:lpstr>
      <vt:lpstr>Activity 5</vt:lpstr>
      <vt:lpstr>DataFrame – getting rows</vt:lpstr>
      <vt:lpstr>DataFrame – modifying columns</vt:lpstr>
      <vt:lpstr>DataFrame – removing columns</vt:lpstr>
      <vt:lpstr>More on DataFrame indexing</vt:lpstr>
      <vt:lpstr>More on DataFrame indexing - 2</vt:lpstr>
      <vt:lpstr>More on DataFrame indexing - 3</vt:lpstr>
      <vt:lpstr>Activity 6</vt:lpstr>
      <vt:lpstr>Removing rows/columns</vt:lpstr>
      <vt:lpstr>Reindexing</vt:lpstr>
      <vt:lpstr>Function application and mapping</vt:lpstr>
      <vt:lpstr>Function application and mapping - 2</vt:lpstr>
      <vt:lpstr>Other DataFrame functions</vt:lpstr>
      <vt:lpstr>Activity 7</vt:lpstr>
      <vt:lpstr>Other DataFrame functions</vt:lpstr>
      <vt:lpstr>Handling missing data</vt:lpstr>
      <vt:lpstr>Handling missing data - 2</vt:lpstr>
      <vt:lpstr>Filling in missing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1- Introduction</dc:title>
  <dc:creator>Sampath Jayarathna</dc:creator>
  <cp:lastModifiedBy>Jasthi, Jasthi (DI SW LCS DEVOPS)</cp:lastModifiedBy>
  <cp:revision>349</cp:revision>
  <dcterms:created xsi:type="dcterms:W3CDTF">2009-12-29T10:39:27Z</dcterms:created>
  <dcterms:modified xsi:type="dcterms:W3CDTF">2023-01-23T21:40:12Z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f75f480-7803-4ee9-bb54-84d0635fdbe7_Enabled">
    <vt:lpwstr>true</vt:lpwstr>
  </property>
  <property fmtid="{D5CDD505-2E9C-101B-9397-08002B2CF9AE}" pid="3" name="MSIP_Label_6f75f480-7803-4ee9-bb54-84d0635fdbe7_SetDate">
    <vt:lpwstr>2023-01-23T21:39:24Z</vt:lpwstr>
  </property>
  <property fmtid="{D5CDD505-2E9C-101B-9397-08002B2CF9AE}" pid="4" name="MSIP_Label_6f75f480-7803-4ee9-bb54-84d0635fdbe7_Method">
    <vt:lpwstr>Privileged</vt:lpwstr>
  </property>
  <property fmtid="{D5CDD505-2E9C-101B-9397-08002B2CF9AE}" pid="5" name="MSIP_Label_6f75f480-7803-4ee9-bb54-84d0635fdbe7_Name">
    <vt:lpwstr>unrestricted</vt:lpwstr>
  </property>
  <property fmtid="{D5CDD505-2E9C-101B-9397-08002B2CF9AE}" pid="6" name="MSIP_Label_6f75f480-7803-4ee9-bb54-84d0635fdbe7_SiteId">
    <vt:lpwstr>38ae3bcd-9579-4fd4-adda-b42e1495d55a</vt:lpwstr>
  </property>
  <property fmtid="{D5CDD505-2E9C-101B-9397-08002B2CF9AE}" pid="7" name="MSIP_Label_6f75f480-7803-4ee9-bb54-84d0635fdbe7_ActionId">
    <vt:lpwstr>e912e779-4ec1-42c4-b3ef-2604336822f7</vt:lpwstr>
  </property>
  <property fmtid="{D5CDD505-2E9C-101B-9397-08002B2CF9AE}" pid="8" name="MSIP_Label_6f75f480-7803-4ee9-bb54-84d0635fdbe7_ContentBits">
    <vt:lpwstr>0</vt:lpwstr>
  </property>
</Properties>
</file>