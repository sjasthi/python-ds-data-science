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69" r:id="rId2"/>
    <p:sldId id="257" r:id="rId3"/>
    <p:sldId id="259" r:id="rId4"/>
    <p:sldId id="316" r:id="rId5"/>
    <p:sldId id="313" r:id="rId6"/>
    <p:sldId id="343" r:id="rId7"/>
    <p:sldId id="260" r:id="rId8"/>
    <p:sldId id="317" r:id="rId9"/>
    <p:sldId id="344" r:id="rId10"/>
    <p:sldId id="256" r:id="rId11"/>
    <p:sldId id="304" r:id="rId12"/>
    <p:sldId id="319" r:id="rId13"/>
    <p:sldId id="345" r:id="rId14"/>
    <p:sldId id="346" r:id="rId15"/>
    <p:sldId id="321" r:id="rId16"/>
    <p:sldId id="294" r:id="rId17"/>
    <p:sldId id="322" r:id="rId18"/>
    <p:sldId id="323" r:id="rId19"/>
    <p:sldId id="307" r:id="rId20"/>
    <p:sldId id="303" r:id="rId21"/>
    <p:sldId id="324" r:id="rId22"/>
    <p:sldId id="325" r:id="rId23"/>
    <p:sldId id="326" r:id="rId24"/>
    <p:sldId id="327" r:id="rId25"/>
    <p:sldId id="305" r:id="rId26"/>
    <p:sldId id="328" r:id="rId27"/>
    <p:sldId id="306" r:id="rId28"/>
    <p:sldId id="329" r:id="rId29"/>
    <p:sldId id="330" r:id="rId30"/>
    <p:sldId id="287" r:id="rId31"/>
    <p:sldId id="288" r:id="rId32"/>
    <p:sldId id="289" r:id="rId33"/>
    <p:sldId id="290" r:id="rId34"/>
    <p:sldId id="291" r:id="rId35"/>
    <p:sldId id="292" r:id="rId36"/>
    <p:sldId id="331" r:id="rId37"/>
    <p:sldId id="332" r:id="rId38"/>
    <p:sldId id="333" r:id="rId39"/>
    <p:sldId id="334" r:id="rId40"/>
    <p:sldId id="335" r:id="rId41"/>
    <p:sldId id="270" r:id="rId42"/>
    <p:sldId id="271" r:id="rId43"/>
    <p:sldId id="336" r:id="rId44"/>
    <p:sldId id="337" r:id="rId45"/>
    <p:sldId id="338" r:id="rId46"/>
    <p:sldId id="339" r:id="rId47"/>
    <p:sldId id="340" r:id="rId48"/>
    <p:sldId id="277" r:id="rId49"/>
    <p:sldId id="341" r:id="rId50"/>
    <p:sldId id="342" r:id="rId51"/>
    <p:sldId id="302" r:id="rId52"/>
    <p:sldId id="266" r:id="rId53"/>
    <p:sldId id="267" r:id="rId54"/>
    <p:sldId id="268" r:id="rId55"/>
    <p:sldId id="312" r:id="rId56"/>
    <p:sldId id="272" r:id="rId57"/>
    <p:sldId id="299" r:id="rId58"/>
    <p:sldId id="273" r:id="rId59"/>
    <p:sldId id="274" r:id="rId60"/>
    <p:sldId id="275" r:id="rId61"/>
    <p:sldId id="276" r:id="rId62"/>
    <p:sldId id="295" r:id="rId63"/>
    <p:sldId id="278" r:id="rId64"/>
    <p:sldId id="300" r:id="rId65"/>
    <p:sldId id="279" r:id="rId66"/>
    <p:sldId id="280" r:id="rId67"/>
    <p:sldId id="281" r:id="rId68"/>
    <p:sldId id="282" r:id="rId69"/>
    <p:sldId id="283" r:id="rId70"/>
    <p:sldId id="301" r:id="rId71"/>
    <p:sldId id="285" r:id="rId72"/>
    <p:sldId id="286" r:id="rId73"/>
    <p:sldId id="296" r:id="rId74"/>
    <p:sldId id="297" r:id="rId75"/>
    <p:sldId id="314" r:id="rId76"/>
    <p:sldId id="315" r:id="rId77"/>
    <p:sldId id="258"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B4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8" d="100"/>
          <a:sy n="78" d="100"/>
        </p:scale>
        <p:origin x="850" y="77"/>
      </p:cViewPr>
      <p:guideLst>
        <p:guide orient="horz" pos="2160"/>
        <p:guide pos="3796"/>
      </p:guideLst>
    </p:cSldViewPr>
  </p:slideViewPr>
  <p:notesTextViewPr>
    <p:cViewPr>
      <p:scale>
        <a:sx n="100" d="100"/>
        <a:sy n="100" d="100"/>
      </p:scale>
      <p:origin x="0" y="0"/>
    </p:cViewPr>
  </p:notesTextViewPr>
  <p:sorterViewPr>
    <p:cViewPr>
      <p:scale>
        <a:sx n="100" d="100"/>
        <a:sy n="100" d="100"/>
      </p:scale>
      <p:origin x="0" y="-1867"/>
    </p:cViewPr>
  </p:sorterViewPr>
  <p:notesViewPr>
    <p:cSldViewPr snapToGrid="0" snapToObjects="1">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E4CE0C-8E26-450C-8FDE-82D1AE2BDCB6}" type="datetimeFigureOut">
              <a:rPr lang="en-US" smtClean="0"/>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470311-7158-4323-ADB9-484E46488C27}" type="slidenum">
              <a:rPr lang="en-US" smtClean="0"/>
              <a:t>‹#›</a:t>
            </a:fld>
            <a:endParaRPr lang="en-US"/>
          </a:p>
        </p:txBody>
      </p:sp>
    </p:spTree>
    <p:extLst>
      <p:ext uri="{BB962C8B-B14F-4D97-AF65-F5344CB8AC3E}">
        <p14:creationId xmlns:p14="http://schemas.microsoft.com/office/powerpoint/2010/main" val="1994688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02124"/>
                </a:solidFill>
                <a:effectLst/>
                <a:latin typeface="Roboto" panose="02000000000000000000" pitchFamily="2" charset="0"/>
              </a:rPr>
              <a:t>Cross sectional data means that we have data from many units, at one point in time. Time series data means that we have data from one unit, over many points in time. </a:t>
            </a:r>
            <a:r>
              <a:rPr lang="en-US" b="1" i="0">
                <a:solidFill>
                  <a:srgbClr val="202124"/>
                </a:solidFill>
                <a:effectLst/>
                <a:latin typeface="Roboto" panose="02000000000000000000" pitchFamily="2" charset="0"/>
              </a:rPr>
              <a:t>Panel data (or time series cross section) means that we have data from many units, over many points in time</a:t>
            </a:r>
            <a:r>
              <a:rPr lang="en-US" b="0" i="0">
                <a:solidFill>
                  <a:srgbClr val="202124"/>
                </a:solidFill>
                <a:effectLst/>
                <a:latin typeface="Roboto" panose="02000000000000000000" pitchFamily="2" charset="0"/>
              </a:rPr>
              <a:t>.</a:t>
            </a:r>
            <a:endParaRPr lang="en-US"/>
          </a:p>
        </p:txBody>
      </p:sp>
      <p:sp>
        <p:nvSpPr>
          <p:cNvPr id="4" name="Slide Number Placeholder 3"/>
          <p:cNvSpPr>
            <a:spLocks noGrp="1"/>
          </p:cNvSpPr>
          <p:nvPr>
            <p:ph type="sldNum" sz="quarter" idx="5"/>
          </p:nvPr>
        </p:nvSpPr>
        <p:spPr/>
        <p:txBody>
          <a:bodyPr/>
          <a:lstStyle/>
          <a:p>
            <a:fld id="{55470311-7158-4323-ADB9-484E46488C27}" type="slidenum">
              <a:rPr lang="en-US" smtClean="0"/>
              <a:t>2</a:t>
            </a:fld>
            <a:endParaRPr lang="en-US"/>
          </a:p>
        </p:txBody>
      </p:sp>
    </p:spTree>
    <p:extLst>
      <p:ext uri="{BB962C8B-B14F-4D97-AF65-F5344CB8AC3E}">
        <p14:creationId xmlns:p14="http://schemas.microsoft.com/office/powerpoint/2010/main" val="2759781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02124"/>
                </a:solidFill>
                <a:effectLst/>
                <a:latin typeface="Roboto" panose="02000000000000000000" pitchFamily="2" charset="0"/>
              </a:rPr>
              <a:t>Cross sectional data means that we have data from many units, at one point in time. Time series data means that we have data from one unit, over many points in time. </a:t>
            </a:r>
            <a:r>
              <a:rPr lang="en-US" b="1" i="0">
                <a:solidFill>
                  <a:srgbClr val="202124"/>
                </a:solidFill>
                <a:effectLst/>
                <a:latin typeface="Roboto" panose="02000000000000000000" pitchFamily="2" charset="0"/>
              </a:rPr>
              <a:t>Panel data (or time series cross section) means that we have data from many units, over many points in time</a:t>
            </a:r>
            <a:r>
              <a:rPr lang="en-US" b="0" i="0">
                <a:solidFill>
                  <a:srgbClr val="202124"/>
                </a:solidFill>
                <a:effectLst/>
                <a:latin typeface="Roboto" panose="02000000000000000000" pitchFamily="2" charset="0"/>
              </a:rPr>
              <a:t>.</a:t>
            </a:r>
            <a:endParaRPr lang="en-US"/>
          </a:p>
        </p:txBody>
      </p:sp>
      <p:sp>
        <p:nvSpPr>
          <p:cNvPr id="4" name="Slide Number Placeholder 3"/>
          <p:cNvSpPr>
            <a:spLocks noGrp="1"/>
          </p:cNvSpPr>
          <p:nvPr>
            <p:ph type="sldNum" sz="quarter" idx="5"/>
          </p:nvPr>
        </p:nvSpPr>
        <p:spPr/>
        <p:txBody>
          <a:bodyPr/>
          <a:lstStyle/>
          <a:p>
            <a:fld id="{55470311-7158-4323-ADB9-484E46488C27}" type="slidenum">
              <a:rPr lang="en-US" smtClean="0"/>
              <a:t>5</a:t>
            </a:fld>
            <a:endParaRPr lang="en-US"/>
          </a:p>
        </p:txBody>
      </p:sp>
    </p:spTree>
    <p:extLst>
      <p:ext uri="{BB962C8B-B14F-4D97-AF65-F5344CB8AC3E}">
        <p14:creationId xmlns:p14="http://schemas.microsoft.com/office/powerpoint/2010/main" val="4230853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56</a:t>
            </a:fld>
            <a:endParaRPr lang="en-US"/>
          </a:p>
        </p:txBody>
      </p:sp>
    </p:spTree>
    <p:extLst>
      <p:ext uri="{BB962C8B-B14F-4D97-AF65-F5344CB8AC3E}">
        <p14:creationId xmlns:p14="http://schemas.microsoft.com/office/powerpoint/2010/main" val="2229101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Obj</a:t>
            </a:r>
            <a:r>
              <a:rPr lang="en-US" baseline="0" dirty="0"/>
              <a:t> = </a:t>
            </a:r>
            <a:r>
              <a:rPr lang="en-US" baseline="0" dirty="0" err="1"/>
              <a:t>pd.read_csv</a:t>
            </a:r>
            <a:r>
              <a:rPr lang="en-US" baseline="0" dirty="0"/>
              <a:t>(‘values.csv’)</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57</a:t>
            </a:fld>
            <a:endParaRPr lang="en-US"/>
          </a:p>
        </p:txBody>
      </p:sp>
    </p:spTree>
    <p:extLst>
      <p:ext uri="{BB962C8B-B14F-4D97-AF65-F5344CB8AC3E}">
        <p14:creationId xmlns:p14="http://schemas.microsoft.com/office/powerpoint/2010/main" val="3724870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a:t>
            </a:r>
            <a:r>
              <a:rPr lang="en-US" baseline="0" dirty="0"/>
              <a:t> = </a:t>
            </a:r>
            <a:r>
              <a:rPr lang="en-US" baseline="0" dirty="0" err="1"/>
              <a:t>frame.drop</a:t>
            </a:r>
            <a:r>
              <a:rPr lang="en-US" baseline="0" dirty="0"/>
              <a:t>('r1', 0)  # 0 for row, 1 for columns</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60</a:t>
            </a:fld>
            <a:endParaRPr lang="en-US"/>
          </a:p>
        </p:txBody>
      </p:sp>
    </p:spTree>
    <p:extLst>
      <p:ext uri="{BB962C8B-B14F-4D97-AF65-F5344CB8AC3E}">
        <p14:creationId xmlns:p14="http://schemas.microsoft.com/office/powerpoint/2010/main" val="588940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61</a:t>
            </a:fld>
            <a:endParaRPr lang="en-US"/>
          </a:p>
        </p:txBody>
      </p:sp>
    </p:spTree>
    <p:extLst>
      <p:ext uri="{BB962C8B-B14F-4D97-AF65-F5344CB8AC3E}">
        <p14:creationId xmlns:p14="http://schemas.microsoft.com/office/powerpoint/2010/main" val="630186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Obj</a:t>
            </a:r>
            <a:r>
              <a:rPr lang="en-US" baseline="0" dirty="0"/>
              <a:t> = </a:t>
            </a:r>
            <a:r>
              <a:rPr lang="en-US" baseline="0" dirty="0" err="1"/>
              <a:t>pd.read_csv</a:t>
            </a:r>
            <a:r>
              <a:rPr lang="en-US" baseline="0" dirty="0"/>
              <a:t>(‘values.csv’)</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64</a:t>
            </a:fld>
            <a:endParaRPr lang="en-US"/>
          </a:p>
        </p:txBody>
      </p:sp>
    </p:spTree>
    <p:extLst>
      <p:ext uri="{BB962C8B-B14F-4D97-AF65-F5344CB8AC3E}">
        <p14:creationId xmlns:p14="http://schemas.microsoft.com/office/powerpoint/2010/main" val="3724870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Obj</a:t>
            </a:r>
            <a:r>
              <a:rPr lang="en-US" baseline="0" dirty="0"/>
              <a:t> = </a:t>
            </a:r>
            <a:r>
              <a:rPr lang="en-US" baseline="0" dirty="0" err="1"/>
              <a:t>pd.read_csv</a:t>
            </a:r>
            <a:r>
              <a:rPr lang="en-US" baseline="0" dirty="0"/>
              <a:t>(‘values.csv’)</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70</a:t>
            </a:fld>
            <a:endParaRPr lang="en-US"/>
          </a:p>
        </p:txBody>
      </p:sp>
    </p:spTree>
    <p:extLst>
      <p:ext uri="{BB962C8B-B14F-4D97-AF65-F5344CB8AC3E}">
        <p14:creationId xmlns:p14="http://schemas.microsoft.com/office/powerpoint/2010/main" val="3724870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s.dropna</a:t>
            </a:r>
            <a:r>
              <a:rPr lang="en-US" dirty="0"/>
              <a:t>(</a:t>
            </a:r>
            <a:r>
              <a:rPr lang="en-US" dirty="0" err="1"/>
              <a:t>inplace</a:t>
            </a:r>
            <a:r>
              <a:rPr lang="en-US" dirty="0"/>
              <a:t>=True)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72</a:t>
            </a:fld>
            <a:endParaRPr lang="en-US"/>
          </a:p>
        </p:txBody>
      </p:sp>
    </p:spTree>
    <p:extLst>
      <p:ext uri="{BB962C8B-B14F-4D97-AF65-F5344CB8AC3E}">
        <p14:creationId xmlns:p14="http://schemas.microsoft.com/office/powerpoint/2010/main" val="691766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a:xfrm>
            <a:off x="79900" y="6483937"/>
            <a:ext cx="2920753" cy="365125"/>
          </a:xfrm>
        </p:spPr>
        <p:txBody>
          <a:bodyPr/>
          <a:lstStyle/>
          <a:p>
            <a:r>
              <a:rPr lang="en-US" dirty="0"/>
              <a:t>CS 4 (Python, Excel, MySQL) by Siva Jasthi</a:t>
            </a:r>
          </a:p>
        </p:txBody>
      </p:sp>
      <p:sp>
        <p:nvSpPr>
          <p:cNvPr id="6" name="Slide Number Placeholder 5"/>
          <p:cNvSpPr>
            <a:spLocks noGrp="1"/>
          </p:cNvSpPr>
          <p:nvPr>
            <p:ph type="sldNum" sz="quarter" idx="12"/>
          </p:nvPr>
        </p:nvSpPr>
        <p:spPr/>
        <p:txBody>
          <a:bodyPr/>
          <a:lstStyle/>
          <a:p>
            <a:fld id="{78817549-C8F9-8740-97B0-14CD78FB0450}" type="slidenum">
              <a: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1D5CD492-2BC6-F348-9965-EC1D86DF57A8}" type="slidenum">
              <a:rPr lang="en-US" smtClean="0"/>
              <a:t>‹#›</a:t>
            </a:fld>
            <a:endParaRPr lang="en-US"/>
          </a:p>
        </p:txBody>
      </p:sp>
    </p:spTree>
    <p:extLst>
      <p:ext uri="{BB962C8B-B14F-4D97-AF65-F5344CB8AC3E}">
        <p14:creationId xmlns:p14="http://schemas.microsoft.com/office/powerpoint/2010/main" val="96117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32BFE7-B7B2-40E7-8699-78FEADACB1A7}" type="datetimeFigureOut">
              <a:rPr lang="en-US" smtClean="0"/>
              <a:t>12/14/2024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FBFE8-0C96-44E6-8883-0D896A0AE0C9}" type="slidenum">
              <a:rPr lang="en-US" smtClean="0"/>
              <a:t>‹#›</a:t>
            </a:fld>
            <a:endParaRPr lang="en-US"/>
          </a:p>
        </p:txBody>
      </p:sp>
    </p:spTree>
    <p:extLst>
      <p:ext uri="{BB962C8B-B14F-4D97-AF65-F5344CB8AC3E}">
        <p14:creationId xmlns:p14="http://schemas.microsoft.com/office/powerpoint/2010/main" val="21481094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8C913-51B4-F746-BBF2-AA29BD605CBC}" type="datetimeFigureOut">
              <a:rPr lang="en-US"/>
              <a:pPr/>
              <a:t>12/14/2024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817549-C8F9-8740-97B0-14CD78FB0450}" type="slidenum">
              <a:rPr/>
              <a:pPr/>
              <a:t>‹#›</a:t>
            </a:fld>
            <a:endParaRPr lang="en-US"/>
          </a:p>
        </p:txBody>
      </p:sp>
      <p:pic>
        <p:nvPicPr>
          <p:cNvPr id="7" name="Picture 6">
            <a:extLst>
              <a:ext uri="{FF2B5EF4-FFF2-40B4-BE49-F238E27FC236}">
                <a16:creationId xmlns:a16="http://schemas.microsoft.com/office/drawing/2014/main" id="{5AD65354-21D8-45D7-A329-0F6307C90440}"/>
              </a:ext>
            </a:extLst>
          </p:cNvPr>
          <p:cNvPicPr>
            <a:picLocks noChangeAspect="1"/>
          </p:cNvPicPr>
          <p:nvPr userDrawn="1"/>
        </p:nvPicPr>
        <p:blipFill>
          <a:blip r:embed="rId5"/>
          <a:stretch>
            <a:fillRect/>
          </a:stretch>
        </p:blipFill>
        <p:spPr>
          <a:xfrm>
            <a:off x="10773280" y="24995"/>
            <a:ext cx="1389536" cy="57320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creating-a-pandas-dataframe/"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towardsdatascience.com/pandas-series-a-lightweight-intro-b7963a0d62a2" TargetMode="Externa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pandas.pydata.org/pandas-docs/version/0.23/generated/pandas.DataFrame.from_dict.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hyperlink" Target="https://pandas.pydata.org/pandas-docs/stable/reference/api/pandas.DataFrame.to_json.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hyperlink" Target="https://grouplens.org/datasets/movielens/"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learndatasci.com/tutorials/python-pandas-tutorial-complete-introduction-for-beginner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pandas.pydata.org/pandas-docs/stable/reference/io.html" TargetMode="External"/><Relationship Id="rId2" Type="http://schemas.openxmlformats.org/officeDocument/2006/relationships/hyperlink" Target="https://pandas.pydata.org/pandas-docs/stable/index.html" TargetMode="External"/><Relationship Id="rId1" Type="http://schemas.openxmlformats.org/officeDocument/2006/relationships/slideLayout" Target="../slideLayouts/slideLayout2.xml"/><Relationship Id="rId6" Type="http://schemas.openxmlformats.org/officeDocument/2006/relationships/hyperlink" Target="https://pandas.pydata.org/pandas-docs/stable/reference/plotting.html" TargetMode="External"/><Relationship Id="rId5" Type="http://schemas.openxmlformats.org/officeDocument/2006/relationships/hyperlink" Target="https://pandas.pydata.org/pandas-docs/stable/reference/series.html" TargetMode="External"/><Relationship Id="rId4" Type="http://schemas.openxmlformats.org/officeDocument/2006/relationships/hyperlink" Target="https://pandas.pydata.org/pandas-docs/stable/reference/frame.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www.cs.odu.edu/~sampath/courses/f19/cs620/files/data/values.csv"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scikit-learn.org/stable/datasets/toy_dataset.html"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39BF4AB0-9623-4F15-9723-5E7FE667B513}"/>
              </a:ext>
            </a:extLst>
          </p:cNvPr>
          <p:cNvSpPr>
            <a:spLocks noGrp="1"/>
          </p:cNvSpPr>
          <p:nvPr>
            <p:ph type="subTitle" idx="1"/>
          </p:nvPr>
        </p:nvSpPr>
        <p:spPr>
          <a:xfrm>
            <a:off x="2183685" y="4968672"/>
            <a:ext cx="7516166" cy="1356787"/>
          </a:xfrm>
        </p:spPr>
        <p:txBody>
          <a:bodyPr>
            <a:normAutofit/>
          </a:bodyPr>
          <a:lstStyle/>
          <a:p>
            <a:pPr>
              <a:buClrTx/>
              <a:buSzTx/>
              <a:buFontTx/>
              <a:buNone/>
            </a:pPr>
            <a:r>
              <a:rPr lang="en-US" altLang="en-US" sz="2400" b="1" dirty="0"/>
              <a:t>Siva R Jasthi</a:t>
            </a:r>
            <a:endParaRPr lang="en-US" altLang="en-US" sz="2400" dirty="0"/>
          </a:p>
          <a:p>
            <a:pPr>
              <a:buClrTx/>
              <a:buSzTx/>
              <a:buFontTx/>
              <a:buNone/>
            </a:pPr>
            <a:r>
              <a:rPr lang="en-US" altLang="en-US" sz="2400" dirty="0"/>
              <a:t>Computer Science and Cybersecurity</a:t>
            </a:r>
          </a:p>
          <a:p>
            <a:pPr>
              <a:buClrTx/>
              <a:buSzTx/>
              <a:buFontTx/>
              <a:buNone/>
            </a:pPr>
            <a:r>
              <a:rPr lang="en-US" altLang="en-US" sz="2400" dirty="0"/>
              <a:t>Metropolitan State University</a:t>
            </a:r>
          </a:p>
          <a:p>
            <a:endParaRPr lang="en-US" sz="2400" b="1" dirty="0">
              <a:solidFill>
                <a:srgbClr val="04B452"/>
              </a:solidFill>
            </a:endParaRPr>
          </a:p>
        </p:txBody>
      </p:sp>
      <p:sp>
        <p:nvSpPr>
          <p:cNvPr id="9" name="Subtitle 2">
            <a:extLst>
              <a:ext uri="{FF2B5EF4-FFF2-40B4-BE49-F238E27FC236}">
                <a16:creationId xmlns:a16="http://schemas.microsoft.com/office/drawing/2014/main" id="{F9471A7B-0F91-466C-9FCD-728090F5A931}"/>
              </a:ext>
            </a:extLst>
          </p:cNvPr>
          <p:cNvSpPr txBox="1">
            <a:spLocks/>
          </p:cNvSpPr>
          <p:nvPr/>
        </p:nvSpPr>
        <p:spPr>
          <a:xfrm>
            <a:off x="1774357" y="2837194"/>
            <a:ext cx="8334823" cy="1196560"/>
          </a:xfrm>
          <a:prstGeom prst="rect">
            <a:avLst/>
          </a:prstGeom>
          <a:solidFill>
            <a:srgbClr val="00B050"/>
          </a:solidFill>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2400" b="1">
              <a:solidFill>
                <a:schemeClr val="bg1"/>
              </a:solidFill>
            </a:endParaRPr>
          </a:p>
          <a:p>
            <a:r>
              <a:rPr lang="en-US" sz="2400" b="1">
                <a:solidFill>
                  <a:schemeClr val="bg1"/>
                </a:solidFill>
              </a:rPr>
              <a:t>pandas</a:t>
            </a:r>
            <a:endParaRPr lang="en-US" sz="2400" b="1" dirty="0">
              <a:solidFill>
                <a:schemeClr val="bg1"/>
              </a:solidFill>
            </a:endParaRPr>
          </a:p>
        </p:txBody>
      </p:sp>
      <p:graphicFrame>
        <p:nvGraphicFramePr>
          <p:cNvPr id="4" name="Table 5">
            <a:extLst>
              <a:ext uri="{FF2B5EF4-FFF2-40B4-BE49-F238E27FC236}">
                <a16:creationId xmlns:a16="http://schemas.microsoft.com/office/drawing/2014/main" id="{78989B7E-3B2D-44AE-8C5E-703EF42AD523}"/>
              </a:ext>
            </a:extLst>
          </p:cNvPr>
          <p:cNvGraphicFramePr>
            <a:graphicFrameLocks noGrp="1"/>
          </p:cNvGraphicFramePr>
          <p:nvPr>
            <p:extLst>
              <p:ext uri="{D42A27DB-BD31-4B8C-83A1-F6EECF244321}">
                <p14:modId xmlns:p14="http://schemas.microsoft.com/office/powerpoint/2010/main" val="3272414661"/>
              </p:ext>
            </p:extLst>
          </p:nvPr>
        </p:nvGraphicFramePr>
        <p:xfrm>
          <a:off x="2032000" y="719666"/>
          <a:ext cx="8128000" cy="1854200"/>
        </p:xfrm>
        <a:graphic>
          <a:graphicData uri="http://schemas.openxmlformats.org/drawingml/2006/table">
            <a:tbl>
              <a:tblPr firstRow="1" bandRow="1">
                <a:tableStyleId>{5940675A-B579-460E-94D1-54222C63F5DA}</a:tableStyleId>
              </a:tblPr>
              <a:tblGrid>
                <a:gridCol w="1784626">
                  <a:extLst>
                    <a:ext uri="{9D8B030D-6E8A-4147-A177-3AD203B41FA5}">
                      <a16:colId xmlns:a16="http://schemas.microsoft.com/office/drawing/2014/main" val="2221937530"/>
                    </a:ext>
                  </a:extLst>
                </a:gridCol>
                <a:gridCol w="6343374">
                  <a:extLst>
                    <a:ext uri="{9D8B030D-6E8A-4147-A177-3AD203B41FA5}">
                      <a16:colId xmlns:a16="http://schemas.microsoft.com/office/drawing/2014/main" val="379968204"/>
                    </a:ext>
                  </a:extLst>
                </a:gridCol>
              </a:tblGrid>
              <a:tr h="370840">
                <a:tc>
                  <a:txBody>
                    <a:bodyPr/>
                    <a:lstStyle/>
                    <a:p>
                      <a:r>
                        <a:rPr lang="en-US" dirty="0"/>
                        <a:t>Course</a:t>
                      </a:r>
                    </a:p>
                  </a:txBody>
                  <a:tcPr/>
                </a:tc>
                <a:tc>
                  <a:txBody>
                    <a:bodyPr/>
                    <a:lstStyle/>
                    <a:p>
                      <a:endParaRPr lang="en-US" dirty="0"/>
                    </a:p>
                  </a:txBody>
                  <a:tcPr/>
                </a:tc>
                <a:extLst>
                  <a:ext uri="{0D108BD9-81ED-4DB2-BD59-A6C34878D82A}">
                    <a16:rowId xmlns:a16="http://schemas.microsoft.com/office/drawing/2014/main" val="2642101462"/>
                  </a:ext>
                </a:extLst>
              </a:tr>
              <a:tr h="370840">
                <a:tc>
                  <a:txBody>
                    <a:bodyPr/>
                    <a:lstStyle/>
                    <a:p>
                      <a:r>
                        <a:rPr lang="en-US" dirty="0"/>
                        <a:t>Term</a:t>
                      </a:r>
                    </a:p>
                  </a:txBody>
                  <a:tcPr/>
                </a:tc>
                <a:tc>
                  <a:txBody>
                    <a:bodyPr/>
                    <a:lstStyle/>
                    <a:p>
                      <a:endParaRPr lang="en-US" dirty="0"/>
                    </a:p>
                  </a:txBody>
                  <a:tcPr/>
                </a:tc>
                <a:extLst>
                  <a:ext uri="{0D108BD9-81ED-4DB2-BD59-A6C34878D82A}">
                    <a16:rowId xmlns:a16="http://schemas.microsoft.com/office/drawing/2014/main" val="176277694"/>
                  </a:ext>
                </a:extLst>
              </a:tr>
              <a:tr h="370840">
                <a:tc>
                  <a:txBody>
                    <a:bodyPr/>
                    <a:lstStyle/>
                    <a:p>
                      <a:r>
                        <a:rPr lang="en-US" dirty="0"/>
                        <a:t>Week</a:t>
                      </a:r>
                    </a:p>
                  </a:txBody>
                  <a:tcPr/>
                </a:tc>
                <a:tc>
                  <a:txBody>
                    <a:bodyPr/>
                    <a:lstStyle/>
                    <a:p>
                      <a:endParaRPr lang="en-US" dirty="0"/>
                    </a:p>
                  </a:txBody>
                  <a:tcPr/>
                </a:tc>
                <a:extLst>
                  <a:ext uri="{0D108BD9-81ED-4DB2-BD59-A6C34878D82A}">
                    <a16:rowId xmlns:a16="http://schemas.microsoft.com/office/drawing/2014/main" val="1975050456"/>
                  </a:ext>
                </a:extLst>
              </a:tr>
              <a:tr h="370840">
                <a:tc>
                  <a:txBody>
                    <a:bodyPr/>
                    <a:lstStyle/>
                    <a:p>
                      <a:r>
                        <a:rPr lang="en-US" dirty="0"/>
                        <a:t>Date</a:t>
                      </a:r>
                    </a:p>
                  </a:txBody>
                  <a:tcPr/>
                </a:tc>
                <a:tc>
                  <a:txBody>
                    <a:bodyPr/>
                    <a:lstStyle/>
                    <a:p>
                      <a:endParaRPr lang="en-US" dirty="0"/>
                    </a:p>
                  </a:txBody>
                  <a:tcPr/>
                </a:tc>
                <a:extLst>
                  <a:ext uri="{0D108BD9-81ED-4DB2-BD59-A6C34878D82A}">
                    <a16:rowId xmlns:a16="http://schemas.microsoft.com/office/drawing/2014/main" val="452127006"/>
                  </a:ext>
                </a:extLst>
              </a:tr>
              <a:tr h="370840">
                <a:tc>
                  <a:txBody>
                    <a:bodyPr/>
                    <a:lstStyle/>
                    <a:p>
                      <a:r>
                        <a:rPr lang="en-US" dirty="0"/>
                        <a:t>Chapter. Topic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Introduction </a:t>
                      </a:r>
                      <a:r>
                        <a:rPr lang="en-US"/>
                        <a:t>to Pandas</a:t>
                      </a:r>
                      <a:endParaRPr lang="en-US" dirty="0"/>
                    </a:p>
                  </a:txBody>
                  <a:tcPr/>
                </a:tc>
                <a:extLst>
                  <a:ext uri="{0D108BD9-81ED-4DB2-BD59-A6C34878D82A}">
                    <a16:rowId xmlns:a16="http://schemas.microsoft.com/office/drawing/2014/main" val="27038728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367" y="1096268"/>
            <a:ext cx="11494417" cy="4525963"/>
          </a:xfrm>
        </p:spPr>
        <p:txBody>
          <a:bodyPr/>
          <a:lstStyle/>
          <a:p>
            <a:r>
              <a:rPr lang="en-US" dirty="0"/>
              <a:t>One of the most popular libraries for data analysis </a:t>
            </a:r>
          </a:p>
          <a:p>
            <a:r>
              <a:rPr lang="en-US" dirty="0"/>
              <a:t>Pandas: The name is derived from the term "</a:t>
            </a:r>
            <a:r>
              <a:rPr lang="en-US" dirty="0">
                <a:highlight>
                  <a:srgbClr val="FFFF00"/>
                </a:highlight>
              </a:rPr>
              <a:t>pan</a:t>
            </a:r>
            <a:r>
              <a:rPr lang="en-US" dirty="0"/>
              <a:t>el </a:t>
            </a:r>
            <a:r>
              <a:rPr lang="en-US" dirty="0">
                <a:highlight>
                  <a:srgbClr val="FFFF00"/>
                </a:highlight>
              </a:rPr>
              <a:t>da</a:t>
            </a:r>
            <a:r>
              <a:rPr lang="en-US" dirty="0"/>
              <a:t>ta </a:t>
            </a:r>
            <a:r>
              <a:rPr lang="en-US" dirty="0">
                <a:highlight>
                  <a:srgbClr val="FFFF00"/>
                </a:highlight>
              </a:rPr>
              <a:t>s</a:t>
            </a:r>
            <a:r>
              <a:rPr lang="en-US" dirty="0"/>
              <a:t>ystems", an econometrics term for data sets that include both time-series and cross-sectional data</a:t>
            </a:r>
          </a:p>
          <a:p>
            <a:r>
              <a:rPr lang="en-US" dirty="0"/>
              <a:t> It is an open-source product. </a:t>
            </a:r>
          </a:p>
          <a:p>
            <a:endParaRPr lang="en-US" dirty="0"/>
          </a:p>
          <a:p>
            <a:endParaRPr lang="en-US" dirty="0"/>
          </a:p>
        </p:txBody>
      </p:sp>
      <p:sp>
        <p:nvSpPr>
          <p:cNvPr id="6" name="Title 1">
            <a:extLst>
              <a:ext uri="{FF2B5EF4-FFF2-40B4-BE49-F238E27FC236}">
                <a16:creationId xmlns:a16="http://schemas.microsoft.com/office/drawing/2014/main" id="{B2FE6143-E7A1-4833-352F-FD59C63B969B}"/>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What is pandas?</a:t>
            </a:r>
            <a:endParaRPr lang="en-US" sz="4800" dirty="0">
              <a:solidFill>
                <a:srgbClr val="04B452"/>
              </a:solidFill>
            </a:endParaRPr>
          </a:p>
        </p:txBody>
      </p:sp>
      <p:pic>
        <p:nvPicPr>
          <p:cNvPr id="1026" name="Picture 2">
            <a:extLst>
              <a:ext uri="{FF2B5EF4-FFF2-40B4-BE49-F238E27FC236}">
                <a16:creationId xmlns:a16="http://schemas.microsoft.com/office/drawing/2014/main" id="{E7459618-7BB8-A328-CA48-09A6632FB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3867" y="2770238"/>
            <a:ext cx="8271913" cy="3350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784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8515" y="965105"/>
            <a:ext cx="10972800" cy="4525963"/>
          </a:xfrm>
        </p:spPr>
        <p:txBody>
          <a:bodyPr/>
          <a:lstStyle/>
          <a:p>
            <a:r>
              <a:rPr lang="en-US" dirty="0"/>
              <a:t>It is built on top of NumPy</a:t>
            </a:r>
          </a:p>
          <a:p>
            <a:r>
              <a:rPr lang="en-US" dirty="0"/>
              <a:t>Key components provided by Pandas: (1) Series and (2) </a:t>
            </a:r>
            <a:r>
              <a:rPr lang="en-US" dirty="0" err="1"/>
              <a:t>DataFrame</a:t>
            </a:r>
            <a:endParaRPr lang="en-US" dirty="0"/>
          </a:p>
          <a:p>
            <a:endParaRPr lang="en-US" dirty="0"/>
          </a:p>
        </p:txBody>
      </p:sp>
      <p:sp>
        <p:nvSpPr>
          <p:cNvPr id="8" name="Title 1">
            <a:extLst>
              <a:ext uri="{FF2B5EF4-FFF2-40B4-BE49-F238E27FC236}">
                <a16:creationId xmlns:a16="http://schemas.microsoft.com/office/drawing/2014/main" id="{7915DADC-8D10-4342-51D8-2A244FAB9041}"/>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What is pandas? (Contd.)</a:t>
            </a:r>
            <a:endParaRPr lang="en-US" sz="4800" dirty="0">
              <a:solidFill>
                <a:srgbClr val="04B452"/>
              </a:solidFill>
            </a:endParaRPr>
          </a:p>
        </p:txBody>
      </p:sp>
      <p:sp>
        <p:nvSpPr>
          <p:cNvPr id="9" name="Rectangle: Rounded Corners 8">
            <a:extLst>
              <a:ext uri="{FF2B5EF4-FFF2-40B4-BE49-F238E27FC236}">
                <a16:creationId xmlns:a16="http://schemas.microsoft.com/office/drawing/2014/main" id="{E30FE026-F35E-6FAE-F914-09169187D509}"/>
              </a:ext>
            </a:extLst>
          </p:cNvPr>
          <p:cNvSpPr/>
          <p:nvPr/>
        </p:nvSpPr>
        <p:spPr>
          <a:xfrm>
            <a:off x="3384222" y="5236239"/>
            <a:ext cx="4543720" cy="914400"/>
          </a:xfrm>
          <a:prstGeom prst="roundRect">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solidFill>
                  <a:schemeClr val="tx1"/>
                </a:solidFill>
              </a:rPr>
              <a:t>python</a:t>
            </a:r>
          </a:p>
        </p:txBody>
      </p:sp>
      <p:sp>
        <p:nvSpPr>
          <p:cNvPr id="10" name="Rectangle: Rounded Corners 9">
            <a:extLst>
              <a:ext uri="{FF2B5EF4-FFF2-40B4-BE49-F238E27FC236}">
                <a16:creationId xmlns:a16="http://schemas.microsoft.com/office/drawing/2014/main" id="{693B0D85-2C77-3DB2-EF61-9903C21AB501}"/>
              </a:ext>
            </a:extLst>
          </p:cNvPr>
          <p:cNvSpPr/>
          <p:nvPr/>
        </p:nvSpPr>
        <p:spPr>
          <a:xfrm>
            <a:off x="3384222" y="4089801"/>
            <a:ext cx="4543720" cy="914400"/>
          </a:xfrm>
          <a:prstGeom prst="roundRect">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err="1">
                <a:solidFill>
                  <a:schemeClr val="tx1"/>
                </a:solidFill>
              </a:rPr>
              <a:t>numpy</a:t>
            </a:r>
            <a:endParaRPr lang="en-US" sz="3200" dirty="0">
              <a:solidFill>
                <a:schemeClr val="tx1"/>
              </a:solidFill>
            </a:endParaRPr>
          </a:p>
        </p:txBody>
      </p:sp>
      <p:sp>
        <p:nvSpPr>
          <p:cNvPr id="11" name="Rectangle: Rounded Corners 10">
            <a:extLst>
              <a:ext uri="{FF2B5EF4-FFF2-40B4-BE49-F238E27FC236}">
                <a16:creationId xmlns:a16="http://schemas.microsoft.com/office/drawing/2014/main" id="{11E5F53E-1F88-AC34-246B-FE2E65195206}"/>
              </a:ext>
            </a:extLst>
          </p:cNvPr>
          <p:cNvSpPr/>
          <p:nvPr/>
        </p:nvSpPr>
        <p:spPr>
          <a:xfrm>
            <a:off x="3312886" y="2300748"/>
            <a:ext cx="4543720" cy="1521505"/>
          </a:xfrm>
          <a:prstGeom prst="roundRect">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solidFill>
                  <a:schemeClr val="tx1"/>
                </a:solidFill>
              </a:rPr>
              <a:t>Pandas</a:t>
            </a:r>
          </a:p>
          <a:p>
            <a:pPr algn="ctr"/>
            <a:endParaRPr lang="en-US" sz="3200" dirty="0">
              <a:solidFill>
                <a:schemeClr val="tx1"/>
              </a:solidFill>
            </a:endParaRPr>
          </a:p>
          <a:p>
            <a:pPr algn="ctr"/>
            <a:r>
              <a:rPr lang="en-US" sz="3200" dirty="0">
                <a:solidFill>
                  <a:schemeClr val="tx1"/>
                </a:solidFill>
              </a:rPr>
              <a:t>Series and </a:t>
            </a:r>
            <a:r>
              <a:rPr lang="en-US" sz="3200" dirty="0" err="1">
                <a:solidFill>
                  <a:schemeClr val="tx1"/>
                </a:solidFill>
              </a:rPr>
              <a:t>DataFrame</a:t>
            </a:r>
            <a:endParaRPr lang="en-US" sz="3200" dirty="0">
              <a:solidFill>
                <a:schemeClr val="tx1"/>
              </a:solidFill>
            </a:endParaRPr>
          </a:p>
        </p:txBody>
      </p:sp>
      <p:cxnSp>
        <p:nvCxnSpPr>
          <p:cNvPr id="4" name="Straight Connector 3">
            <a:extLst>
              <a:ext uri="{FF2B5EF4-FFF2-40B4-BE49-F238E27FC236}">
                <a16:creationId xmlns:a16="http://schemas.microsoft.com/office/drawing/2014/main" id="{8E6F5C6F-D51E-4972-F595-D8ABA4434447}"/>
              </a:ext>
            </a:extLst>
          </p:cNvPr>
          <p:cNvCxnSpPr>
            <a:stCxn id="11" idx="1"/>
            <a:endCxn id="11" idx="3"/>
          </p:cNvCxnSpPr>
          <p:nvPr/>
        </p:nvCxnSpPr>
        <p:spPr>
          <a:xfrm>
            <a:off x="3312886" y="3061501"/>
            <a:ext cx="45437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60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915DADC-8D10-4342-51D8-2A244FAB9041}"/>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pandas DataFrame: overview</a:t>
            </a:r>
            <a:endParaRPr lang="en-US" sz="4800" dirty="0">
              <a:solidFill>
                <a:srgbClr val="04B452"/>
              </a:solidFill>
            </a:endParaRPr>
          </a:p>
        </p:txBody>
      </p:sp>
      <p:pic>
        <p:nvPicPr>
          <p:cNvPr id="2050" name="Picture 2">
            <a:extLst>
              <a:ext uri="{FF2B5EF4-FFF2-40B4-BE49-F238E27FC236}">
                <a16:creationId xmlns:a16="http://schemas.microsoft.com/office/drawing/2014/main" id="{CFBAF8B0-61FD-769F-A9AF-EDEADBA9F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085141"/>
            <a:ext cx="12192000" cy="507523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C7A70F-8A93-4BC7-CC24-278B7919927B}"/>
              </a:ext>
            </a:extLst>
          </p:cNvPr>
          <p:cNvSpPr txBox="1"/>
          <p:nvPr/>
        </p:nvSpPr>
        <p:spPr>
          <a:xfrm>
            <a:off x="1370304" y="6298119"/>
            <a:ext cx="6230564" cy="369332"/>
          </a:xfrm>
          <a:prstGeom prst="rect">
            <a:avLst/>
          </a:prstGeom>
          <a:noFill/>
        </p:spPr>
        <p:txBody>
          <a:bodyPr wrap="square">
            <a:spAutoFit/>
          </a:bodyPr>
          <a:lstStyle/>
          <a:p>
            <a:r>
              <a:rPr lang="en-US">
                <a:hlinkClick r:id="rId3"/>
              </a:rPr>
              <a:t>https://www.geeksforgeeks.org/creating-a-pandas-dataframe/</a:t>
            </a:r>
            <a:r>
              <a:rPr lang="en-US"/>
              <a:t> </a:t>
            </a:r>
          </a:p>
        </p:txBody>
      </p:sp>
    </p:spTree>
    <p:extLst>
      <p:ext uri="{BB962C8B-B14F-4D97-AF65-F5344CB8AC3E}">
        <p14:creationId xmlns:p14="http://schemas.microsoft.com/office/powerpoint/2010/main" val="74161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2C8DD2D-325E-CBC1-5B89-2B9AB0430B1E}"/>
              </a:ext>
            </a:extLst>
          </p:cNvPr>
          <p:cNvPicPr>
            <a:picLocks noChangeAspect="1"/>
          </p:cNvPicPr>
          <p:nvPr/>
        </p:nvPicPr>
        <p:blipFill>
          <a:blip r:embed="rId3"/>
          <a:stretch>
            <a:fillRect/>
          </a:stretch>
        </p:blipFill>
        <p:spPr>
          <a:xfrm>
            <a:off x="322518" y="2247889"/>
            <a:ext cx="7886700" cy="2105025"/>
          </a:xfrm>
          <a:prstGeom prst="rect">
            <a:avLst/>
          </a:prstGeom>
        </p:spPr>
      </p:pic>
      <p:sp>
        <p:nvSpPr>
          <p:cNvPr id="3" name="Content Placeholder 2"/>
          <p:cNvSpPr>
            <a:spLocks noGrp="1"/>
          </p:cNvSpPr>
          <p:nvPr>
            <p:ph idx="1"/>
          </p:nvPr>
        </p:nvSpPr>
        <p:spPr>
          <a:xfrm>
            <a:off x="439916" y="930898"/>
            <a:ext cx="11494417" cy="4525963"/>
          </a:xfrm>
        </p:spPr>
        <p:txBody>
          <a:bodyPr/>
          <a:lstStyle/>
          <a:p>
            <a:r>
              <a:rPr lang="en-US"/>
              <a:t>display(dataframe)</a:t>
            </a:r>
          </a:p>
          <a:p>
            <a:endParaRPr lang="en-US" dirty="0"/>
          </a:p>
          <a:p>
            <a:endParaRPr lang="en-US" dirty="0"/>
          </a:p>
        </p:txBody>
      </p:sp>
      <p:sp>
        <p:nvSpPr>
          <p:cNvPr id="6" name="Title 1">
            <a:extLst>
              <a:ext uri="{FF2B5EF4-FFF2-40B4-BE49-F238E27FC236}">
                <a16:creationId xmlns:a16="http://schemas.microsoft.com/office/drawing/2014/main" id="{B2FE6143-E7A1-4833-352F-FD59C63B969B}"/>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What is pandas? (contd.)</a:t>
            </a:r>
            <a:endParaRPr lang="en-US" sz="4800" dirty="0">
              <a:solidFill>
                <a:srgbClr val="04B452"/>
              </a:solidFill>
            </a:endParaRPr>
          </a:p>
        </p:txBody>
      </p:sp>
      <p:pic>
        <p:nvPicPr>
          <p:cNvPr id="10" name="Picture 9">
            <a:extLst>
              <a:ext uri="{FF2B5EF4-FFF2-40B4-BE49-F238E27FC236}">
                <a16:creationId xmlns:a16="http://schemas.microsoft.com/office/drawing/2014/main" id="{DC0A2938-536A-D426-9BE1-057BA102FE66}"/>
              </a:ext>
            </a:extLst>
          </p:cNvPr>
          <p:cNvPicPr>
            <a:picLocks noChangeAspect="1"/>
          </p:cNvPicPr>
          <p:nvPr/>
        </p:nvPicPr>
        <p:blipFill>
          <a:blip r:embed="rId4"/>
          <a:stretch>
            <a:fillRect/>
          </a:stretch>
        </p:blipFill>
        <p:spPr>
          <a:xfrm>
            <a:off x="4485586" y="4431934"/>
            <a:ext cx="6693691" cy="2341918"/>
          </a:xfrm>
          <a:prstGeom prst="rect">
            <a:avLst/>
          </a:prstGeom>
        </p:spPr>
      </p:pic>
      <p:pic>
        <p:nvPicPr>
          <p:cNvPr id="4" name="Picture 3">
            <a:extLst>
              <a:ext uri="{FF2B5EF4-FFF2-40B4-BE49-F238E27FC236}">
                <a16:creationId xmlns:a16="http://schemas.microsoft.com/office/drawing/2014/main" id="{6F4938BF-B7B2-C79F-8C25-D3FB4980F6A2}"/>
              </a:ext>
            </a:extLst>
          </p:cNvPr>
          <p:cNvPicPr>
            <a:picLocks noChangeAspect="1"/>
          </p:cNvPicPr>
          <p:nvPr/>
        </p:nvPicPr>
        <p:blipFill>
          <a:blip r:embed="rId5"/>
          <a:stretch>
            <a:fillRect/>
          </a:stretch>
        </p:blipFill>
        <p:spPr>
          <a:xfrm>
            <a:off x="4965667" y="832421"/>
            <a:ext cx="5044096" cy="1775855"/>
          </a:xfrm>
          <a:prstGeom prst="rect">
            <a:avLst/>
          </a:prstGeom>
        </p:spPr>
      </p:pic>
    </p:spTree>
    <p:extLst>
      <p:ext uri="{BB962C8B-B14F-4D97-AF65-F5344CB8AC3E}">
        <p14:creationId xmlns:p14="http://schemas.microsoft.com/office/powerpoint/2010/main" val="2770623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2660" y="327893"/>
            <a:ext cx="9144000" cy="1588939"/>
          </a:xfrm>
        </p:spPr>
        <p:txBody>
          <a:bodyPr>
            <a:normAutofit/>
          </a:bodyPr>
          <a:lstStyle/>
          <a:p>
            <a:r>
              <a:rPr lang="en-US">
                <a:solidFill>
                  <a:srgbClr val="00B050"/>
                </a:solidFill>
              </a:rPr>
              <a:t>Pandas Series</a:t>
            </a:r>
            <a:endParaRPr lang="en-US" dirty="0">
              <a:solidFill>
                <a:srgbClr val="00B050"/>
              </a:solidFill>
            </a:endParaRPr>
          </a:p>
        </p:txBody>
      </p:sp>
      <p:pic>
        <p:nvPicPr>
          <p:cNvPr id="3" name="Picture 2">
            <a:extLst>
              <a:ext uri="{FF2B5EF4-FFF2-40B4-BE49-F238E27FC236}">
                <a16:creationId xmlns:a16="http://schemas.microsoft.com/office/drawing/2014/main" id="{8BFDC4AB-ACBC-EB14-2F84-2D6535776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448" y="1998777"/>
            <a:ext cx="8334375" cy="31432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AF5FE86-BDE4-47ED-128E-3DC2F5B50020}"/>
              </a:ext>
            </a:extLst>
          </p:cNvPr>
          <p:cNvSpPr txBox="1"/>
          <p:nvPr/>
        </p:nvSpPr>
        <p:spPr>
          <a:xfrm>
            <a:off x="341722" y="6058781"/>
            <a:ext cx="8236670" cy="369332"/>
          </a:xfrm>
          <a:prstGeom prst="rect">
            <a:avLst/>
          </a:prstGeom>
          <a:noFill/>
        </p:spPr>
        <p:txBody>
          <a:bodyPr wrap="square">
            <a:spAutoFit/>
          </a:bodyPr>
          <a:lstStyle/>
          <a:p>
            <a:r>
              <a:rPr lang="en-US">
                <a:hlinkClick r:id="rId3"/>
              </a:rPr>
              <a:t>https://towardsdatascience.com/pandas-series-a-lightweight-intro-b7963a0d62a2</a:t>
            </a:r>
            <a:r>
              <a:rPr lang="en-US"/>
              <a:t> </a:t>
            </a:r>
          </a:p>
        </p:txBody>
      </p:sp>
    </p:spTree>
    <p:extLst>
      <p:ext uri="{BB962C8B-B14F-4D97-AF65-F5344CB8AC3E}">
        <p14:creationId xmlns:p14="http://schemas.microsoft.com/office/powerpoint/2010/main" val="4046883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28" y="938274"/>
            <a:ext cx="4520987" cy="5530620"/>
          </a:xfrm>
        </p:spPr>
        <p:txBody>
          <a:bodyPr>
            <a:normAutofit fontScale="92500"/>
          </a:bodyPr>
          <a:lstStyle/>
          <a:p>
            <a:r>
              <a:rPr lang="en-US" dirty="0"/>
              <a:t>Series = a column in a </a:t>
            </a:r>
            <a:r>
              <a:rPr lang="en-US" dirty="0" err="1"/>
              <a:t>dataframe</a:t>
            </a:r>
            <a:endParaRPr lang="en-US" dirty="0"/>
          </a:p>
          <a:p>
            <a:r>
              <a:rPr lang="en-US" dirty="0">
                <a:highlight>
                  <a:srgbClr val="FFFF00"/>
                </a:highlight>
              </a:rPr>
              <a:t>Series = a row in a data frame</a:t>
            </a:r>
          </a:p>
          <a:p>
            <a:r>
              <a:rPr lang="en-US" dirty="0">
                <a:highlight>
                  <a:srgbClr val="FFFF00"/>
                </a:highlight>
              </a:rPr>
              <a:t>Series = row </a:t>
            </a:r>
            <a:r>
              <a:rPr lang="en-US" dirty="0"/>
              <a:t>or column can be partial data matching some criteria</a:t>
            </a:r>
          </a:p>
          <a:p>
            <a:endParaRPr lang="en-US" dirty="0"/>
          </a:p>
          <a:p>
            <a:r>
              <a:rPr lang="en-US" dirty="0"/>
              <a:t>Typically, a series contains data of some type. (</a:t>
            </a:r>
            <a:r>
              <a:rPr lang="en-US" dirty="0" err="1"/>
              <a:t>ints</a:t>
            </a:r>
            <a:r>
              <a:rPr lang="en-US" dirty="0"/>
              <a:t>, strings, floats).</a:t>
            </a:r>
          </a:p>
          <a:p>
            <a:endParaRPr lang="en-US" dirty="0"/>
          </a:p>
          <a:p>
            <a:r>
              <a:rPr lang="en-US" dirty="0"/>
              <a:t>However, if add a float data to int column, then the whole series becomes ‘float’.</a:t>
            </a:r>
          </a:p>
          <a:p>
            <a:r>
              <a:rPr lang="en-US" dirty="0"/>
              <a:t>Similarly, if you add “string” data to a “float” column, then the whole series becomes “string”</a:t>
            </a:r>
          </a:p>
        </p:txBody>
      </p:sp>
      <p:sp>
        <p:nvSpPr>
          <p:cNvPr id="6" name="Title 1">
            <a:extLst>
              <a:ext uri="{FF2B5EF4-FFF2-40B4-BE49-F238E27FC236}">
                <a16:creationId xmlns:a16="http://schemas.microsoft.com/office/drawing/2014/main" id="{876EA338-6CE1-68D5-E77F-331CD89B014D}"/>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Series</a:t>
            </a:r>
            <a:endParaRPr lang="en-US" sz="4800" dirty="0">
              <a:solidFill>
                <a:srgbClr val="04B452"/>
              </a:solidFill>
            </a:endParaRPr>
          </a:p>
        </p:txBody>
      </p:sp>
      <p:pic>
        <p:nvPicPr>
          <p:cNvPr id="1026" name="Picture 2" descr="PyBites Bite 251. Introducing Pandas Series">
            <a:extLst>
              <a:ext uri="{FF2B5EF4-FFF2-40B4-BE49-F238E27FC236}">
                <a16:creationId xmlns:a16="http://schemas.microsoft.com/office/drawing/2014/main" id="{120DE8AD-1A02-8BAC-5FC2-0738F28C0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9284" y="1157226"/>
            <a:ext cx="542925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280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29" y="938274"/>
            <a:ext cx="3584324" cy="5530620"/>
          </a:xfrm>
        </p:spPr>
        <p:txBody>
          <a:bodyPr/>
          <a:lstStyle/>
          <a:p>
            <a:r>
              <a:rPr lang="en-US" dirty="0"/>
              <a:t>One dimensional array-like object</a:t>
            </a:r>
          </a:p>
          <a:p>
            <a:r>
              <a:rPr lang="en-US" dirty="0"/>
              <a:t>It </a:t>
            </a:r>
            <a:r>
              <a:rPr lang="en-US"/>
              <a:t>contains an array </a:t>
            </a:r>
            <a:r>
              <a:rPr lang="en-US" dirty="0"/>
              <a:t>of data (of any </a:t>
            </a:r>
            <a:r>
              <a:rPr lang="en-US" dirty="0" err="1"/>
              <a:t>NumPy</a:t>
            </a:r>
            <a:r>
              <a:rPr lang="en-US" dirty="0"/>
              <a:t> data type) with associated indexes</a:t>
            </a:r>
            <a:r>
              <a:rPr lang="en-US"/>
              <a:t>. </a:t>
            </a:r>
            <a:endParaRPr lang="en-US" dirty="0"/>
          </a:p>
          <a:p>
            <a:r>
              <a:rPr lang="en-US"/>
              <a:t>By default, the index will be from 0 to size-1 </a:t>
            </a:r>
          </a:p>
          <a:p>
            <a:r>
              <a:rPr lang="en-US"/>
              <a:t>However, the indexes can be labeled with other data types (ex. Strings) </a:t>
            </a:r>
            <a:endParaRPr lang="en-US" dirty="0"/>
          </a:p>
          <a:p>
            <a:endParaRPr lang="en-US" dirty="0"/>
          </a:p>
          <a:p>
            <a:endParaRPr lang="en-US" dirty="0"/>
          </a:p>
          <a:p>
            <a:endParaRPr lang="en-US" dirty="0"/>
          </a:p>
        </p:txBody>
      </p:sp>
      <p:sp>
        <p:nvSpPr>
          <p:cNvPr id="6" name="Title 1">
            <a:extLst>
              <a:ext uri="{FF2B5EF4-FFF2-40B4-BE49-F238E27FC236}">
                <a16:creationId xmlns:a16="http://schemas.microsoft.com/office/drawing/2014/main" id="{876EA338-6CE1-68D5-E77F-331CD89B014D}"/>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Series</a:t>
            </a:r>
            <a:endParaRPr lang="en-US" sz="4800" dirty="0">
              <a:solidFill>
                <a:srgbClr val="04B452"/>
              </a:solidFill>
            </a:endParaRPr>
          </a:p>
        </p:txBody>
      </p:sp>
      <p:pic>
        <p:nvPicPr>
          <p:cNvPr id="10" name="Picture 9">
            <a:extLst>
              <a:ext uri="{FF2B5EF4-FFF2-40B4-BE49-F238E27FC236}">
                <a16:creationId xmlns:a16="http://schemas.microsoft.com/office/drawing/2014/main" id="{D1189E54-DA18-5EB0-C9D6-2C0B6CD24E50}"/>
              </a:ext>
            </a:extLst>
          </p:cNvPr>
          <p:cNvPicPr>
            <a:picLocks noChangeAspect="1"/>
          </p:cNvPicPr>
          <p:nvPr/>
        </p:nvPicPr>
        <p:blipFill>
          <a:blip r:embed="rId2"/>
          <a:stretch>
            <a:fillRect/>
          </a:stretch>
        </p:blipFill>
        <p:spPr>
          <a:xfrm>
            <a:off x="4188974" y="382004"/>
            <a:ext cx="3619500" cy="4191000"/>
          </a:xfrm>
          <a:prstGeom prst="rect">
            <a:avLst/>
          </a:prstGeom>
        </p:spPr>
      </p:pic>
      <p:pic>
        <p:nvPicPr>
          <p:cNvPr id="12" name="Picture 11">
            <a:extLst>
              <a:ext uri="{FF2B5EF4-FFF2-40B4-BE49-F238E27FC236}">
                <a16:creationId xmlns:a16="http://schemas.microsoft.com/office/drawing/2014/main" id="{121F2D60-A5C6-1E93-5E7B-E459476A21E7}"/>
              </a:ext>
            </a:extLst>
          </p:cNvPr>
          <p:cNvPicPr>
            <a:picLocks noChangeAspect="1"/>
          </p:cNvPicPr>
          <p:nvPr/>
        </p:nvPicPr>
        <p:blipFill>
          <a:blip r:embed="rId3"/>
          <a:stretch>
            <a:fillRect/>
          </a:stretch>
        </p:blipFill>
        <p:spPr>
          <a:xfrm>
            <a:off x="8523711" y="3127936"/>
            <a:ext cx="3455302" cy="3594370"/>
          </a:xfrm>
          <a:prstGeom prst="rect">
            <a:avLst/>
          </a:prstGeom>
        </p:spPr>
      </p:pic>
      <p:sp>
        <p:nvSpPr>
          <p:cNvPr id="14" name="Arrow: Right 13">
            <a:extLst>
              <a:ext uri="{FF2B5EF4-FFF2-40B4-BE49-F238E27FC236}">
                <a16:creationId xmlns:a16="http://schemas.microsoft.com/office/drawing/2014/main" id="{0348615A-CE43-3337-961D-FD3016E57E74}"/>
              </a:ext>
            </a:extLst>
          </p:cNvPr>
          <p:cNvSpPr/>
          <p:nvPr/>
        </p:nvSpPr>
        <p:spPr>
          <a:xfrm rot="1997055">
            <a:off x="7470844" y="3932306"/>
            <a:ext cx="978408"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832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28" y="938274"/>
            <a:ext cx="9318624" cy="5530620"/>
          </a:xfrm>
        </p:spPr>
        <p:txBody>
          <a:bodyPr/>
          <a:lstStyle/>
          <a:p>
            <a:r>
              <a:rPr lang="en-US" dirty="0"/>
              <a:t>See the google </a:t>
            </a:r>
            <a:r>
              <a:rPr lang="en-US" dirty="0" err="1"/>
              <a:t>colab</a:t>
            </a:r>
            <a:r>
              <a:rPr lang="en-US" dirty="0"/>
              <a:t> notebook  (1_pandas_intro_to_series.ipynb) </a:t>
            </a:r>
          </a:p>
        </p:txBody>
      </p:sp>
      <p:sp>
        <p:nvSpPr>
          <p:cNvPr id="6" name="Title 1">
            <a:extLst>
              <a:ext uri="{FF2B5EF4-FFF2-40B4-BE49-F238E27FC236}">
                <a16:creationId xmlns:a16="http://schemas.microsoft.com/office/drawing/2014/main" id="{876EA338-6CE1-68D5-E77F-331CD89B014D}"/>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Series: Exploration </a:t>
            </a:r>
            <a:endParaRPr lang="en-US" sz="4800" dirty="0">
              <a:solidFill>
                <a:srgbClr val="04B452"/>
              </a:solidFill>
            </a:endParaRPr>
          </a:p>
        </p:txBody>
      </p:sp>
      <p:pic>
        <p:nvPicPr>
          <p:cNvPr id="4" name="Picture 3">
            <a:extLst>
              <a:ext uri="{FF2B5EF4-FFF2-40B4-BE49-F238E27FC236}">
                <a16:creationId xmlns:a16="http://schemas.microsoft.com/office/drawing/2014/main" id="{883FA276-6CBF-9BDD-732F-6EB32A4F8CEE}"/>
              </a:ext>
            </a:extLst>
          </p:cNvPr>
          <p:cNvPicPr>
            <a:picLocks noChangeAspect="1"/>
          </p:cNvPicPr>
          <p:nvPr/>
        </p:nvPicPr>
        <p:blipFill>
          <a:blip r:embed="rId2"/>
          <a:stretch>
            <a:fillRect/>
          </a:stretch>
        </p:blipFill>
        <p:spPr>
          <a:xfrm>
            <a:off x="865547" y="1728787"/>
            <a:ext cx="5827484" cy="4612886"/>
          </a:xfrm>
          <a:prstGeom prst="rect">
            <a:avLst/>
          </a:prstGeom>
        </p:spPr>
      </p:pic>
    </p:spTree>
    <p:extLst>
      <p:ext uri="{BB962C8B-B14F-4D97-AF65-F5344CB8AC3E}">
        <p14:creationId xmlns:p14="http://schemas.microsoft.com/office/powerpoint/2010/main" val="1051905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2660" y="327893"/>
            <a:ext cx="9144000" cy="1588939"/>
          </a:xfrm>
        </p:spPr>
        <p:txBody>
          <a:bodyPr>
            <a:normAutofit/>
          </a:bodyPr>
          <a:lstStyle/>
          <a:p>
            <a:r>
              <a:rPr lang="en-US">
                <a:solidFill>
                  <a:srgbClr val="00B050"/>
                </a:solidFill>
              </a:rPr>
              <a:t>Pandas DataFrame</a:t>
            </a:r>
            <a:endParaRPr lang="en-US" dirty="0">
              <a:solidFill>
                <a:srgbClr val="00B050"/>
              </a:solidFill>
            </a:endParaRPr>
          </a:p>
        </p:txBody>
      </p:sp>
      <p:pic>
        <p:nvPicPr>
          <p:cNvPr id="1026" name="Picture 2" descr="Python: Styled DataFrame Viewer - IntelliJ IDEs Plugin | Marketplace">
            <a:extLst>
              <a:ext uri="{FF2B5EF4-FFF2-40B4-BE49-F238E27FC236}">
                <a16:creationId xmlns:a16="http://schemas.microsoft.com/office/drawing/2014/main" id="{B6E33F16-2B4C-97DC-EC70-913303A0C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1684" y="1536765"/>
            <a:ext cx="4698869" cy="4698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9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030556" y="1883080"/>
            <a:ext cx="5153025" cy="3752850"/>
          </a:xfrm>
          <a:prstGeom prst="rect">
            <a:avLst/>
          </a:prstGeom>
        </p:spPr>
      </p:pic>
      <p:sp>
        <p:nvSpPr>
          <p:cNvPr id="3" name="Title 1">
            <a:extLst>
              <a:ext uri="{FF2B5EF4-FFF2-40B4-BE49-F238E27FC236}">
                <a16:creationId xmlns:a16="http://schemas.microsoft.com/office/drawing/2014/main" id="{90153298-A2DD-9198-05B0-DC8950F24E67}"/>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DataFrame: Visualization</a:t>
            </a:r>
            <a:endParaRPr lang="en-US" sz="4800" dirty="0">
              <a:solidFill>
                <a:srgbClr val="04B452"/>
              </a:solidFill>
            </a:endParaRPr>
          </a:p>
        </p:txBody>
      </p:sp>
    </p:spTree>
    <p:extLst>
      <p:ext uri="{BB962C8B-B14F-4D97-AF65-F5344CB8AC3E}">
        <p14:creationId xmlns:p14="http://schemas.microsoft.com/office/powerpoint/2010/main" val="4167621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727" y="1189105"/>
            <a:ext cx="10874828" cy="2372704"/>
          </a:xfrm>
        </p:spPr>
        <p:txBody>
          <a:bodyPr>
            <a:noAutofit/>
          </a:bodyPr>
          <a:lstStyle/>
          <a:p>
            <a:pPr>
              <a:lnSpc>
                <a:spcPct val="100000"/>
              </a:lnSpc>
              <a:spcBef>
                <a:spcPts val="600"/>
              </a:spcBef>
              <a:spcAft>
                <a:spcPts val="600"/>
              </a:spcAft>
            </a:pPr>
            <a:r>
              <a:rPr lang="en-US" sz="2000"/>
              <a:t>Series is a sequence or column  </a:t>
            </a:r>
          </a:p>
          <a:p>
            <a:pPr>
              <a:lnSpc>
                <a:spcPct val="100000"/>
              </a:lnSpc>
              <a:spcBef>
                <a:spcPts val="600"/>
              </a:spcBef>
              <a:spcAft>
                <a:spcPts val="600"/>
              </a:spcAft>
            </a:pPr>
            <a:r>
              <a:rPr lang="en-US" sz="2000"/>
              <a:t>DataFrame is a collection of Series</a:t>
            </a:r>
          </a:p>
          <a:p>
            <a:pPr>
              <a:lnSpc>
                <a:spcPct val="100000"/>
              </a:lnSpc>
              <a:spcBef>
                <a:spcPts val="600"/>
              </a:spcBef>
              <a:spcAft>
                <a:spcPts val="600"/>
              </a:spcAft>
            </a:pPr>
            <a:r>
              <a:rPr lang="en-US" sz="2000"/>
              <a:t>DataFrames and Series are quite similar (accessing, index labeling, slicing, descriptive statistics, etc.)</a:t>
            </a:r>
          </a:p>
          <a:p>
            <a:pPr>
              <a:lnSpc>
                <a:spcPct val="100000"/>
              </a:lnSpc>
              <a:spcBef>
                <a:spcPts val="600"/>
              </a:spcBef>
              <a:spcAft>
                <a:spcPts val="600"/>
              </a:spcAft>
            </a:pPr>
            <a:r>
              <a:rPr lang="en-US" sz="2000">
                <a:solidFill>
                  <a:srgbClr val="FF0000"/>
                </a:solidFill>
              </a:rPr>
              <a:t>Series</a:t>
            </a:r>
            <a:r>
              <a:rPr lang="en-US" sz="2000"/>
              <a:t> is a one-dimensional array (D) like structure with homogeneous data. </a:t>
            </a:r>
          </a:p>
          <a:p>
            <a:pPr>
              <a:lnSpc>
                <a:spcPct val="100000"/>
              </a:lnSpc>
              <a:spcBef>
                <a:spcPts val="600"/>
              </a:spcBef>
              <a:spcAft>
                <a:spcPts val="600"/>
              </a:spcAft>
            </a:pPr>
            <a:r>
              <a:rPr lang="en-US" sz="2000">
                <a:solidFill>
                  <a:srgbClr val="FF0000"/>
                </a:solidFill>
              </a:rPr>
              <a:t>DataFrame</a:t>
            </a:r>
            <a:r>
              <a:rPr lang="en-US" sz="2000"/>
              <a:t> is a two-dimensional array (2D) with </a:t>
            </a:r>
            <a:r>
              <a:rPr lang="en-US" sz="2000" u="sng">
                <a:solidFill>
                  <a:srgbClr val="FF0000"/>
                </a:solidFill>
              </a:rPr>
              <a:t>heterogeneous</a:t>
            </a:r>
            <a:r>
              <a:rPr lang="en-US" sz="2000"/>
              <a:t> data. </a:t>
            </a:r>
          </a:p>
          <a:p>
            <a:pPr>
              <a:lnSpc>
                <a:spcPct val="100000"/>
              </a:lnSpc>
              <a:spcBef>
                <a:spcPts val="600"/>
              </a:spcBef>
              <a:spcAft>
                <a:spcPts val="600"/>
              </a:spcAft>
            </a:pPr>
            <a:endParaRPr lang="en-US" sz="2000"/>
          </a:p>
        </p:txBody>
      </p:sp>
      <p:pic>
        <p:nvPicPr>
          <p:cNvPr id="1026" name="Picture 2" descr="Series vs DataFra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715" y="4320002"/>
            <a:ext cx="5291545" cy="202666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p:cNvGrpSpPr/>
          <p:nvPr/>
        </p:nvGrpSpPr>
        <p:grpSpPr>
          <a:xfrm>
            <a:off x="6783798" y="5029926"/>
            <a:ext cx="1010193" cy="1114696"/>
            <a:chOff x="11129555" y="5268687"/>
            <a:chExt cx="1010193" cy="1114696"/>
          </a:xfrm>
        </p:grpSpPr>
        <p:cxnSp>
          <p:nvCxnSpPr>
            <p:cNvPr id="6" name="Straight Arrow Connector 5"/>
            <p:cNvCxnSpPr/>
            <p:nvPr/>
          </p:nvCxnSpPr>
          <p:spPr>
            <a:xfrm flipH="1" flipV="1">
              <a:off x="11129555" y="5799909"/>
              <a:ext cx="444136" cy="7559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flipH="1">
              <a:off x="11195413" y="5875501"/>
              <a:ext cx="378278" cy="50788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11460480" y="5686103"/>
              <a:ext cx="679268" cy="378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rows</a:t>
              </a:r>
            </a:p>
          </p:txBody>
        </p:sp>
        <p:cxnSp>
          <p:nvCxnSpPr>
            <p:cNvPr id="15" name="Straight Arrow Connector 14"/>
            <p:cNvCxnSpPr/>
            <p:nvPr/>
          </p:nvCxnSpPr>
          <p:spPr>
            <a:xfrm flipH="1" flipV="1">
              <a:off x="11129555" y="5268687"/>
              <a:ext cx="444136" cy="6068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6" name="Group 25"/>
          <p:cNvGrpSpPr/>
          <p:nvPr/>
        </p:nvGrpSpPr>
        <p:grpSpPr>
          <a:xfrm>
            <a:off x="5564598" y="3610078"/>
            <a:ext cx="1474197" cy="1306635"/>
            <a:chOff x="9910355" y="3848839"/>
            <a:chExt cx="1474197" cy="1306635"/>
          </a:xfrm>
        </p:grpSpPr>
        <p:cxnSp>
          <p:nvCxnSpPr>
            <p:cNvPr id="20" name="Straight Arrow Connector 19"/>
            <p:cNvCxnSpPr/>
            <p:nvPr/>
          </p:nvCxnSpPr>
          <p:spPr>
            <a:xfrm flipH="1">
              <a:off x="9910355" y="4232366"/>
              <a:ext cx="971550" cy="9231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Straight Arrow Connector 22"/>
            <p:cNvCxnSpPr/>
            <p:nvPr/>
          </p:nvCxnSpPr>
          <p:spPr>
            <a:xfrm flipH="1">
              <a:off x="10672355" y="4232366"/>
              <a:ext cx="218258" cy="9231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Rectangle 26"/>
            <p:cNvSpPr/>
            <p:nvPr/>
          </p:nvSpPr>
          <p:spPr>
            <a:xfrm>
              <a:off x="10374359" y="3848839"/>
              <a:ext cx="1010193" cy="378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columns</a:t>
              </a:r>
            </a:p>
          </p:txBody>
        </p:sp>
      </p:grpSp>
      <p:sp>
        <p:nvSpPr>
          <p:cNvPr id="5" name="Title 1">
            <a:extLst>
              <a:ext uri="{FF2B5EF4-FFF2-40B4-BE49-F238E27FC236}">
                <a16:creationId xmlns:a16="http://schemas.microsoft.com/office/drawing/2014/main" id="{A8C40CFB-C118-2DBC-213F-FE5F75E56ACE}"/>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pandas = Series &amp; DataFrames </a:t>
            </a:r>
            <a:endParaRPr lang="en-US" sz="4800" dirty="0">
              <a:solidFill>
                <a:srgbClr val="04B452"/>
              </a:solidFill>
            </a:endParaRPr>
          </a:p>
        </p:txBody>
      </p:sp>
    </p:spTree>
    <p:extLst>
      <p:ext uri="{BB962C8B-B14F-4D97-AF65-F5344CB8AC3E}">
        <p14:creationId xmlns:p14="http://schemas.microsoft.com/office/powerpoint/2010/main" val="196784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8C40CFB-C118-2DBC-213F-FE5F75E56ACE}"/>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DataFrame: Creating </a:t>
            </a:r>
            <a:endParaRPr lang="en-US" sz="4800" dirty="0">
              <a:solidFill>
                <a:srgbClr val="04B452"/>
              </a:solidFill>
            </a:endParaRPr>
          </a:p>
        </p:txBody>
      </p:sp>
      <p:sp>
        <p:nvSpPr>
          <p:cNvPr id="4" name="Content Placeholder 2">
            <a:extLst>
              <a:ext uri="{FF2B5EF4-FFF2-40B4-BE49-F238E27FC236}">
                <a16:creationId xmlns:a16="http://schemas.microsoft.com/office/drawing/2014/main" id="{96F8F293-982E-7E81-C961-0E74A56B3383}"/>
              </a:ext>
            </a:extLst>
          </p:cNvPr>
          <p:cNvSpPr txBox="1">
            <a:spLocks/>
          </p:cNvSpPr>
          <p:nvPr/>
        </p:nvSpPr>
        <p:spPr>
          <a:xfrm>
            <a:off x="330926" y="1887583"/>
            <a:ext cx="11469187" cy="197902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solidFill>
                  <a:srgbClr val="0070C0"/>
                </a:solidFill>
              </a:rPr>
              <a:t>data:        </a:t>
            </a:r>
            <a:r>
              <a:rPr lang="en-US" sz="1600"/>
              <a:t>data takes various forms like </a:t>
            </a:r>
            <a:r>
              <a:rPr lang="en-US" sz="1600" i="1">
                <a:solidFill>
                  <a:srgbClr val="0070C0"/>
                </a:solidFill>
                <a:latin typeface="Courier New" panose="02070309020205020404" pitchFamily="49" charset="0"/>
                <a:cs typeface="Courier New" panose="02070309020205020404" pitchFamily="49" charset="0"/>
              </a:rPr>
              <a:t>ndarray</a:t>
            </a:r>
            <a:r>
              <a:rPr lang="en-US" sz="1600"/>
              <a:t>, </a:t>
            </a:r>
            <a:r>
              <a:rPr lang="en-US" sz="1600" i="1">
                <a:solidFill>
                  <a:srgbClr val="0070C0"/>
                </a:solidFill>
                <a:latin typeface="Courier New" panose="02070309020205020404" pitchFamily="49" charset="0"/>
                <a:cs typeface="Courier New" panose="02070309020205020404" pitchFamily="49" charset="0"/>
              </a:rPr>
              <a:t>series</a:t>
            </a:r>
            <a:r>
              <a:rPr lang="en-US" sz="1600"/>
              <a:t>, </a:t>
            </a:r>
            <a:r>
              <a:rPr lang="en-US" sz="1600" i="1">
                <a:solidFill>
                  <a:srgbClr val="0070C0"/>
                </a:solidFill>
                <a:latin typeface="Courier New" panose="02070309020205020404" pitchFamily="49" charset="0"/>
                <a:cs typeface="Courier New" panose="02070309020205020404" pitchFamily="49" charset="0"/>
              </a:rPr>
              <a:t>map</a:t>
            </a:r>
            <a:r>
              <a:rPr lang="en-US" sz="1600"/>
              <a:t>, </a:t>
            </a:r>
            <a:r>
              <a:rPr lang="en-US" sz="1600" i="1">
                <a:solidFill>
                  <a:srgbClr val="0070C0"/>
                </a:solidFill>
                <a:latin typeface="Courier New" panose="02070309020205020404" pitchFamily="49" charset="0"/>
                <a:cs typeface="Courier New" panose="02070309020205020404" pitchFamily="49" charset="0"/>
              </a:rPr>
              <a:t>lists</a:t>
            </a:r>
            <a:r>
              <a:rPr lang="en-US" sz="1600"/>
              <a:t>, </a:t>
            </a:r>
            <a:r>
              <a:rPr lang="en-US" sz="1600" i="1">
                <a:solidFill>
                  <a:srgbClr val="0070C0"/>
                </a:solidFill>
                <a:latin typeface="Courier New" panose="02070309020205020404" pitchFamily="49" charset="0"/>
                <a:cs typeface="Courier New" panose="02070309020205020404" pitchFamily="49" charset="0"/>
              </a:rPr>
              <a:t>dict</a:t>
            </a:r>
            <a:r>
              <a:rPr lang="en-US" sz="1600"/>
              <a:t>, constants and also another </a:t>
            </a:r>
            <a:r>
              <a:rPr lang="en-US" sz="1600" i="1">
                <a:solidFill>
                  <a:srgbClr val="0070C0"/>
                </a:solidFill>
                <a:latin typeface="Courier New" panose="02070309020205020404" pitchFamily="49" charset="0"/>
                <a:cs typeface="Courier New" panose="02070309020205020404" pitchFamily="49" charset="0"/>
              </a:rPr>
              <a:t>DataFrame</a:t>
            </a:r>
            <a:r>
              <a:rPr lang="en-US" sz="1600"/>
              <a:t>.</a:t>
            </a:r>
          </a:p>
          <a:p>
            <a:r>
              <a:rPr lang="en-US" sz="1800">
                <a:solidFill>
                  <a:srgbClr val="0070C0"/>
                </a:solidFill>
              </a:rPr>
              <a:t>index:      </a:t>
            </a:r>
            <a:r>
              <a:rPr lang="en-US" sz="1600"/>
              <a:t>For the </a:t>
            </a:r>
            <a:r>
              <a:rPr lang="en-US" sz="1600" b="1" u="sng"/>
              <a:t>row labels</a:t>
            </a:r>
            <a:r>
              <a:rPr lang="en-US" sz="1600"/>
              <a:t>, that are to be used for the resulting frame,  Optional, Default is </a:t>
            </a:r>
            <a:r>
              <a:rPr lang="en-US" sz="1600" i="1">
                <a:latin typeface="Courier New" panose="02070309020205020404" pitchFamily="49" charset="0"/>
                <a:cs typeface="Courier New" panose="02070309020205020404" pitchFamily="49" charset="0"/>
              </a:rPr>
              <a:t>np.arrange(n)</a:t>
            </a:r>
            <a:r>
              <a:rPr lang="en-US" sz="1600"/>
              <a:t>if no index is passed.</a:t>
            </a:r>
          </a:p>
          <a:p>
            <a:r>
              <a:rPr lang="en-US" sz="1800">
                <a:solidFill>
                  <a:srgbClr val="0070C0"/>
                </a:solidFill>
              </a:rPr>
              <a:t>columns: </a:t>
            </a:r>
            <a:r>
              <a:rPr lang="en-US" sz="1600"/>
              <a:t>For </a:t>
            </a:r>
            <a:r>
              <a:rPr lang="en-US" sz="1600" b="1" u="sng"/>
              <a:t>column labels</a:t>
            </a:r>
            <a:r>
              <a:rPr lang="en-US" sz="1600"/>
              <a:t>, the optional default syntax is - </a:t>
            </a:r>
            <a:r>
              <a:rPr lang="en-US" sz="1600" i="1">
                <a:latin typeface="Courier New" panose="02070309020205020404" pitchFamily="49" charset="0"/>
                <a:cs typeface="Courier New" panose="02070309020205020404" pitchFamily="49" charset="0"/>
              </a:rPr>
              <a:t>np.arrange(n)</a:t>
            </a:r>
            <a:r>
              <a:rPr lang="en-US" sz="1600"/>
              <a:t>. This is only true if no index is passed.</a:t>
            </a:r>
          </a:p>
          <a:p>
            <a:r>
              <a:rPr lang="en-US" sz="1800">
                <a:solidFill>
                  <a:srgbClr val="0070C0"/>
                </a:solidFill>
              </a:rPr>
              <a:t>dtype:      </a:t>
            </a:r>
            <a:r>
              <a:rPr lang="en-US" sz="1600"/>
              <a:t>Data type of each column.</a:t>
            </a:r>
          </a:p>
          <a:p>
            <a:r>
              <a:rPr lang="en-US" sz="1800">
                <a:solidFill>
                  <a:srgbClr val="0070C0"/>
                </a:solidFill>
              </a:rPr>
              <a:t>copy:        </a:t>
            </a:r>
            <a:r>
              <a:rPr lang="en-US" sz="1600"/>
              <a:t>This command is used for copying data. The default is False.</a:t>
            </a:r>
            <a:endParaRPr lang="en-US" sz="1600" dirty="0"/>
          </a:p>
        </p:txBody>
      </p:sp>
      <p:sp>
        <p:nvSpPr>
          <p:cNvPr id="7" name="Rectangle 6">
            <a:extLst>
              <a:ext uri="{FF2B5EF4-FFF2-40B4-BE49-F238E27FC236}">
                <a16:creationId xmlns:a16="http://schemas.microsoft.com/office/drawing/2014/main" id="{7F5CF74B-C42F-4657-4B70-F02E9D1C9E97}"/>
              </a:ext>
            </a:extLst>
          </p:cNvPr>
          <p:cNvSpPr/>
          <p:nvPr/>
        </p:nvSpPr>
        <p:spPr>
          <a:xfrm>
            <a:off x="1423852" y="1068541"/>
            <a:ext cx="9135292" cy="400110"/>
          </a:xfrm>
          <a:prstGeom prst="rect">
            <a:avLst/>
          </a:prstGeom>
          <a:solidFill>
            <a:schemeClr val="accent4">
              <a:lumMod val="20000"/>
              <a:lumOff val="80000"/>
            </a:schemeClr>
          </a:solidFill>
          <a:ln>
            <a:solidFill>
              <a:schemeClr val="accent1"/>
            </a:solidFill>
          </a:ln>
        </p:spPr>
        <p:txBody>
          <a:bodyPr wrap="square">
            <a:spAutoFit/>
          </a:bodyPr>
          <a:lstStyle/>
          <a:p>
            <a:r>
              <a:rPr lang="en-US" sz="2000" b="1" dirty="0" err="1">
                <a:solidFill>
                  <a:srgbClr val="0070C0"/>
                </a:solidFill>
                <a:latin typeface="Courier New" panose="02070309020205020404" pitchFamily="49" charset="0"/>
                <a:cs typeface="Courier New" panose="02070309020205020404" pitchFamily="49" charset="0"/>
              </a:rPr>
              <a:t>pandas.DataFrame</a:t>
            </a:r>
            <a:r>
              <a:rPr lang="en-US" sz="2000" b="1" dirty="0">
                <a:solidFill>
                  <a:srgbClr val="0070C0"/>
                </a:solidFill>
                <a:latin typeface="Courier New" panose="02070309020205020404" pitchFamily="49" charset="0"/>
                <a:cs typeface="Courier New" panose="02070309020205020404" pitchFamily="49" charset="0"/>
              </a:rPr>
              <a:t>(data, index , columns , </a:t>
            </a:r>
            <a:r>
              <a:rPr lang="en-US" sz="2000" b="1" dirty="0" err="1">
                <a:solidFill>
                  <a:srgbClr val="0070C0"/>
                </a:solidFill>
                <a:latin typeface="Courier New" panose="02070309020205020404" pitchFamily="49" charset="0"/>
                <a:cs typeface="Courier New" panose="02070309020205020404" pitchFamily="49" charset="0"/>
              </a:rPr>
              <a:t>dtype</a:t>
            </a:r>
            <a:r>
              <a:rPr lang="en-US" sz="2000" b="1" dirty="0">
                <a:solidFill>
                  <a:srgbClr val="0070C0"/>
                </a:solidFill>
                <a:latin typeface="Courier New" panose="02070309020205020404" pitchFamily="49" charset="0"/>
                <a:cs typeface="Courier New" panose="02070309020205020404" pitchFamily="49" charset="0"/>
              </a:rPr>
              <a:t> , copy )</a:t>
            </a:r>
          </a:p>
        </p:txBody>
      </p:sp>
    </p:spTree>
    <p:extLst>
      <p:ext uri="{BB962C8B-B14F-4D97-AF65-F5344CB8AC3E}">
        <p14:creationId xmlns:p14="http://schemas.microsoft.com/office/powerpoint/2010/main" val="780624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8C40CFB-C118-2DBC-213F-FE5F75E56ACE}"/>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DataFrame: Source of creation </a:t>
            </a:r>
            <a:endParaRPr lang="en-US" sz="4800" dirty="0">
              <a:solidFill>
                <a:srgbClr val="04B452"/>
              </a:solidFill>
            </a:endParaRPr>
          </a:p>
        </p:txBody>
      </p:sp>
      <p:sp>
        <p:nvSpPr>
          <p:cNvPr id="7" name="Rectangle 6">
            <a:extLst>
              <a:ext uri="{FF2B5EF4-FFF2-40B4-BE49-F238E27FC236}">
                <a16:creationId xmlns:a16="http://schemas.microsoft.com/office/drawing/2014/main" id="{7F5CF74B-C42F-4657-4B70-F02E9D1C9E97}"/>
              </a:ext>
            </a:extLst>
          </p:cNvPr>
          <p:cNvSpPr/>
          <p:nvPr/>
        </p:nvSpPr>
        <p:spPr>
          <a:xfrm>
            <a:off x="1423852" y="1068541"/>
            <a:ext cx="9135292" cy="400110"/>
          </a:xfrm>
          <a:prstGeom prst="rect">
            <a:avLst/>
          </a:prstGeom>
          <a:solidFill>
            <a:schemeClr val="accent4">
              <a:lumMod val="20000"/>
              <a:lumOff val="80000"/>
            </a:schemeClr>
          </a:solidFill>
          <a:ln>
            <a:solidFill>
              <a:schemeClr val="accent1"/>
            </a:solidFill>
          </a:ln>
        </p:spPr>
        <p:txBody>
          <a:bodyPr wrap="square">
            <a:spAutoFit/>
          </a:bodyPr>
          <a:lstStyle/>
          <a:p>
            <a:r>
              <a:rPr lang="en-US" sz="2000" b="1" dirty="0" err="1">
                <a:solidFill>
                  <a:srgbClr val="0070C0"/>
                </a:solidFill>
                <a:latin typeface="Courier New" panose="02070309020205020404" pitchFamily="49" charset="0"/>
                <a:cs typeface="Courier New" panose="02070309020205020404" pitchFamily="49" charset="0"/>
              </a:rPr>
              <a:t>pandas.DataFrame</a:t>
            </a:r>
            <a:r>
              <a:rPr lang="en-US" sz="2000" b="1" dirty="0">
                <a:solidFill>
                  <a:srgbClr val="0070C0"/>
                </a:solidFill>
                <a:latin typeface="Courier New" panose="02070309020205020404" pitchFamily="49" charset="0"/>
                <a:cs typeface="Courier New" panose="02070309020205020404" pitchFamily="49" charset="0"/>
              </a:rPr>
              <a:t>(data, index , columns , </a:t>
            </a:r>
            <a:r>
              <a:rPr lang="en-US" sz="2000" b="1" dirty="0" err="1">
                <a:solidFill>
                  <a:srgbClr val="0070C0"/>
                </a:solidFill>
                <a:latin typeface="Courier New" panose="02070309020205020404" pitchFamily="49" charset="0"/>
                <a:cs typeface="Courier New" panose="02070309020205020404" pitchFamily="49" charset="0"/>
              </a:rPr>
              <a:t>dtype</a:t>
            </a:r>
            <a:r>
              <a:rPr lang="en-US" sz="2000" b="1" dirty="0">
                <a:solidFill>
                  <a:srgbClr val="0070C0"/>
                </a:solidFill>
                <a:latin typeface="Courier New" panose="02070309020205020404" pitchFamily="49" charset="0"/>
                <a:cs typeface="Courier New" panose="02070309020205020404" pitchFamily="49" charset="0"/>
              </a:rPr>
              <a:t> , copy )</a:t>
            </a:r>
          </a:p>
        </p:txBody>
      </p:sp>
      <p:sp>
        <p:nvSpPr>
          <p:cNvPr id="2" name="Content Placeholder 2">
            <a:extLst>
              <a:ext uri="{FF2B5EF4-FFF2-40B4-BE49-F238E27FC236}">
                <a16:creationId xmlns:a16="http://schemas.microsoft.com/office/drawing/2014/main" id="{5784FE6F-BE31-74EE-2D5D-38758DCADF84}"/>
              </a:ext>
            </a:extLst>
          </p:cNvPr>
          <p:cNvSpPr txBox="1">
            <a:spLocks/>
          </p:cNvSpPr>
          <p:nvPr/>
        </p:nvSpPr>
        <p:spPr>
          <a:xfrm>
            <a:off x="500608" y="2066088"/>
            <a:ext cx="11469187" cy="24067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2800"/>
              <a:t>A </a:t>
            </a:r>
            <a:r>
              <a:rPr lang="en-US" sz="2800" dirty="0"/>
              <a:t>pandas </a:t>
            </a:r>
            <a:r>
              <a:rPr lang="en-US" sz="2800" dirty="0" err="1"/>
              <a:t>DataFrame</a:t>
            </a:r>
            <a:r>
              <a:rPr lang="en-US" sz="2800" dirty="0"/>
              <a:t> can be created using various inputs like −</a:t>
            </a:r>
          </a:p>
          <a:p>
            <a:pPr lvl="2"/>
            <a:r>
              <a:rPr lang="en-US" sz="2800" dirty="0"/>
              <a:t>Lists</a:t>
            </a:r>
          </a:p>
          <a:p>
            <a:pPr lvl="2"/>
            <a:r>
              <a:rPr lang="en-US" sz="2800" dirty="0" err="1"/>
              <a:t>dict</a:t>
            </a:r>
            <a:endParaRPr lang="en-US" sz="2800" dirty="0"/>
          </a:p>
          <a:p>
            <a:pPr lvl="2"/>
            <a:r>
              <a:rPr lang="en-US" sz="2800" dirty="0"/>
              <a:t>Series</a:t>
            </a:r>
          </a:p>
          <a:p>
            <a:pPr lvl="2"/>
            <a:r>
              <a:rPr lang="en-US" sz="2800" dirty="0" err="1"/>
              <a:t>Numpy</a:t>
            </a:r>
            <a:r>
              <a:rPr lang="en-US" sz="2800" dirty="0"/>
              <a:t> </a:t>
            </a:r>
            <a:r>
              <a:rPr lang="en-US" sz="2800" dirty="0" err="1"/>
              <a:t>ndarrays</a:t>
            </a:r>
            <a:endParaRPr lang="en-US" sz="2800" dirty="0"/>
          </a:p>
          <a:p>
            <a:pPr lvl="2"/>
            <a:r>
              <a:rPr lang="en-US" sz="2800" dirty="0"/>
              <a:t>Another </a:t>
            </a:r>
            <a:r>
              <a:rPr lang="en-US" sz="2800" dirty="0" err="1"/>
              <a:t>DataFrame</a:t>
            </a:r>
            <a:endParaRPr lang="en-US" sz="2800" dirty="0"/>
          </a:p>
        </p:txBody>
      </p:sp>
    </p:spTree>
    <p:extLst>
      <p:ext uri="{BB962C8B-B14F-4D97-AF65-F5344CB8AC3E}">
        <p14:creationId xmlns:p14="http://schemas.microsoft.com/office/powerpoint/2010/main" val="2686764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491" y="243206"/>
            <a:ext cx="10515600" cy="797742"/>
          </a:xfrm>
        </p:spPr>
        <p:txBody>
          <a:bodyPr/>
          <a:lstStyle/>
          <a:p>
            <a:r>
              <a:rPr lang="en-US" b="1" dirty="0" err="1"/>
              <a:t>pandas.DataFrame</a:t>
            </a:r>
            <a:endParaRPr lang="en-US" b="1" dirty="0"/>
          </a:p>
        </p:txBody>
      </p:sp>
      <p:sp>
        <p:nvSpPr>
          <p:cNvPr id="3" name="Content Placeholder 2"/>
          <p:cNvSpPr>
            <a:spLocks noGrp="1"/>
          </p:cNvSpPr>
          <p:nvPr>
            <p:ph idx="1"/>
          </p:nvPr>
        </p:nvSpPr>
        <p:spPr>
          <a:xfrm>
            <a:off x="330926" y="1887583"/>
            <a:ext cx="11469187" cy="1979024"/>
          </a:xfrm>
        </p:spPr>
        <p:txBody>
          <a:bodyPr vert="horz" lIns="91440" tIns="45720" rIns="91440" bIns="45720" rtlCol="0">
            <a:noAutofit/>
          </a:bodyPr>
          <a:lstStyle/>
          <a:p>
            <a:r>
              <a:rPr lang="en-US" sz="1800" dirty="0">
                <a:solidFill>
                  <a:srgbClr val="0070C0"/>
                </a:solidFill>
              </a:rPr>
              <a:t>data:        </a:t>
            </a:r>
            <a:r>
              <a:rPr lang="en-US" sz="1600" dirty="0"/>
              <a:t>data takes various forms like </a:t>
            </a:r>
            <a:r>
              <a:rPr lang="en-US" sz="1600" i="1" dirty="0" err="1">
                <a:solidFill>
                  <a:srgbClr val="0070C0"/>
                </a:solidFill>
                <a:latin typeface="Courier New" panose="02070309020205020404" pitchFamily="49" charset="0"/>
                <a:cs typeface="Courier New" panose="02070309020205020404" pitchFamily="49" charset="0"/>
              </a:rPr>
              <a:t>ndarray</a:t>
            </a:r>
            <a:r>
              <a:rPr lang="en-US" sz="1600" dirty="0"/>
              <a:t>, </a:t>
            </a:r>
            <a:r>
              <a:rPr lang="en-US" sz="1600" i="1" dirty="0">
                <a:solidFill>
                  <a:srgbClr val="0070C0"/>
                </a:solidFill>
                <a:latin typeface="Courier New" panose="02070309020205020404" pitchFamily="49" charset="0"/>
                <a:cs typeface="Courier New" panose="02070309020205020404" pitchFamily="49" charset="0"/>
              </a:rPr>
              <a:t>series</a:t>
            </a:r>
            <a:r>
              <a:rPr lang="en-US" sz="1600" dirty="0"/>
              <a:t>, </a:t>
            </a:r>
            <a:r>
              <a:rPr lang="en-US" sz="1600" i="1" dirty="0">
                <a:solidFill>
                  <a:srgbClr val="0070C0"/>
                </a:solidFill>
                <a:latin typeface="Courier New" panose="02070309020205020404" pitchFamily="49" charset="0"/>
                <a:cs typeface="Courier New" panose="02070309020205020404" pitchFamily="49" charset="0"/>
              </a:rPr>
              <a:t>map</a:t>
            </a:r>
            <a:r>
              <a:rPr lang="en-US" sz="1600" dirty="0"/>
              <a:t>, </a:t>
            </a:r>
            <a:r>
              <a:rPr lang="en-US" sz="1600" i="1" dirty="0">
                <a:solidFill>
                  <a:srgbClr val="0070C0"/>
                </a:solidFill>
                <a:latin typeface="Courier New" panose="02070309020205020404" pitchFamily="49" charset="0"/>
                <a:cs typeface="Courier New" panose="02070309020205020404" pitchFamily="49" charset="0"/>
              </a:rPr>
              <a:t>lists</a:t>
            </a:r>
            <a:r>
              <a:rPr lang="en-US" sz="1600" dirty="0"/>
              <a:t>, </a:t>
            </a:r>
            <a:r>
              <a:rPr lang="en-US" sz="1600" i="1" dirty="0" err="1">
                <a:solidFill>
                  <a:srgbClr val="0070C0"/>
                </a:solidFill>
                <a:latin typeface="Courier New" panose="02070309020205020404" pitchFamily="49" charset="0"/>
                <a:cs typeface="Courier New" panose="02070309020205020404" pitchFamily="49" charset="0"/>
              </a:rPr>
              <a:t>dict</a:t>
            </a:r>
            <a:r>
              <a:rPr lang="en-US" sz="1600" dirty="0"/>
              <a:t>, constants and also another </a:t>
            </a:r>
            <a:r>
              <a:rPr lang="en-US" sz="1600" i="1" dirty="0" err="1">
                <a:solidFill>
                  <a:srgbClr val="0070C0"/>
                </a:solidFill>
                <a:latin typeface="Courier New" panose="02070309020205020404" pitchFamily="49" charset="0"/>
                <a:cs typeface="Courier New" panose="02070309020205020404" pitchFamily="49" charset="0"/>
              </a:rPr>
              <a:t>DataFrame</a:t>
            </a:r>
            <a:r>
              <a:rPr lang="en-US" sz="1600" dirty="0"/>
              <a:t>.</a:t>
            </a:r>
          </a:p>
          <a:p>
            <a:r>
              <a:rPr lang="en-US" sz="1800" dirty="0">
                <a:solidFill>
                  <a:srgbClr val="0070C0"/>
                </a:solidFill>
              </a:rPr>
              <a:t>index:      </a:t>
            </a:r>
            <a:r>
              <a:rPr lang="en-US" sz="1600" dirty="0"/>
              <a:t>For the </a:t>
            </a:r>
            <a:r>
              <a:rPr lang="en-US" sz="1600" b="1" u="sng" dirty="0"/>
              <a:t>row labels</a:t>
            </a:r>
            <a:r>
              <a:rPr lang="en-US" sz="1600" dirty="0"/>
              <a:t>, that are to be used for the resulting frame,  Optional, Default is </a:t>
            </a:r>
            <a:r>
              <a:rPr lang="en-US" sz="1600" i="1" dirty="0" err="1">
                <a:latin typeface="Courier New" panose="02070309020205020404" pitchFamily="49" charset="0"/>
                <a:cs typeface="Courier New" panose="02070309020205020404" pitchFamily="49" charset="0"/>
              </a:rPr>
              <a:t>np.arrange</a:t>
            </a:r>
            <a:r>
              <a:rPr lang="en-US" sz="1600" i="1" dirty="0">
                <a:latin typeface="Courier New" panose="02070309020205020404" pitchFamily="49" charset="0"/>
                <a:cs typeface="Courier New" panose="02070309020205020404" pitchFamily="49" charset="0"/>
              </a:rPr>
              <a:t>(n)</a:t>
            </a:r>
            <a:r>
              <a:rPr lang="en-US" sz="1600" dirty="0"/>
              <a:t>if no index is passed.</a:t>
            </a:r>
          </a:p>
          <a:p>
            <a:r>
              <a:rPr lang="en-US" sz="1800" dirty="0">
                <a:solidFill>
                  <a:srgbClr val="0070C0"/>
                </a:solidFill>
              </a:rPr>
              <a:t>columns: </a:t>
            </a:r>
            <a:r>
              <a:rPr lang="en-US" sz="1600" dirty="0"/>
              <a:t>For </a:t>
            </a:r>
            <a:r>
              <a:rPr lang="en-US" sz="1600" b="1" u="sng" dirty="0"/>
              <a:t>column labels</a:t>
            </a:r>
            <a:r>
              <a:rPr lang="en-US" sz="1600" dirty="0"/>
              <a:t>, the optional default syntax is - </a:t>
            </a:r>
            <a:r>
              <a:rPr lang="en-US" sz="1600" i="1" dirty="0" err="1">
                <a:latin typeface="Courier New" panose="02070309020205020404" pitchFamily="49" charset="0"/>
                <a:cs typeface="Courier New" panose="02070309020205020404" pitchFamily="49" charset="0"/>
              </a:rPr>
              <a:t>np.arrange</a:t>
            </a:r>
            <a:r>
              <a:rPr lang="en-US" sz="1600" i="1" dirty="0">
                <a:latin typeface="Courier New" panose="02070309020205020404" pitchFamily="49" charset="0"/>
                <a:cs typeface="Courier New" panose="02070309020205020404" pitchFamily="49" charset="0"/>
              </a:rPr>
              <a:t>(n)</a:t>
            </a:r>
            <a:r>
              <a:rPr lang="en-US" sz="1600" dirty="0"/>
              <a:t>. This is only true if no index is passed.</a:t>
            </a:r>
          </a:p>
          <a:p>
            <a:r>
              <a:rPr lang="en-US" sz="1800" dirty="0" err="1">
                <a:solidFill>
                  <a:srgbClr val="0070C0"/>
                </a:solidFill>
              </a:rPr>
              <a:t>dtype</a:t>
            </a:r>
            <a:r>
              <a:rPr lang="en-US" sz="1800" dirty="0">
                <a:solidFill>
                  <a:srgbClr val="0070C0"/>
                </a:solidFill>
              </a:rPr>
              <a:t>:      </a:t>
            </a:r>
            <a:r>
              <a:rPr lang="en-US" sz="1600" dirty="0"/>
              <a:t>Data type of each column.</a:t>
            </a:r>
          </a:p>
          <a:p>
            <a:r>
              <a:rPr lang="en-US" sz="1800" dirty="0">
                <a:solidFill>
                  <a:srgbClr val="0070C0"/>
                </a:solidFill>
              </a:rPr>
              <a:t>copy:        </a:t>
            </a:r>
            <a:r>
              <a:rPr lang="en-US" sz="1600" dirty="0"/>
              <a:t>This command (or whatever it is) is used for copying of data, if the default is False.</a:t>
            </a:r>
          </a:p>
        </p:txBody>
      </p:sp>
      <p:sp>
        <p:nvSpPr>
          <p:cNvPr id="4" name="Rectangle 3"/>
          <p:cNvSpPr/>
          <p:nvPr/>
        </p:nvSpPr>
        <p:spPr>
          <a:xfrm>
            <a:off x="1423852" y="1068541"/>
            <a:ext cx="9135292" cy="400110"/>
          </a:xfrm>
          <a:prstGeom prst="rect">
            <a:avLst/>
          </a:prstGeom>
          <a:solidFill>
            <a:schemeClr val="accent4">
              <a:lumMod val="20000"/>
              <a:lumOff val="80000"/>
            </a:schemeClr>
          </a:solidFill>
          <a:ln>
            <a:solidFill>
              <a:schemeClr val="accent1"/>
            </a:solidFill>
          </a:ln>
        </p:spPr>
        <p:txBody>
          <a:bodyPr wrap="square">
            <a:spAutoFit/>
          </a:bodyPr>
          <a:lstStyle/>
          <a:p>
            <a:r>
              <a:rPr lang="en-US" sz="2000" b="1" dirty="0" err="1">
                <a:solidFill>
                  <a:srgbClr val="0070C0"/>
                </a:solidFill>
                <a:latin typeface="Courier New" panose="02070309020205020404" pitchFamily="49" charset="0"/>
                <a:cs typeface="Courier New" panose="02070309020205020404" pitchFamily="49" charset="0"/>
              </a:rPr>
              <a:t>pandas.DataFrame</a:t>
            </a:r>
            <a:r>
              <a:rPr lang="en-US" sz="2000" b="1" dirty="0">
                <a:solidFill>
                  <a:srgbClr val="0070C0"/>
                </a:solidFill>
                <a:latin typeface="Courier New" panose="02070309020205020404" pitchFamily="49" charset="0"/>
                <a:cs typeface="Courier New" panose="02070309020205020404" pitchFamily="49" charset="0"/>
              </a:rPr>
              <a:t>(data, index , columns , </a:t>
            </a:r>
            <a:r>
              <a:rPr lang="en-US" sz="2000" b="1" dirty="0" err="1">
                <a:solidFill>
                  <a:srgbClr val="0070C0"/>
                </a:solidFill>
                <a:latin typeface="Courier New" panose="02070309020205020404" pitchFamily="49" charset="0"/>
                <a:cs typeface="Courier New" panose="02070309020205020404" pitchFamily="49" charset="0"/>
              </a:rPr>
              <a:t>dtype</a:t>
            </a:r>
            <a:r>
              <a:rPr lang="en-US" sz="2000" b="1" dirty="0">
                <a:solidFill>
                  <a:srgbClr val="0070C0"/>
                </a:solidFill>
                <a:latin typeface="Courier New" panose="02070309020205020404" pitchFamily="49" charset="0"/>
                <a:cs typeface="Courier New" panose="02070309020205020404" pitchFamily="49" charset="0"/>
              </a:rPr>
              <a:t> , copy )</a:t>
            </a:r>
          </a:p>
        </p:txBody>
      </p:sp>
      <p:sp>
        <p:nvSpPr>
          <p:cNvPr id="5" name="Content Placeholder 2"/>
          <p:cNvSpPr txBox="1">
            <a:spLocks/>
          </p:cNvSpPr>
          <p:nvPr/>
        </p:nvSpPr>
        <p:spPr>
          <a:xfrm>
            <a:off x="330925" y="3866607"/>
            <a:ext cx="11469187" cy="24067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Create </a:t>
            </a:r>
            <a:r>
              <a:rPr lang="en-US" sz="2400" b="1" dirty="0" err="1"/>
              <a:t>DataFrame</a:t>
            </a:r>
            <a:endParaRPr lang="en-US" sz="2400" dirty="0"/>
          </a:p>
          <a:p>
            <a:pPr lvl="1"/>
            <a:r>
              <a:rPr lang="en-US" sz="2000" dirty="0"/>
              <a:t>A pandas </a:t>
            </a:r>
            <a:r>
              <a:rPr lang="en-US" sz="2000" dirty="0" err="1"/>
              <a:t>DataFrame</a:t>
            </a:r>
            <a:r>
              <a:rPr lang="en-US" sz="2000" dirty="0"/>
              <a:t> can be created using various inputs like −</a:t>
            </a:r>
          </a:p>
          <a:p>
            <a:pPr lvl="2"/>
            <a:r>
              <a:rPr lang="en-US" sz="1800" dirty="0"/>
              <a:t>Lists</a:t>
            </a:r>
          </a:p>
          <a:p>
            <a:pPr lvl="2"/>
            <a:r>
              <a:rPr lang="en-US" sz="1800" dirty="0" err="1"/>
              <a:t>dict</a:t>
            </a:r>
            <a:endParaRPr lang="en-US" sz="1800" dirty="0"/>
          </a:p>
          <a:p>
            <a:pPr lvl="2"/>
            <a:r>
              <a:rPr lang="en-US" sz="1800" dirty="0"/>
              <a:t>Series</a:t>
            </a:r>
          </a:p>
          <a:p>
            <a:pPr lvl="2"/>
            <a:r>
              <a:rPr lang="en-US" sz="1800" dirty="0" err="1"/>
              <a:t>Numpy</a:t>
            </a:r>
            <a:r>
              <a:rPr lang="en-US" sz="1800" dirty="0"/>
              <a:t> </a:t>
            </a:r>
            <a:r>
              <a:rPr lang="en-US" sz="1800" dirty="0" err="1"/>
              <a:t>ndarrays</a:t>
            </a:r>
            <a:endParaRPr lang="en-US" sz="1800" dirty="0"/>
          </a:p>
          <a:p>
            <a:pPr lvl="2"/>
            <a:r>
              <a:rPr lang="en-US" sz="1800" dirty="0"/>
              <a:t>Another </a:t>
            </a:r>
            <a:r>
              <a:rPr lang="en-US" sz="1800" dirty="0" err="1"/>
              <a:t>DataFrame</a:t>
            </a:r>
            <a:endParaRPr lang="en-US" sz="1800" dirty="0"/>
          </a:p>
        </p:txBody>
      </p:sp>
    </p:spTree>
    <p:extLst>
      <p:ext uri="{BB962C8B-B14F-4D97-AF65-F5344CB8AC3E}">
        <p14:creationId xmlns:p14="http://schemas.microsoft.com/office/powerpoint/2010/main" val="3996868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5400" dirty="0"/>
              <a:t>Creating a </a:t>
            </a:r>
            <a:r>
              <a:rPr lang="en-US" sz="5400" dirty="0" err="1"/>
              <a:t>DataFrame</a:t>
            </a:r>
            <a:r>
              <a:rPr lang="en-US" sz="5400" dirty="0"/>
              <a:t> from scratch</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480683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83052"/>
            <a:ext cx="10515600" cy="1325563"/>
          </a:xfrm>
        </p:spPr>
        <p:txBody>
          <a:bodyPr/>
          <a:lstStyle/>
          <a:p>
            <a:r>
              <a:rPr lang="en-US" b="1" dirty="0"/>
              <a:t>Creating a </a:t>
            </a:r>
            <a:r>
              <a:rPr lang="en-US" b="1" dirty="0" err="1"/>
              <a:t>DataFrame</a:t>
            </a:r>
            <a:r>
              <a:rPr lang="en-US" b="1" dirty="0"/>
              <a:t> from scratch</a:t>
            </a:r>
          </a:p>
        </p:txBody>
      </p:sp>
      <p:sp>
        <p:nvSpPr>
          <p:cNvPr id="3" name="Content Placeholder 2"/>
          <p:cNvSpPr>
            <a:spLocks noGrp="1"/>
          </p:cNvSpPr>
          <p:nvPr>
            <p:ph idx="1"/>
          </p:nvPr>
        </p:nvSpPr>
        <p:spPr>
          <a:xfrm>
            <a:off x="838199" y="1508615"/>
            <a:ext cx="10515600" cy="4870920"/>
          </a:xfrm>
        </p:spPr>
        <p:txBody>
          <a:bodyPr>
            <a:noAutofit/>
          </a:bodyPr>
          <a:lstStyle/>
          <a:p>
            <a:pPr>
              <a:lnSpc>
                <a:spcPct val="110000"/>
              </a:lnSpc>
            </a:pPr>
            <a:r>
              <a:rPr lang="en-US" sz="2000" dirty="0"/>
              <a:t>There are many ways to create a </a:t>
            </a:r>
            <a:r>
              <a:rPr lang="en-US" sz="2000" dirty="0" err="1"/>
              <a:t>DataFrame</a:t>
            </a:r>
            <a:r>
              <a:rPr lang="en-US" sz="2000" dirty="0"/>
              <a:t> from scratch, but a great option is to just use a simple dict. But first you must import pandas.</a:t>
            </a:r>
          </a:p>
          <a:p>
            <a:pPr>
              <a:lnSpc>
                <a:spcPct val="110000"/>
              </a:lnSpc>
            </a:pPr>
            <a:endParaRPr lang="en-US" sz="2000" dirty="0"/>
          </a:p>
          <a:p>
            <a:pPr>
              <a:lnSpc>
                <a:spcPct val="110000"/>
              </a:lnSpc>
            </a:pPr>
            <a:r>
              <a:rPr lang="en-US" sz="2000" dirty="0"/>
              <a:t>Let's say we have a fruit stand that sells apples and oranges. We want to have a column for each fruit and a row for each customer purchase. To organize this as a dictionary for pandas we could do something like:</a:t>
            </a:r>
          </a:p>
          <a:p>
            <a:pPr>
              <a:lnSpc>
                <a:spcPct val="110000"/>
              </a:lnSpc>
            </a:pPr>
            <a:endParaRPr lang="en-US" sz="2000" dirty="0"/>
          </a:p>
          <a:p>
            <a:pPr>
              <a:lnSpc>
                <a:spcPct val="110000"/>
              </a:lnSpc>
            </a:pPr>
            <a:endParaRPr lang="en-US" sz="2000" dirty="0"/>
          </a:p>
          <a:p>
            <a:pPr>
              <a:lnSpc>
                <a:spcPct val="110000"/>
              </a:lnSpc>
            </a:pPr>
            <a:r>
              <a:rPr lang="en-US" sz="2000" dirty="0"/>
              <a:t>And then pass it to the pandas </a:t>
            </a:r>
            <a:r>
              <a:rPr lang="en-US" sz="2000" dirty="0" err="1"/>
              <a:t>DataFrame</a:t>
            </a:r>
            <a:r>
              <a:rPr lang="en-US" sz="2000" dirty="0"/>
              <a:t> constructor:</a:t>
            </a:r>
          </a:p>
          <a:p>
            <a:pPr>
              <a:lnSpc>
                <a:spcPct val="110000"/>
              </a:lnSpc>
            </a:pPr>
            <a:endParaRPr lang="en-US" sz="1800" dirty="0"/>
          </a:p>
        </p:txBody>
      </p:sp>
      <p:sp>
        <p:nvSpPr>
          <p:cNvPr id="5" name="Rectangle 4"/>
          <p:cNvSpPr/>
          <p:nvPr/>
        </p:nvSpPr>
        <p:spPr>
          <a:xfrm>
            <a:off x="1107213" y="5518023"/>
            <a:ext cx="5746215" cy="369332"/>
          </a:xfrm>
          <a:prstGeom prst="rect">
            <a:avLst/>
          </a:prstGeom>
          <a:solidFill>
            <a:schemeClr val="accent4">
              <a:lumMod val="20000"/>
              <a:lumOff val="80000"/>
            </a:schemeClr>
          </a:solidFill>
          <a:ln>
            <a:solidFill>
              <a:schemeClr val="accent1"/>
            </a:solidFill>
          </a:ln>
        </p:spPr>
        <p:txBody>
          <a:bodyPr wrap="square">
            <a:spAutoFit/>
          </a:bodyPr>
          <a:lstStyle/>
          <a:p>
            <a:r>
              <a:rPr lang="en-US" b="1" dirty="0" err="1">
                <a:solidFill>
                  <a:srgbClr val="000000"/>
                </a:solidFill>
                <a:latin typeface="Courier New" panose="02070309020205020404" pitchFamily="49" charset="0"/>
              </a:rPr>
              <a:t>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000000"/>
                </a:solidFill>
                <a:latin typeface="Courier New" panose="02070309020205020404" pitchFamily="49" charset="0"/>
              </a:rPr>
              <a:t>pd.</a:t>
            </a:r>
            <a:r>
              <a:rPr lang="en-US" b="1" dirty="0" err="1">
                <a:solidFill>
                  <a:srgbClr val="4271AE"/>
                </a:solidFill>
                <a:latin typeface="Courier New" panose="02070309020205020404" pitchFamily="49" charset="0"/>
                <a:cs typeface="Courier New" panose="02070309020205020404" pitchFamily="49" charset="0"/>
              </a:rPr>
              <a:t>DataFrame</a:t>
            </a:r>
            <a:r>
              <a:rPr lang="en-US" b="1" dirty="0">
                <a:solidFill>
                  <a:srgbClr val="000000"/>
                </a:solidFill>
                <a:latin typeface="Courier New" panose="02070309020205020404" pitchFamily="49" charset="0"/>
              </a:rPr>
              <a:t>(data)</a:t>
            </a:r>
          </a:p>
        </p:txBody>
      </p:sp>
      <p:sp>
        <p:nvSpPr>
          <p:cNvPr id="6" name="Right Arrow 5"/>
          <p:cNvSpPr/>
          <p:nvPr/>
        </p:nvSpPr>
        <p:spPr>
          <a:xfrm>
            <a:off x="7714199" y="5408890"/>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7" name="Rectangle 6"/>
          <p:cNvSpPr/>
          <p:nvPr/>
        </p:nvSpPr>
        <p:spPr>
          <a:xfrm>
            <a:off x="1080892" y="2361387"/>
            <a:ext cx="2803973"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a:solidFill>
                  <a:srgbClr val="AF00DB"/>
                </a:solidFill>
                <a:latin typeface="Courier New" panose="02070309020205020404" pitchFamily="49" charset="0"/>
              </a:rPr>
              <a:t>import</a:t>
            </a:r>
            <a:r>
              <a:rPr lang="en-US" b="1" dirty="0">
                <a:solidFill>
                  <a:srgbClr val="000000"/>
                </a:solidFill>
                <a:latin typeface="Courier New" panose="02070309020205020404" pitchFamily="49" charset="0"/>
              </a:rPr>
              <a:t> pandas </a:t>
            </a:r>
            <a:r>
              <a:rPr lang="en-US" b="1" dirty="0">
                <a:solidFill>
                  <a:srgbClr val="AF00DB"/>
                </a:solidFill>
                <a:latin typeface="Courier New" panose="02070309020205020404" pitchFamily="49" charset="0"/>
              </a:rPr>
              <a:t>as</a:t>
            </a:r>
            <a:r>
              <a:rPr lang="en-US" b="1" dirty="0">
                <a:solidFill>
                  <a:srgbClr val="000000"/>
                </a:solidFill>
                <a:latin typeface="Courier New" panose="02070309020205020404" pitchFamily="49" charset="0"/>
              </a:rPr>
              <a:t> </a:t>
            </a:r>
            <a:r>
              <a:rPr lang="en-US" b="1" dirty="0" err="1">
                <a:solidFill>
                  <a:srgbClr val="000000"/>
                </a:solidFill>
                <a:latin typeface="Courier New" panose="02070309020205020404" pitchFamily="49" charset="0"/>
              </a:rPr>
              <a:t>pd</a:t>
            </a:r>
            <a:endParaRPr lang="en-US" b="1" dirty="0">
              <a:solidFill>
                <a:srgbClr val="000000"/>
              </a:solidFill>
              <a:effectLst/>
              <a:latin typeface="Courier New" panose="02070309020205020404" pitchFamily="49" charset="0"/>
            </a:endParaRPr>
          </a:p>
        </p:txBody>
      </p:sp>
      <p:sp>
        <p:nvSpPr>
          <p:cNvPr id="9" name="Rectangle 8"/>
          <p:cNvSpPr/>
          <p:nvPr/>
        </p:nvSpPr>
        <p:spPr>
          <a:xfrm>
            <a:off x="1080892" y="3940717"/>
            <a:ext cx="8574491" cy="369332"/>
          </a:xfrm>
          <a:prstGeom prst="rect">
            <a:avLst/>
          </a:prstGeom>
          <a:solidFill>
            <a:schemeClr val="accent4">
              <a:lumMod val="20000"/>
              <a:lumOff val="80000"/>
            </a:schemeClr>
          </a:solidFill>
          <a:ln>
            <a:solidFill>
              <a:schemeClr val="accent1"/>
            </a:solidFill>
          </a:ln>
        </p:spPr>
        <p:txBody>
          <a:bodyPr wrap="square">
            <a:spAutoFit/>
          </a:bodyPr>
          <a:lstStyle/>
          <a:p>
            <a:r>
              <a:rPr lang="it-IT" b="1" dirty="0">
                <a:solidFill>
                  <a:srgbClr val="000000"/>
                </a:solidFill>
                <a:latin typeface="Courier New" panose="02070309020205020404" pitchFamily="49" charset="0"/>
              </a:rPr>
              <a:t>data = { </a:t>
            </a:r>
            <a:r>
              <a:rPr lang="it-IT" b="1" dirty="0">
                <a:solidFill>
                  <a:srgbClr val="A31515"/>
                </a:solidFill>
                <a:latin typeface="Courier New" panose="02070309020205020404" pitchFamily="49" charset="0"/>
              </a:rPr>
              <a:t>'apples'</a:t>
            </a:r>
            <a:r>
              <a:rPr lang="it-IT" b="1" dirty="0">
                <a:solidFill>
                  <a:srgbClr val="000000"/>
                </a:solidFill>
                <a:latin typeface="Courier New" panose="02070309020205020404" pitchFamily="49" charset="0"/>
              </a:rPr>
              <a:t>:[</a:t>
            </a:r>
            <a:r>
              <a:rPr lang="it-IT" b="1" dirty="0">
                <a:solidFill>
                  <a:srgbClr val="09885A"/>
                </a:solidFill>
                <a:latin typeface="Courier New" panose="02070309020205020404" pitchFamily="49" charset="0"/>
              </a:rPr>
              <a:t>3</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2</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0</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1</a:t>
            </a:r>
            <a:r>
              <a:rPr lang="it-IT" b="1" dirty="0">
                <a:solidFill>
                  <a:srgbClr val="000000"/>
                </a:solidFill>
                <a:latin typeface="Courier New" panose="02070309020205020404" pitchFamily="49" charset="0"/>
              </a:rPr>
              <a:t>] , </a:t>
            </a:r>
            <a:r>
              <a:rPr lang="it-IT" b="1" dirty="0">
                <a:solidFill>
                  <a:srgbClr val="A31515"/>
                </a:solidFill>
                <a:latin typeface="Courier New" panose="02070309020205020404" pitchFamily="49" charset="0"/>
              </a:rPr>
              <a:t>'oranges'</a:t>
            </a:r>
            <a:r>
              <a:rPr lang="it-IT" b="1" dirty="0">
                <a:solidFill>
                  <a:srgbClr val="000000"/>
                </a:solidFill>
                <a:latin typeface="Courier New" panose="02070309020205020404" pitchFamily="49" charset="0"/>
              </a:rPr>
              <a:t>:[</a:t>
            </a:r>
            <a:r>
              <a:rPr lang="it-IT" b="1" dirty="0">
                <a:solidFill>
                  <a:srgbClr val="09885A"/>
                </a:solidFill>
                <a:latin typeface="Courier New" panose="02070309020205020404" pitchFamily="49" charset="0"/>
              </a:rPr>
              <a:t>0</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3</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7</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2</a:t>
            </a:r>
            <a:r>
              <a:rPr lang="it-IT" b="1" dirty="0">
                <a:solidFill>
                  <a:srgbClr val="000000"/>
                </a:solidFill>
                <a:latin typeface="Courier New" panose="02070309020205020404" pitchFamily="49" charset="0"/>
              </a:rPr>
              <a:t>] }</a:t>
            </a:r>
            <a:endParaRPr lang="it-IT" b="1" dirty="0">
              <a:solidFill>
                <a:srgbClr val="000000"/>
              </a:solidFill>
              <a:effectLst/>
              <a:latin typeface="Courier New" panose="02070309020205020404" pitchFamily="49" charset="0"/>
            </a:endParaRPr>
          </a:p>
        </p:txBody>
      </p:sp>
      <p:pic>
        <p:nvPicPr>
          <p:cNvPr id="10" name="Picture 9"/>
          <p:cNvPicPr>
            <a:picLocks noChangeAspect="1"/>
          </p:cNvPicPr>
          <p:nvPr/>
        </p:nvPicPr>
        <p:blipFill>
          <a:blip r:embed="rId2"/>
          <a:stretch>
            <a:fillRect/>
          </a:stretch>
        </p:blipFill>
        <p:spPr>
          <a:xfrm>
            <a:off x="9351147" y="4744740"/>
            <a:ext cx="2002652" cy="1884849"/>
          </a:xfrm>
          <a:prstGeom prst="rect">
            <a:avLst/>
          </a:prstGeom>
        </p:spPr>
      </p:pic>
    </p:spTree>
    <p:extLst>
      <p:ext uri="{BB962C8B-B14F-4D97-AF65-F5344CB8AC3E}">
        <p14:creationId xmlns:p14="http://schemas.microsoft.com/office/powerpoint/2010/main" val="477546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6026"/>
            <a:ext cx="10515600" cy="1092843"/>
          </a:xfrm>
        </p:spPr>
        <p:txBody>
          <a:bodyPr/>
          <a:lstStyle/>
          <a:p>
            <a:r>
              <a:rPr lang="en-US" b="1" dirty="0"/>
              <a:t>How did that work?</a:t>
            </a:r>
          </a:p>
        </p:txBody>
      </p:sp>
      <p:sp>
        <p:nvSpPr>
          <p:cNvPr id="3" name="Content Placeholder 2"/>
          <p:cNvSpPr>
            <a:spLocks noGrp="1"/>
          </p:cNvSpPr>
          <p:nvPr>
            <p:ph idx="1"/>
          </p:nvPr>
        </p:nvSpPr>
        <p:spPr>
          <a:xfrm>
            <a:off x="838200" y="1448294"/>
            <a:ext cx="10515600" cy="1534520"/>
          </a:xfrm>
        </p:spPr>
        <p:txBody>
          <a:bodyPr>
            <a:normAutofit/>
          </a:bodyPr>
          <a:lstStyle/>
          <a:p>
            <a:r>
              <a:rPr lang="en-US" sz="2000" dirty="0"/>
              <a:t>Each (</a:t>
            </a:r>
            <a:r>
              <a:rPr lang="en-US" sz="2000" dirty="0">
                <a:solidFill>
                  <a:srgbClr val="FF0000"/>
                </a:solidFill>
              </a:rPr>
              <a:t>key</a:t>
            </a:r>
            <a:r>
              <a:rPr lang="en-US" sz="2000" dirty="0"/>
              <a:t>, </a:t>
            </a:r>
            <a:r>
              <a:rPr lang="en-US" sz="2000" dirty="0">
                <a:solidFill>
                  <a:srgbClr val="FF0000"/>
                </a:solidFill>
              </a:rPr>
              <a:t>value</a:t>
            </a:r>
            <a:r>
              <a:rPr lang="en-US" sz="2000" dirty="0"/>
              <a:t>) item in data corresponds to a </a:t>
            </a:r>
            <a:r>
              <a:rPr lang="en-US" sz="2000" dirty="0">
                <a:solidFill>
                  <a:srgbClr val="FF0000"/>
                </a:solidFill>
              </a:rPr>
              <a:t>column</a:t>
            </a:r>
            <a:r>
              <a:rPr lang="en-US" sz="2000" dirty="0"/>
              <a:t> in the resulting </a:t>
            </a:r>
            <a:r>
              <a:rPr lang="en-US" sz="2000" dirty="0" err="1">
                <a:solidFill>
                  <a:srgbClr val="0070C0"/>
                </a:solidFill>
              </a:rPr>
              <a:t>DataFrame</a:t>
            </a:r>
            <a:r>
              <a:rPr lang="en-US" sz="2000" dirty="0"/>
              <a:t>.</a:t>
            </a:r>
          </a:p>
          <a:p>
            <a:r>
              <a:rPr lang="en-US" sz="2000" dirty="0"/>
              <a:t>The </a:t>
            </a:r>
            <a:r>
              <a:rPr lang="en-US" sz="2000" dirty="0">
                <a:solidFill>
                  <a:srgbClr val="FF0000"/>
                </a:solidFill>
              </a:rPr>
              <a:t>Index</a:t>
            </a:r>
            <a:r>
              <a:rPr lang="en-US" sz="2000" dirty="0"/>
              <a:t> of this </a:t>
            </a:r>
            <a:r>
              <a:rPr lang="en-US" sz="2000" u="sng" dirty="0" err="1"/>
              <a:t>DataFrame</a:t>
            </a:r>
            <a:r>
              <a:rPr lang="en-US" sz="2000" dirty="0"/>
              <a:t> was given to us on creation as the numbers </a:t>
            </a:r>
            <a:r>
              <a:rPr lang="en-US" sz="2000" b="1" dirty="0">
                <a:latin typeface="Courier New" panose="02070309020205020404" pitchFamily="49" charset="0"/>
                <a:cs typeface="Courier New" panose="02070309020205020404" pitchFamily="49" charset="0"/>
              </a:rPr>
              <a:t>0-3</a:t>
            </a:r>
            <a:r>
              <a:rPr lang="en-US" sz="2000" dirty="0"/>
              <a:t>, but we could also create our own when we initialize the </a:t>
            </a:r>
            <a:r>
              <a:rPr lang="en-US" sz="2000" u="sng" dirty="0" err="1"/>
              <a:t>DataFrame</a:t>
            </a:r>
            <a:r>
              <a:rPr lang="en-US" sz="2000" dirty="0"/>
              <a:t>.</a:t>
            </a:r>
          </a:p>
          <a:p>
            <a:r>
              <a:rPr lang="en-US" sz="2000" dirty="0"/>
              <a:t>E.g. if you want to have customer names as the </a:t>
            </a:r>
            <a:r>
              <a:rPr lang="en-US" sz="2000" dirty="0">
                <a:solidFill>
                  <a:srgbClr val="FF0000"/>
                </a:solidFill>
              </a:rPr>
              <a:t>index</a:t>
            </a:r>
            <a:r>
              <a:rPr lang="en-US" sz="2000" dirty="0"/>
              <a:t>:</a:t>
            </a:r>
          </a:p>
        </p:txBody>
      </p:sp>
      <p:sp>
        <p:nvSpPr>
          <p:cNvPr id="6" name="Rectangle 5"/>
          <p:cNvSpPr/>
          <p:nvPr/>
        </p:nvSpPr>
        <p:spPr>
          <a:xfrm>
            <a:off x="7886700" y="4006071"/>
            <a:ext cx="4055584" cy="646331"/>
          </a:xfrm>
          <a:prstGeom prst="rect">
            <a:avLst/>
          </a:prstGeom>
        </p:spPr>
        <p:txBody>
          <a:bodyPr wrap="square">
            <a:spAutoFit/>
          </a:bodyPr>
          <a:lstStyle/>
          <a:p>
            <a:pPr marL="285750" indent="-285750">
              <a:buFont typeface="Arial" panose="020B0604020202020204" pitchFamily="34" charset="0"/>
              <a:buChar char="•"/>
            </a:pPr>
            <a:r>
              <a:rPr lang="en-US" dirty="0"/>
              <a:t>So now we could locate a customer's order by using their names:</a:t>
            </a:r>
          </a:p>
        </p:txBody>
      </p:sp>
      <p:sp>
        <p:nvSpPr>
          <p:cNvPr id="9" name="Rectangle 8"/>
          <p:cNvSpPr/>
          <p:nvPr/>
        </p:nvSpPr>
        <p:spPr>
          <a:xfrm>
            <a:off x="1131064" y="3142239"/>
            <a:ext cx="10479689" cy="400110"/>
          </a:xfrm>
          <a:prstGeom prst="rect">
            <a:avLst/>
          </a:prstGeom>
          <a:solidFill>
            <a:schemeClr val="accent4">
              <a:lumMod val="20000"/>
              <a:lumOff val="80000"/>
            </a:schemeClr>
          </a:solidFill>
          <a:ln>
            <a:solidFill>
              <a:schemeClr val="accent1"/>
            </a:solidFill>
          </a:ln>
        </p:spPr>
        <p:txBody>
          <a:bodyPr wrap="square">
            <a:spAutoFit/>
          </a:bodyPr>
          <a:lstStyle/>
          <a:p>
            <a:r>
              <a:rPr lang="en-US" b="1" dirty="0" err="1">
                <a:solidFill>
                  <a:srgbClr val="000000"/>
                </a:solidFill>
                <a:latin typeface="Courier New" panose="02070309020205020404" pitchFamily="49" charset="0"/>
              </a:rPr>
              <a:t>df</a:t>
            </a:r>
            <a:r>
              <a:rPr lang="en-US" b="1" dirty="0">
                <a:solidFill>
                  <a:srgbClr val="000000"/>
                </a:solidFill>
                <a:latin typeface="Courier New" panose="02070309020205020404" pitchFamily="49" charset="0"/>
              </a:rPr>
              <a:t> = </a:t>
            </a:r>
            <a:r>
              <a:rPr lang="en-US" b="1" dirty="0" err="1">
                <a:solidFill>
                  <a:srgbClr val="000000"/>
                </a:solidFill>
                <a:latin typeface="Courier New" panose="02070309020205020404" pitchFamily="49" charset="0"/>
              </a:rPr>
              <a:t>pd.</a:t>
            </a:r>
            <a:r>
              <a:rPr lang="en-US" sz="2000" b="1" dirty="0" err="1">
                <a:solidFill>
                  <a:srgbClr val="4271AE"/>
                </a:solidFill>
                <a:latin typeface="Courier New" panose="02070309020205020404" pitchFamily="49" charset="0"/>
                <a:cs typeface="Courier New" panose="02070309020205020404" pitchFamily="49" charset="0"/>
              </a:rPr>
              <a:t>DataFrame</a:t>
            </a:r>
            <a:r>
              <a:rPr lang="en-US" b="1" dirty="0">
                <a:solidFill>
                  <a:srgbClr val="000000"/>
                </a:solidFill>
                <a:latin typeface="Courier New" panose="02070309020205020404" pitchFamily="49" charset="0"/>
              </a:rPr>
              <a:t>(data, index=[</a:t>
            </a:r>
            <a:r>
              <a:rPr lang="en-US" b="1" dirty="0">
                <a:solidFill>
                  <a:srgbClr val="A31515"/>
                </a:solidFill>
                <a:latin typeface="Courier New" panose="02070309020205020404" pitchFamily="49" charset="0"/>
              </a:rPr>
              <a:t>'Ahmad'</a:t>
            </a:r>
            <a:r>
              <a:rPr lang="en-US" b="1" dirty="0">
                <a:solidFill>
                  <a:srgbClr val="000000"/>
                </a:solidFill>
                <a:latin typeface="Courier New" panose="02070309020205020404" pitchFamily="49" charset="0"/>
              </a:rPr>
              <a:t>, </a:t>
            </a:r>
            <a:r>
              <a:rPr lang="en-US" b="1" dirty="0">
                <a:solidFill>
                  <a:srgbClr val="A31515"/>
                </a:solidFill>
                <a:latin typeface="Courier New" panose="02070309020205020404" pitchFamily="49" charset="0"/>
              </a:rPr>
              <a:t>'Ali'</a:t>
            </a:r>
            <a:r>
              <a:rPr lang="en-US" b="1" dirty="0">
                <a:solidFill>
                  <a:srgbClr val="000000"/>
                </a:solidFill>
                <a:latin typeface="Courier New" panose="02070309020205020404" pitchFamily="49" charset="0"/>
              </a:rPr>
              <a:t>, </a:t>
            </a:r>
            <a:r>
              <a:rPr lang="en-US" b="1" dirty="0">
                <a:solidFill>
                  <a:srgbClr val="A31515"/>
                </a:solidFill>
                <a:latin typeface="Courier New" panose="02070309020205020404" pitchFamily="49" charset="0"/>
              </a:rPr>
              <a:t>'</a:t>
            </a:r>
            <a:r>
              <a:rPr lang="en-US" b="1" dirty="0" err="1">
                <a:solidFill>
                  <a:srgbClr val="A31515"/>
                </a:solidFill>
                <a:latin typeface="Courier New" panose="02070309020205020404" pitchFamily="49" charset="0"/>
              </a:rPr>
              <a:t>Rashed</a:t>
            </a:r>
            <a:r>
              <a:rPr lang="en-US" b="1" dirty="0">
                <a:solidFill>
                  <a:srgbClr val="A31515"/>
                </a:solidFill>
                <a:latin typeface="Courier New" panose="02070309020205020404" pitchFamily="49" charset="0"/>
              </a:rPr>
              <a:t>'</a:t>
            </a:r>
            <a:r>
              <a:rPr lang="en-US" b="1" dirty="0">
                <a:solidFill>
                  <a:srgbClr val="000000"/>
                </a:solidFill>
                <a:latin typeface="Courier New" panose="02070309020205020404" pitchFamily="49" charset="0"/>
              </a:rPr>
              <a:t>, </a:t>
            </a:r>
            <a:r>
              <a:rPr lang="en-US" b="1" dirty="0">
                <a:solidFill>
                  <a:srgbClr val="A31515"/>
                </a:solidFill>
                <a:latin typeface="Courier New" panose="02070309020205020404" pitchFamily="49" charset="0"/>
              </a:rPr>
              <a:t>'Hamza'</a:t>
            </a:r>
            <a:r>
              <a:rPr lang="en-US" b="1" dirty="0">
                <a:solidFill>
                  <a:srgbClr val="000000"/>
                </a:solidFill>
                <a:latin typeface="Courier New" panose="02070309020205020404" pitchFamily="49" charset="0"/>
              </a:rPr>
              <a:t>])</a:t>
            </a:r>
            <a:endParaRPr lang="en-US" b="1" dirty="0">
              <a:solidFill>
                <a:srgbClr val="000000"/>
              </a:solidFill>
              <a:effectLst/>
              <a:latin typeface="Courier New" panose="02070309020205020404" pitchFamily="49" charset="0"/>
            </a:endParaRPr>
          </a:p>
        </p:txBody>
      </p:sp>
      <p:pic>
        <p:nvPicPr>
          <p:cNvPr id="10" name="Picture 9"/>
          <p:cNvPicPr>
            <a:picLocks noChangeAspect="1"/>
          </p:cNvPicPr>
          <p:nvPr/>
        </p:nvPicPr>
        <p:blipFill>
          <a:blip r:embed="rId2"/>
          <a:stretch>
            <a:fillRect/>
          </a:stretch>
        </p:blipFill>
        <p:spPr>
          <a:xfrm>
            <a:off x="1012460" y="3855396"/>
            <a:ext cx="3452317" cy="2528710"/>
          </a:xfrm>
          <a:prstGeom prst="rect">
            <a:avLst/>
          </a:prstGeom>
        </p:spPr>
      </p:pic>
      <p:sp>
        <p:nvSpPr>
          <p:cNvPr id="11" name="Rectangle 10"/>
          <p:cNvSpPr/>
          <p:nvPr/>
        </p:nvSpPr>
        <p:spPr>
          <a:xfrm>
            <a:off x="7886700" y="4888772"/>
            <a:ext cx="1976823"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000000"/>
                </a:solidFill>
                <a:latin typeface="Courier New" panose="02070309020205020404" pitchFamily="49" charset="0"/>
              </a:rPr>
              <a:t>df.loc</a:t>
            </a:r>
            <a:r>
              <a:rPr lang="en-US" b="1" dirty="0">
                <a:solidFill>
                  <a:srgbClr val="000000"/>
                </a:solidFill>
                <a:latin typeface="Courier New" panose="02070309020205020404" pitchFamily="49" charset="0"/>
              </a:rPr>
              <a:t>[</a:t>
            </a:r>
            <a:r>
              <a:rPr lang="en-US" b="1" dirty="0">
                <a:solidFill>
                  <a:srgbClr val="A31515"/>
                </a:solidFill>
                <a:latin typeface="Courier New" panose="02070309020205020404" pitchFamily="49" charset="0"/>
              </a:rPr>
              <a:t>'Ali'</a:t>
            </a:r>
            <a:r>
              <a:rPr lang="en-US" b="1" dirty="0">
                <a:solidFill>
                  <a:srgbClr val="000000"/>
                </a:solidFill>
                <a:latin typeface="Courier New" panose="02070309020205020404" pitchFamily="49" charset="0"/>
              </a:rPr>
              <a:t>]</a:t>
            </a:r>
            <a:endParaRPr lang="en-US" b="1" dirty="0">
              <a:solidFill>
                <a:srgbClr val="000000"/>
              </a:solidFill>
              <a:effectLst/>
              <a:latin typeface="Courier New" panose="02070309020205020404" pitchFamily="49" charset="0"/>
            </a:endParaRPr>
          </a:p>
        </p:txBody>
      </p:sp>
      <p:pic>
        <p:nvPicPr>
          <p:cNvPr id="12" name="Picture 11"/>
          <p:cNvPicPr>
            <a:picLocks noChangeAspect="1"/>
          </p:cNvPicPr>
          <p:nvPr/>
        </p:nvPicPr>
        <p:blipFill>
          <a:blip r:embed="rId3"/>
          <a:stretch>
            <a:fillRect/>
          </a:stretch>
        </p:blipFill>
        <p:spPr>
          <a:xfrm>
            <a:off x="7886700" y="5494375"/>
            <a:ext cx="3467100" cy="981075"/>
          </a:xfrm>
          <a:prstGeom prst="rect">
            <a:avLst/>
          </a:prstGeom>
        </p:spPr>
      </p:pic>
    </p:spTree>
    <p:extLst>
      <p:ext uri="{BB962C8B-B14F-4D97-AF65-F5344CB8AC3E}">
        <p14:creationId xmlns:p14="http://schemas.microsoft.com/office/powerpoint/2010/main" val="2252614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822"/>
            <a:ext cx="10515600" cy="956899"/>
          </a:xfrm>
        </p:spPr>
        <p:txBody>
          <a:bodyPr/>
          <a:lstStyle/>
          <a:p>
            <a:r>
              <a:rPr lang="en-US" b="1" dirty="0" err="1"/>
              <a:t>pandas.DataFrame.</a:t>
            </a:r>
            <a:r>
              <a:rPr lang="en-US" b="1" dirty="0" err="1">
                <a:solidFill>
                  <a:srgbClr val="0070C0"/>
                </a:solidFill>
              </a:rPr>
              <a:t>from_dict</a:t>
            </a:r>
            <a:endParaRPr lang="en-US" b="1" dirty="0">
              <a:solidFill>
                <a:srgbClr val="0070C0"/>
              </a:solidFill>
            </a:endParaRPr>
          </a:p>
        </p:txBody>
      </p:sp>
      <p:sp>
        <p:nvSpPr>
          <p:cNvPr id="4" name="Rectangle 3"/>
          <p:cNvSpPr/>
          <p:nvPr/>
        </p:nvSpPr>
        <p:spPr>
          <a:xfrm>
            <a:off x="310308" y="1113551"/>
            <a:ext cx="11510791" cy="369332"/>
          </a:xfrm>
          <a:prstGeom prst="rect">
            <a:avLst/>
          </a:prstGeom>
          <a:solidFill>
            <a:schemeClr val="accent4">
              <a:lumMod val="20000"/>
              <a:lumOff val="80000"/>
            </a:schemeClr>
          </a:solidFill>
          <a:ln>
            <a:solidFill>
              <a:schemeClr val="accent1"/>
            </a:solidFill>
          </a:ln>
        </p:spPr>
        <p:txBody>
          <a:bodyPr wrap="square">
            <a:spAutoFit/>
          </a:bodyPr>
          <a:lstStyle/>
          <a:p>
            <a:r>
              <a:rPr lang="en-US" b="1" dirty="0" err="1">
                <a:latin typeface="Courier New" panose="02070309020205020404" pitchFamily="49" charset="0"/>
                <a:cs typeface="Courier New" panose="02070309020205020404" pitchFamily="49" charset="0"/>
              </a:rPr>
              <a:t>pandas.DataFrame.</a:t>
            </a:r>
            <a:r>
              <a:rPr lang="en-US" b="1" dirty="0" err="1">
                <a:solidFill>
                  <a:srgbClr val="0070C0"/>
                </a:solidFill>
                <a:latin typeface="Courier New" panose="02070309020205020404" pitchFamily="49" charset="0"/>
                <a:cs typeface="Courier New" panose="02070309020205020404" pitchFamily="49" charset="0"/>
              </a:rPr>
              <a:t>from_dict</a:t>
            </a:r>
            <a:r>
              <a:rPr lang="en-US" b="1" dirty="0">
                <a:latin typeface="Courier New" panose="02070309020205020404" pitchFamily="49" charset="0"/>
                <a:cs typeface="Courier New" panose="02070309020205020404" pitchFamily="49" charset="0"/>
              </a:rPr>
              <a:t>(data, orient='columns', </a:t>
            </a:r>
            <a:r>
              <a:rPr lang="en-US" b="1" dirty="0" err="1">
                <a:latin typeface="Courier New" panose="02070309020205020404" pitchFamily="49" charset="0"/>
                <a:cs typeface="Courier New" panose="02070309020205020404" pitchFamily="49" charset="0"/>
              </a:rPr>
              <a:t>dtype</a:t>
            </a:r>
            <a:r>
              <a:rPr lang="en-US" b="1" dirty="0">
                <a:latin typeface="Courier New" panose="02070309020205020404" pitchFamily="49" charset="0"/>
                <a:cs typeface="Courier New" panose="02070309020205020404" pitchFamily="49" charset="0"/>
              </a:rPr>
              <a:t>=None, columns=None)</a:t>
            </a:r>
          </a:p>
        </p:txBody>
      </p:sp>
      <p:sp>
        <p:nvSpPr>
          <p:cNvPr id="7" name="Rectangle 6"/>
          <p:cNvSpPr/>
          <p:nvPr/>
        </p:nvSpPr>
        <p:spPr>
          <a:xfrm>
            <a:off x="310308" y="1687354"/>
            <a:ext cx="11720111" cy="4401205"/>
          </a:xfrm>
          <a:prstGeom prst="rect">
            <a:avLst/>
          </a:prstGeom>
        </p:spPr>
        <p:txBody>
          <a:bodyPr wrap="square">
            <a:spAutoFit/>
          </a:bodyPr>
          <a:lstStyle/>
          <a:p>
            <a:pPr marL="285750" indent="-285750">
              <a:buFont typeface="Arial" panose="020B0604020202020204" pitchFamily="34" charset="0"/>
              <a:buChar char="•"/>
            </a:pPr>
            <a:r>
              <a:rPr lang="en-US" sz="2000" b="1" dirty="0"/>
              <a:t>data</a:t>
            </a:r>
            <a:r>
              <a:rPr lang="en-US" sz="2000" dirty="0"/>
              <a:t> : </a:t>
            </a:r>
            <a:r>
              <a:rPr lang="en-US" sz="2000" dirty="0" err="1"/>
              <a:t>dict</a:t>
            </a:r>
            <a:endParaRPr lang="en-US" sz="2000" dirty="0"/>
          </a:p>
          <a:p>
            <a:pPr marL="742950" lvl="1" indent="-285750">
              <a:buFont typeface="Arial" panose="020B0604020202020204" pitchFamily="34" charset="0"/>
              <a:buChar char="•"/>
            </a:pPr>
            <a:r>
              <a:rPr lang="en-US" sz="2000" dirty="0"/>
              <a:t>Of the form </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field:array-like</a:t>
            </a:r>
            <a:r>
              <a:rPr lang="en-US" sz="2000" b="1" dirty="0">
                <a:latin typeface="Courier New" panose="02070309020205020404" pitchFamily="49" charset="0"/>
                <a:cs typeface="Courier New" panose="02070309020205020404" pitchFamily="49" charset="0"/>
              </a:rPr>
              <a:t>} </a:t>
            </a:r>
            <a:r>
              <a:rPr lang="en-US" sz="2000" dirty="0"/>
              <a:t>or </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field:dict</a:t>
            </a:r>
            <a:r>
              <a:rPr lang="en-US" sz="2000" b="1" dirty="0">
                <a:latin typeface="Courier New" panose="02070309020205020404" pitchFamily="49" charset="0"/>
                <a:cs typeface="Courier New" panose="02070309020205020404" pitchFamily="49" charset="0"/>
              </a:rPr>
              <a:t>}</a:t>
            </a:r>
            <a:r>
              <a:rPr lang="en-US" sz="2000" dirty="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orient</a:t>
            </a:r>
            <a:r>
              <a:rPr lang="en-US" sz="2000" dirty="0"/>
              <a:t> : </a:t>
            </a:r>
            <a:r>
              <a:rPr lang="en-US" sz="2000" b="1" dirty="0">
                <a:latin typeface="Courier New" panose="02070309020205020404" pitchFamily="49" charset="0"/>
                <a:cs typeface="Courier New" panose="02070309020205020404" pitchFamily="49" charset="0"/>
              </a:rPr>
              <a:t>{‘columns’, ‘index’}</a:t>
            </a:r>
            <a:r>
              <a:rPr lang="en-US" sz="2000" dirty="0"/>
              <a:t>, </a:t>
            </a:r>
            <a:r>
              <a:rPr lang="en-US" sz="2000" u="sng" dirty="0"/>
              <a:t>default</a:t>
            </a:r>
            <a:r>
              <a:rPr lang="en-US" sz="2000" dirty="0"/>
              <a:t> ‘</a:t>
            </a:r>
            <a:r>
              <a:rPr lang="en-US" sz="2000" b="1" dirty="0">
                <a:latin typeface="Courier New" panose="02070309020205020404" pitchFamily="49" charset="0"/>
                <a:cs typeface="Courier New" panose="02070309020205020404" pitchFamily="49" charset="0"/>
              </a:rPr>
              <a:t>columns</a:t>
            </a:r>
            <a:r>
              <a:rPr lang="en-US" sz="2000" dirty="0"/>
              <a:t>’</a:t>
            </a:r>
          </a:p>
          <a:p>
            <a:pPr marL="742950" lvl="1" indent="-285750">
              <a:buFont typeface="Arial" panose="020B0604020202020204" pitchFamily="34" charset="0"/>
              <a:buChar char="•"/>
            </a:pPr>
            <a:r>
              <a:rPr lang="en-US" sz="2000" dirty="0"/>
              <a:t>The “orientation” of the data. </a:t>
            </a:r>
          </a:p>
          <a:p>
            <a:pPr marL="742950" lvl="1" indent="-285750">
              <a:buFont typeface="Arial" panose="020B0604020202020204" pitchFamily="34" charset="0"/>
              <a:buChar char="•"/>
            </a:pPr>
            <a:r>
              <a:rPr lang="en-US" sz="2000" dirty="0"/>
              <a:t>If the keys of the passed </a:t>
            </a:r>
            <a:r>
              <a:rPr lang="en-US" sz="2000" dirty="0" err="1"/>
              <a:t>dict</a:t>
            </a:r>
            <a:r>
              <a:rPr lang="en-US" sz="2000" dirty="0"/>
              <a:t> should be the columns of the resulting </a:t>
            </a:r>
            <a:r>
              <a:rPr lang="en-US" sz="2000" dirty="0" err="1"/>
              <a:t>DataFrame</a:t>
            </a:r>
            <a:r>
              <a:rPr lang="en-US" sz="2000" dirty="0"/>
              <a:t>, pass ‘columns’ (default). </a:t>
            </a:r>
          </a:p>
          <a:p>
            <a:pPr marL="742950" lvl="1" indent="-285750">
              <a:buFont typeface="Arial" panose="020B0604020202020204" pitchFamily="34" charset="0"/>
              <a:buChar char="•"/>
            </a:pPr>
            <a:r>
              <a:rPr lang="en-US" sz="2000" dirty="0"/>
              <a:t>Otherwise if the keys should be rows, pass ‘index’.</a:t>
            </a:r>
          </a:p>
          <a:p>
            <a:endParaRPr lang="en-US" sz="2000" dirty="0"/>
          </a:p>
          <a:p>
            <a:pPr marL="285750" indent="-285750">
              <a:buFont typeface="Arial" panose="020B0604020202020204" pitchFamily="34" charset="0"/>
              <a:buChar char="•"/>
            </a:pPr>
            <a:r>
              <a:rPr lang="en-US" sz="2000" b="1" dirty="0" err="1"/>
              <a:t>dtype</a:t>
            </a:r>
            <a:r>
              <a:rPr lang="en-US" sz="2000" dirty="0"/>
              <a:t> : </a:t>
            </a:r>
            <a:r>
              <a:rPr lang="en-US" sz="2000" b="1" dirty="0" err="1">
                <a:latin typeface="Courier New" panose="02070309020205020404" pitchFamily="49" charset="0"/>
                <a:cs typeface="Courier New" panose="02070309020205020404" pitchFamily="49" charset="0"/>
              </a:rPr>
              <a:t>dtype</a:t>
            </a:r>
            <a:r>
              <a:rPr lang="en-US" sz="2000" dirty="0"/>
              <a:t>, default </a:t>
            </a:r>
            <a:r>
              <a:rPr lang="en-US" sz="2000" b="1" dirty="0">
                <a:latin typeface="Courier New" panose="02070309020205020404" pitchFamily="49" charset="0"/>
                <a:cs typeface="Courier New" panose="02070309020205020404" pitchFamily="49" charset="0"/>
              </a:rPr>
              <a:t>None</a:t>
            </a:r>
          </a:p>
          <a:p>
            <a:pPr marL="742950" lvl="1" indent="-285750">
              <a:buFont typeface="Arial" panose="020B0604020202020204" pitchFamily="34" charset="0"/>
              <a:buChar char="•"/>
            </a:pPr>
            <a:r>
              <a:rPr lang="en-US" sz="2000" dirty="0"/>
              <a:t>Data type to force, otherwise infer.</a:t>
            </a:r>
          </a:p>
          <a:p>
            <a:endParaRPr lang="en-US" sz="2000" dirty="0"/>
          </a:p>
          <a:p>
            <a:pPr marL="285750" indent="-285750">
              <a:buFont typeface="Arial" panose="020B0604020202020204" pitchFamily="34" charset="0"/>
              <a:buChar char="•"/>
            </a:pPr>
            <a:r>
              <a:rPr lang="en-US" sz="2000" b="1" dirty="0"/>
              <a:t>columns</a:t>
            </a:r>
            <a:r>
              <a:rPr lang="en-US" sz="2000" dirty="0"/>
              <a:t> : </a:t>
            </a:r>
            <a:r>
              <a:rPr lang="en-US" sz="2000" b="1" dirty="0">
                <a:latin typeface="Courier New" panose="02070309020205020404" pitchFamily="49" charset="0"/>
                <a:cs typeface="Courier New" panose="02070309020205020404" pitchFamily="49" charset="0"/>
              </a:rPr>
              <a:t>list</a:t>
            </a:r>
            <a:r>
              <a:rPr lang="en-US" sz="2000" dirty="0"/>
              <a:t>, default </a:t>
            </a:r>
            <a:r>
              <a:rPr lang="en-US" sz="2000" b="1" dirty="0">
                <a:latin typeface="Courier New" panose="02070309020205020404" pitchFamily="49" charset="0"/>
                <a:cs typeface="Courier New" panose="02070309020205020404" pitchFamily="49" charset="0"/>
              </a:rPr>
              <a:t>None</a:t>
            </a:r>
          </a:p>
          <a:p>
            <a:pPr marL="742950" lvl="1" indent="-285750">
              <a:buFont typeface="Arial" panose="020B0604020202020204" pitchFamily="34" charset="0"/>
              <a:buChar char="•"/>
            </a:pPr>
            <a:r>
              <a:rPr lang="en-US" sz="2000" dirty="0"/>
              <a:t>Column labels to use when </a:t>
            </a:r>
            <a:r>
              <a:rPr lang="en-US" sz="2000" b="1" dirty="0">
                <a:latin typeface="Courier New" panose="02070309020205020404" pitchFamily="49" charset="0"/>
                <a:cs typeface="Courier New" panose="02070309020205020404" pitchFamily="49" charset="0"/>
              </a:rPr>
              <a:t>orient='index'</a:t>
            </a:r>
            <a:r>
              <a:rPr lang="en-US" sz="2000" dirty="0"/>
              <a:t>. Raises a </a:t>
            </a:r>
            <a:r>
              <a:rPr lang="en-US" sz="2000" b="1" dirty="0" err="1">
                <a:latin typeface="Courier New" panose="02070309020205020404" pitchFamily="49" charset="0"/>
                <a:cs typeface="Courier New" panose="02070309020205020404" pitchFamily="49" charset="0"/>
              </a:rPr>
              <a:t>ValueError</a:t>
            </a:r>
            <a:r>
              <a:rPr lang="en-US" sz="2000" dirty="0"/>
              <a:t> if used with </a:t>
            </a:r>
            <a:r>
              <a:rPr lang="en-US" sz="2000" b="1" dirty="0">
                <a:latin typeface="Courier New" panose="02070309020205020404" pitchFamily="49" charset="0"/>
                <a:cs typeface="Courier New" panose="02070309020205020404" pitchFamily="49" charset="0"/>
              </a:rPr>
              <a:t>orient='columns'</a:t>
            </a:r>
            <a:r>
              <a:rPr lang="en-US" sz="2000" dirty="0"/>
              <a:t>.</a:t>
            </a:r>
          </a:p>
        </p:txBody>
      </p:sp>
      <p:sp>
        <p:nvSpPr>
          <p:cNvPr id="8" name="Rectangle 7"/>
          <p:cNvSpPr/>
          <p:nvPr/>
        </p:nvSpPr>
        <p:spPr>
          <a:xfrm>
            <a:off x="280012" y="6407353"/>
            <a:ext cx="11631976" cy="338554"/>
          </a:xfrm>
          <a:prstGeom prst="rect">
            <a:avLst/>
          </a:prstGeom>
        </p:spPr>
        <p:txBody>
          <a:bodyPr wrap="square">
            <a:spAutoFit/>
          </a:bodyPr>
          <a:lstStyle/>
          <a:p>
            <a:pPr algn="ctr"/>
            <a:r>
              <a:rPr lang="en-US" sz="1600" dirty="0">
                <a:hlinkClick r:id="rId2"/>
              </a:rPr>
              <a:t>https://pandas.pydata.org/pandas-docs/version/0.23/generated/pandas.DataFrame.from_dict.html</a:t>
            </a:r>
            <a:r>
              <a:rPr lang="en-US" sz="1600" dirty="0"/>
              <a:t> </a:t>
            </a:r>
          </a:p>
        </p:txBody>
      </p:sp>
    </p:spTree>
    <p:extLst>
      <p:ext uri="{BB962C8B-B14F-4D97-AF65-F5344CB8AC3E}">
        <p14:creationId xmlns:p14="http://schemas.microsoft.com/office/powerpoint/2010/main" val="3328263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
            <a:ext cx="10515600" cy="1031358"/>
          </a:xfrm>
        </p:spPr>
        <p:txBody>
          <a:bodyPr/>
          <a:lstStyle/>
          <a:p>
            <a:r>
              <a:rPr lang="en-US" dirty="0"/>
              <a:t>pandas’ </a:t>
            </a:r>
            <a:r>
              <a:rPr lang="en-US" b="1" dirty="0">
                <a:solidFill>
                  <a:srgbClr val="FF0000"/>
                </a:solidFill>
                <a:latin typeface="Courier New" panose="02070309020205020404" pitchFamily="49" charset="0"/>
                <a:cs typeface="Courier New" panose="02070309020205020404" pitchFamily="49" charset="0"/>
              </a:rPr>
              <a:t>orient</a:t>
            </a:r>
            <a:r>
              <a:rPr lang="en-US" dirty="0"/>
              <a:t> keyword </a:t>
            </a:r>
          </a:p>
        </p:txBody>
      </p:sp>
      <p:grpSp>
        <p:nvGrpSpPr>
          <p:cNvPr id="20" name="Group 19"/>
          <p:cNvGrpSpPr/>
          <p:nvPr/>
        </p:nvGrpSpPr>
        <p:grpSpPr>
          <a:xfrm>
            <a:off x="506817" y="586691"/>
            <a:ext cx="11240608" cy="2055391"/>
            <a:chOff x="506817" y="586691"/>
            <a:chExt cx="11240608" cy="2055391"/>
          </a:xfrm>
        </p:grpSpPr>
        <p:sp>
          <p:nvSpPr>
            <p:cNvPr id="18" name="Rectangle 17"/>
            <p:cNvSpPr/>
            <p:nvPr/>
          </p:nvSpPr>
          <p:spPr>
            <a:xfrm>
              <a:off x="506817" y="1115999"/>
              <a:ext cx="7965155" cy="646331"/>
            </a:xfrm>
            <a:prstGeom prst="rect">
              <a:avLst/>
            </a:prstGeom>
            <a:solidFill>
              <a:schemeClr val="accent4">
                <a:lumMod val="20000"/>
                <a:lumOff val="80000"/>
              </a:schemeClr>
            </a:solidFill>
            <a:ln>
              <a:solidFill>
                <a:schemeClr val="accent1"/>
              </a:solidFill>
            </a:ln>
          </p:spPr>
          <p:txBody>
            <a:bodyPr wrap="square">
              <a:spAutoFit/>
            </a:bodyPr>
            <a:lstStyle/>
            <a:p>
              <a:r>
                <a:rPr lang="en-US" b="1" dirty="0">
                  <a:solidFill>
                    <a:srgbClr val="000000"/>
                  </a:solidFill>
                  <a:latin typeface="Courier New" panose="02070309020205020404" pitchFamily="49" charset="0"/>
                </a:rPr>
                <a:t>data = {</a:t>
              </a:r>
              <a:r>
                <a:rPr lang="en-US" b="1" dirty="0">
                  <a:solidFill>
                    <a:srgbClr val="A31515"/>
                  </a:solidFill>
                  <a:latin typeface="Courier New" panose="02070309020205020404" pitchFamily="49" charset="0"/>
                </a:rPr>
                <a:t>'col_1'</a:t>
              </a:r>
              <a:r>
                <a:rPr lang="en-US" b="1" dirty="0">
                  <a:solidFill>
                    <a:srgbClr val="000000"/>
                  </a:solidFill>
                  <a:latin typeface="Courier New" panose="02070309020205020404" pitchFamily="49" charset="0"/>
                </a:rPr>
                <a:t>:[</a:t>
              </a:r>
              <a:r>
                <a:rPr lang="en-US" b="1" dirty="0">
                  <a:solidFill>
                    <a:srgbClr val="09885A"/>
                  </a:solidFill>
                  <a:latin typeface="Courier New" panose="02070309020205020404" pitchFamily="49" charset="0"/>
                </a:rPr>
                <a:t>3</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2</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1</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0</a:t>
              </a:r>
              <a:r>
                <a:rPr lang="en-US" b="1" dirty="0">
                  <a:solidFill>
                    <a:srgbClr val="000000"/>
                  </a:solidFill>
                  <a:latin typeface="Courier New" panose="02070309020205020404" pitchFamily="49" charset="0"/>
                </a:rPr>
                <a:t>], </a:t>
              </a:r>
              <a:r>
                <a:rPr lang="en-US" b="1" dirty="0">
                  <a:solidFill>
                    <a:srgbClr val="A31515"/>
                  </a:solidFill>
                  <a:latin typeface="Courier New" panose="02070309020205020404" pitchFamily="49" charset="0"/>
                </a:rPr>
                <a:t>'col_2'</a:t>
              </a:r>
              <a:r>
                <a:rPr lang="en-US" b="1" dirty="0">
                  <a:solidFill>
                    <a:srgbClr val="000000"/>
                  </a:solidFill>
                  <a:latin typeface="Courier New" panose="02070309020205020404" pitchFamily="49" charset="0"/>
                </a:rPr>
                <a:t>:[</a:t>
              </a:r>
              <a:r>
                <a:rPr lang="en-US" b="1" dirty="0">
                  <a:solidFill>
                    <a:srgbClr val="A31515"/>
                  </a:solidFill>
                  <a:latin typeface="Courier New" panose="02070309020205020404" pitchFamily="49" charset="0"/>
                </a:rPr>
                <a:t>'</a:t>
              </a:r>
              <a:r>
                <a:rPr lang="en-US" b="1" dirty="0" err="1">
                  <a:solidFill>
                    <a:srgbClr val="A31515"/>
                  </a:solidFill>
                  <a:latin typeface="Courier New" panose="02070309020205020404" pitchFamily="49" charset="0"/>
                </a:rPr>
                <a:t>a'</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'b'</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'c'</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'd</a:t>
              </a:r>
              <a:r>
                <a:rPr lang="en-US" b="1" dirty="0">
                  <a:solidFill>
                    <a:srgbClr val="A31515"/>
                  </a:solidFill>
                  <a:latin typeface="Courier New" panose="02070309020205020404" pitchFamily="49" charset="0"/>
                </a:rPr>
                <a:t>'</a:t>
              </a:r>
              <a:r>
                <a:rPr lang="en-US" b="1" dirty="0">
                  <a:solidFill>
                    <a:srgbClr val="000000"/>
                  </a:solidFill>
                  <a:latin typeface="Courier New" panose="02070309020205020404" pitchFamily="49" charset="0"/>
                </a:rPr>
                <a:t>]} </a:t>
              </a:r>
            </a:p>
            <a:p>
              <a:r>
                <a:rPr lang="en-US" b="1" dirty="0" err="1">
                  <a:solidFill>
                    <a:srgbClr val="000000"/>
                  </a:solidFill>
                  <a:latin typeface="Courier New" panose="02070309020205020404" pitchFamily="49" charset="0"/>
                </a:rPr>
                <a:t>pd.DataFrame.from_dict</a:t>
              </a:r>
              <a:r>
                <a:rPr lang="en-US" b="1" dirty="0">
                  <a:solidFill>
                    <a:srgbClr val="000000"/>
                  </a:solidFill>
                  <a:latin typeface="Courier New" panose="02070309020205020404" pitchFamily="49" charset="0"/>
                </a:rPr>
                <a:t>(data)</a:t>
              </a:r>
              <a:endParaRPr lang="en-US" b="1" dirty="0">
                <a:solidFill>
                  <a:srgbClr val="000000"/>
                </a:solidFill>
                <a:effectLst/>
                <a:latin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9904156" y="586691"/>
              <a:ext cx="1843269" cy="2055391"/>
            </a:xfrm>
            <a:prstGeom prst="rect">
              <a:avLst/>
            </a:prstGeom>
          </p:spPr>
        </p:pic>
        <p:sp>
          <p:nvSpPr>
            <p:cNvPr id="19" name="Right Arrow 18"/>
            <p:cNvSpPr/>
            <p:nvPr/>
          </p:nvSpPr>
          <p:spPr>
            <a:xfrm>
              <a:off x="8943195" y="1237437"/>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grpSp>
      <p:grpSp>
        <p:nvGrpSpPr>
          <p:cNvPr id="25" name="Group 24"/>
          <p:cNvGrpSpPr/>
          <p:nvPr/>
        </p:nvGrpSpPr>
        <p:grpSpPr>
          <a:xfrm>
            <a:off x="480565" y="3009781"/>
            <a:ext cx="11430885" cy="1389066"/>
            <a:chOff x="506815" y="3008491"/>
            <a:chExt cx="11430885" cy="1389066"/>
          </a:xfrm>
        </p:grpSpPr>
        <p:sp>
          <p:nvSpPr>
            <p:cNvPr id="21" name="Rectangle 20"/>
            <p:cNvSpPr/>
            <p:nvPr/>
          </p:nvSpPr>
          <p:spPr>
            <a:xfrm>
              <a:off x="506816" y="3173320"/>
              <a:ext cx="7991406" cy="923330"/>
            </a:xfrm>
            <a:prstGeom prst="rect">
              <a:avLst/>
            </a:prstGeom>
            <a:solidFill>
              <a:schemeClr val="accent4">
                <a:lumMod val="20000"/>
                <a:lumOff val="80000"/>
              </a:schemeClr>
            </a:solidFill>
            <a:ln>
              <a:solidFill>
                <a:schemeClr val="accent1"/>
              </a:solidFill>
            </a:ln>
          </p:spPr>
          <p:txBody>
            <a:bodyPr wrap="square">
              <a:spAutoFit/>
            </a:bodyPr>
            <a:lstStyle/>
            <a:p>
              <a:r>
                <a:rPr lang="en-US" b="1" dirty="0">
                  <a:solidFill>
                    <a:srgbClr val="000000"/>
                  </a:solidFill>
                  <a:latin typeface="Courier New" panose="02070309020205020404" pitchFamily="49" charset="0"/>
                </a:rPr>
                <a:t>data = {</a:t>
              </a:r>
              <a:r>
                <a:rPr lang="en-US" b="1" dirty="0">
                  <a:solidFill>
                    <a:srgbClr val="A31515"/>
                  </a:solidFill>
                  <a:latin typeface="Courier New" panose="02070309020205020404" pitchFamily="49" charset="0"/>
                </a:rPr>
                <a:t>'row_1'</a:t>
              </a:r>
              <a:r>
                <a:rPr lang="en-US" b="1" dirty="0">
                  <a:solidFill>
                    <a:srgbClr val="000000"/>
                  </a:solidFill>
                  <a:latin typeface="Courier New" panose="02070309020205020404" pitchFamily="49" charset="0"/>
                </a:rPr>
                <a:t>:[</a:t>
              </a:r>
              <a:r>
                <a:rPr lang="en-US" b="1" dirty="0">
                  <a:solidFill>
                    <a:srgbClr val="09885A"/>
                  </a:solidFill>
                  <a:latin typeface="Courier New" panose="02070309020205020404" pitchFamily="49" charset="0"/>
                </a:rPr>
                <a:t>3</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2</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1</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0</a:t>
              </a:r>
              <a:r>
                <a:rPr lang="en-US" b="1" dirty="0">
                  <a:solidFill>
                    <a:srgbClr val="000000"/>
                  </a:solidFill>
                  <a:latin typeface="Courier New" panose="02070309020205020404" pitchFamily="49" charset="0"/>
                </a:rPr>
                <a:t>], </a:t>
              </a:r>
              <a:r>
                <a:rPr lang="en-US" b="1" dirty="0">
                  <a:solidFill>
                    <a:srgbClr val="A31515"/>
                  </a:solidFill>
                  <a:latin typeface="Courier New" panose="02070309020205020404" pitchFamily="49" charset="0"/>
                </a:rPr>
                <a:t>'row_2'</a:t>
              </a:r>
              <a:r>
                <a:rPr lang="en-US" b="1" dirty="0">
                  <a:solidFill>
                    <a:srgbClr val="000000"/>
                  </a:solidFill>
                  <a:latin typeface="Courier New" panose="02070309020205020404" pitchFamily="49" charset="0"/>
                </a:rPr>
                <a:t>:[</a:t>
              </a:r>
              <a:r>
                <a:rPr lang="en-US" b="1" dirty="0">
                  <a:solidFill>
                    <a:srgbClr val="A31515"/>
                  </a:solidFill>
                  <a:latin typeface="Courier New" panose="02070309020205020404" pitchFamily="49" charset="0"/>
                </a:rPr>
                <a:t>'</a:t>
              </a:r>
              <a:r>
                <a:rPr lang="en-US" b="1" dirty="0" err="1">
                  <a:solidFill>
                    <a:srgbClr val="A31515"/>
                  </a:solidFill>
                  <a:latin typeface="Courier New" panose="02070309020205020404" pitchFamily="49" charset="0"/>
                </a:rPr>
                <a:t>a'</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'b'</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'c'</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'd</a:t>
              </a:r>
              <a:r>
                <a:rPr lang="en-US" b="1" dirty="0">
                  <a:solidFill>
                    <a:srgbClr val="A31515"/>
                  </a:solidFill>
                  <a:latin typeface="Courier New" panose="02070309020205020404" pitchFamily="49" charset="0"/>
                </a:rPr>
                <a:t>'</a:t>
              </a:r>
              <a:r>
                <a:rPr lang="en-US" b="1" dirty="0">
                  <a:solidFill>
                    <a:srgbClr val="000000"/>
                  </a:solidFill>
                  <a:latin typeface="Courier New" panose="02070309020205020404" pitchFamily="49" charset="0"/>
                </a:rPr>
                <a:t>]} </a:t>
              </a:r>
            </a:p>
            <a:p>
              <a:r>
                <a:rPr lang="en-US" b="1" dirty="0" err="1">
                  <a:solidFill>
                    <a:srgbClr val="000000"/>
                  </a:solidFill>
                  <a:latin typeface="Courier New" panose="02070309020205020404" pitchFamily="49" charset="0"/>
                </a:rPr>
                <a:t>pd.DataFrame.from_dict</a:t>
              </a:r>
              <a:r>
                <a:rPr lang="en-US" b="1" dirty="0">
                  <a:solidFill>
                    <a:srgbClr val="000000"/>
                  </a:solidFill>
                  <a:latin typeface="Courier New" panose="02070309020205020404" pitchFamily="49" charset="0"/>
                </a:rPr>
                <a:t>(data, </a:t>
              </a:r>
            </a:p>
            <a:p>
              <a:r>
                <a:rPr lang="en-US" b="1" dirty="0">
                  <a:solidFill>
                    <a:srgbClr val="000000"/>
                  </a:solidFill>
                  <a:latin typeface="Courier New" panose="02070309020205020404" pitchFamily="49" charset="0"/>
                </a:rPr>
                <a:t>                       </a:t>
              </a:r>
              <a:r>
                <a:rPr lang="en-US" b="1" dirty="0">
                  <a:solidFill>
                    <a:srgbClr val="FF0000"/>
                  </a:solidFill>
                  <a:latin typeface="Courier New" panose="02070309020205020404" pitchFamily="49" charset="0"/>
                </a:rPr>
                <a:t>orient=</a:t>
              </a:r>
              <a:r>
                <a:rPr lang="en-US" b="1" dirty="0">
                  <a:solidFill>
                    <a:srgbClr val="A31515"/>
                  </a:solidFill>
                  <a:latin typeface="Courier New" panose="02070309020205020404" pitchFamily="49" charset="0"/>
                </a:rPr>
                <a:t>'index'</a:t>
              </a:r>
              <a:r>
                <a:rPr lang="en-US" b="1" dirty="0">
                  <a:solidFill>
                    <a:srgbClr val="000000"/>
                  </a:solidFill>
                  <a:latin typeface="Courier New" panose="02070309020205020404" pitchFamily="49" charset="0"/>
                </a:rPr>
                <a:t>)</a:t>
              </a:r>
              <a:endParaRPr lang="en-US" b="1" dirty="0">
                <a:solidFill>
                  <a:srgbClr val="000000"/>
                </a:solidFill>
                <a:effectLst/>
                <a:latin typeface="Courier New" panose="02070309020205020404" pitchFamily="49" charset="0"/>
              </a:endParaRPr>
            </a:p>
          </p:txBody>
        </p:sp>
        <p:cxnSp>
          <p:nvCxnSpPr>
            <p:cNvPr id="22" name="Straight Connector 21"/>
            <p:cNvCxnSpPr/>
            <p:nvPr/>
          </p:nvCxnSpPr>
          <p:spPr>
            <a:xfrm>
              <a:off x="506815" y="3008491"/>
              <a:ext cx="11378387" cy="0"/>
            </a:xfrm>
            <a:prstGeom prst="line">
              <a:avLst/>
            </a:prstGeom>
            <a:ln w="38100"/>
          </p:spPr>
          <p:style>
            <a:lnRef idx="3">
              <a:schemeClr val="dk1"/>
            </a:lnRef>
            <a:fillRef idx="0">
              <a:schemeClr val="dk1"/>
            </a:fillRef>
            <a:effectRef idx="2">
              <a:schemeClr val="dk1"/>
            </a:effectRef>
            <a:fontRef idx="minor">
              <a:schemeClr val="tx1"/>
            </a:fontRef>
          </p:style>
        </p:cxnSp>
        <p:pic>
          <p:nvPicPr>
            <p:cNvPr id="23" name="Picture 22"/>
            <p:cNvPicPr>
              <a:picLocks noChangeAspect="1"/>
            </p:cNvPicPr>
            <p:nvPr/>
          </p:nvPicPr>
          <p:blipFill>
            <a:blip r:embed="rId3"/>
            <a:stretch>
              <a:fillRect/>
            </a:stretch>
          </p:blipFill>
          <p:spPr>
            <a:xfrm>
              <a:off x="9822507" y="3151621"/>
              <a:ext cx="2115193" cy="1245936"/>
            </a:xfrm>
            <a:prstGeom prst="rect">
              <a:avLst/>
            </a:prstGeom>
          </p:spPr>
        </p:pic>
        <p:sp>
          <p:nvSpPr>
            <p:cNvPr id="24" name="Right Arrow 23"/>
            <p:cNvSpPr/>
            <p:nvPr/>
          </p:nvSpPr>
          <p:spPr>
            <a:xfrm>
              <a:off x="8969445" y="3304640"/>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grpSp>
      <p:grpSp>
        <p:nvGrpSpPr>
          <p:cNvPr id="30" name="Group 29"/>
          <p:cNvGrpSpPr/>
          <p:nvPr/>
        </p:nvGrpSpPr>
        <p:grpSpPr>
          <a:xfrm>
            <a:off x="506815" y="4692235"/>
            <a:ext cx="11404635" cy="1493718"/>
            <a:chOff x="506815" y="4692235"/>
            <a:chExt cx="11404635" cy="1493718"/>
          </a:xfrm>
        </p:grpSpPr>
        <p:cxnSp>
          <p:nvCxnSpPr>
            <p:cNvPr id="26" name="Straight Connector 25"/>
            <p:cNvCxnSpPr/>
            <p:nvPr/>
          </p:nvCxnSpPr>
          <p:spPr>
            <a:xfrm>
              <a:off x="506815" y="4692235"/>
              <a:ext cx="11378387" cy="0"/>
            </a:xfrm>
            <a:prstGeom prst="line">
              <a:avLst/>
            </a:prstGeom>
            <a:ln w="38100"/>
          </p:spPr>
          <p:style>
            <a:lnRef idx="3">
              <a:schemeClr val="dk1"/>
            </a:lnRef>
            <a:fillRef idx="0">
              <a:schemeClr val="dk1"/>
            </a:fillRef>
            <a:effectRef idx="2">
              <a:schemeClr val="dk1"/>
            </a:effectRef>
            <a:fontRef idx="minor">
              <a:schemeClr val="tx1"/>
            </a:fontRef>
          </p:style>
        </p:cxnSp>
        <p:sp>
          <p:nvSpPr>
            <p:cNvPr id="27" name="Right Arrow 26"/>
            <p:cNvSpPr/>
            <p:nvPr/>
          </p:nvSpPr>
          <p:spPr>
            <a:xfrm>
              <a:off x="8943195" y="4947241"/>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28" name="Rectangle 27"/>
            <p:cNvSpPr/>
            <p:nvPr/>
          </p:nvSpPr>
          <p:spPr>
            <a:xfrm>
              <a:off x="506816" y="4985624"/>
              <a:ext cx="7965156" cy="1200329"/>
            </a:xfrm>
            <a:prstGeom prst="rect">
              <a:avLst/>
            </a:prstGeom>
            <a:solidFill>
              <a:schemeClr val="accent4">
                <a:lumMod val="20000"/>
                <a:lumOff val="80000"/>
              </a:schemeClr>
            </a:solidFill>
            <a:ln>
              <a:solidFill>
                <a:schemeClr val="accent1"/>
              </a:solidFill>
            </a:ln>
          </p:spPr>
          <p:txBody>
            <a:bodyPr wrap="square">
              <a:spAutoFit/>
            </a:bodyPr>
            <a:lstStyle/>
            <a:p>
              <a:r>
                <a:rPr lang="en-US" b="1" dirty="0">
                  <a:solidFill>
                    <a:srgbClr val="000000"/>
                  </a:solidFill>
                  <a:latin typeface="Courier New" panose="02070309020205020404" pitchFamily="49" charset="0"/>
                </a:rPr>
                <a:t>data = {</a:t>
              </a:r>
              <a:r>
                <a:rPr lang="en-US" b="1" dirty="0">
                  <a:solidFill>
                    <a:srgbClr val="A31515"/>
                  </a:solidFill>
                  <a:latin typeface="Courier New" panose="02070309020205020404" pitchFamily="49" charset="0"/>
                </a:rPr>
                <a:t>'row_1'</a:t>
              </a:r>
              <a:r>
                <a:rPr lang="en-US" b="1" dirty="0">
                  <a:solidFill>
                    <a:srgbClr val="000000"/>
                  </a:solidFill>
                  <a:latin typeface="Courier New" panose="02070309020205020404" pitchFamily="49" charset="0"/>
                </a:rPr>
                <a:t>:[</a:t>
              </a:r>
              <a:r>
                <a:rPr lang="en-US" b="1" dirty="0">
                  <a:solidFill>
                    <a:srgbClr val="09885A"/>
                  </a:solidFill>
                  <a:latin typeface="Courier New" panose="02070309020205020404" pitchFamily="49" charset="0"/>
                </a:rPr>
                <a:t>3</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2</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1</a:t>
              </a:r>
              <a:r>
                <a:rPr lang="en-US" b="1" dirty="0">
                  <a:solidFill>
                    <a:srgbClr val="000000"/>
                  </a:solidFill>
                  <a:latin typeface="Courier New" panose="02070309020205020404" pitchFamily="49" charset="0"/>
                </a:rPr>
                <a:t>, </a:t>
              </a:r>
              <a:r>
                <a:rPr lang="en-US" b="1" dirty="0">
                  <a:solidFill>
                    <a:srgbClr val="09885A"/>
                  </a:solidFill>
                  <a:latin typeface="Courier New" panose="02070309020205020404" pitchFamily="49" charset="0"/>
                </a:rPr>
                <a:t>0</a:t>
              </a:r>
              <a:r>
                <a:rPr lang="en-US" b="1" dirty="0">
                  <a:solidFill>
                    <a:srgbClr val="000000"/>
                  </a:solidFill>
                  <a:latin typeface="Courier New" panose="02070309020205020404" pitchFamily="49" charset="0"/>
                </a:rPr>
                <a:t>], </a:t>
              </a:r>
              <a:r>
                <a:rPr lang="en-US" b="1" dirty="0">
                  <a:solidFill>
                    <a:srgbClr val="A31515"/>
                  </a:solidFill>
                  <a:latin typeface="Courier New" panose="02070309020205020404" pitchFamily="49" charset="0"/>
                </a:rPr>
                <a:t>'row_2'</a:t>
              </a:r>
              <a:r>
                <a:rPr lang="en-US" b="1" dirty="0">
                  <a:solidFill>
                    <a:srgbClr val="000000"/>
                  </a:solidFill>
                  <a:latin typeface="Courier New" panose="02070309020205020404" pitchFamily="49" charset="0"/>
                </a:rPr>
                <a:t>:[</a:t>
              </a:r>
              <a:r>
                <a:rPr lang="en-US" b="1" dirty="0">
                  <a:solidFill>
                    <a:srgbClr val="A31515"/>
                  </a:solidFill>
                  <a:latin typeface="Courier New" panose="02070309020205020404" pitchFamily="49" charset="0"/>
                </a:rPr>
                <a:t>'</a:t>
              </a:r>
              <a:r>
                <a:rPr lang="en-US" b="1" dirty="0" err="1">
                  <a:solidFill>
                    <a:srgbClr val="A31515"/>
                  </a:solidFill>
                  <a:latin typeface="Courier New" panose="02070309020205020404" pitchFamily="49" charset="0"/>
                </a:rPr>
                <a:t>a'</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'b'</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'c'</a:t>
              </a:r>
              <a:r>
                <a:rPr lang="en-US" b="1" dirty="0" err="1">
                  <a:solidFill>
                    <a:srgbClr val="000000"/>
                  </a:solidFill>
                  <a:latin typeface="Courier New" panose="02070309020205020404" pitchFamily="49" charset="0"/>
                </a:rPr>
                <a:t>,</a:t>
              </a:r>
              <a:r>
                <a:rPr lang="en-US" b="1" dirty="0" err="1">
                  <a:solidFill>
                    <a:srgbClr val="A31515"/>
                  </a:solidFill>
                  <a:latin typeface="Courier New" panose="02070309020205020404" pitchFamily="49" charset="0"/>
                </a:rPr>
                <a:t>'d</a:t>
              </a:r>
              <a:r>
                <a:rPr lang="en-US" b="1" dirty="0">
                  <a:solidFill>
                    <a:srgbClr val="A31515"/>
                  </a:solidFill>
                  <a:latin typeface="Courier New" panose="02070309020205020404" pitchFamily="49" charset="0"/>
                </a:rPr>
                <a:t>'</a:t>
              </a:r>
              <a:r>
                <a:rPr lang="en-US" b="1" dirty="0">
                  <a:solidFill>
                    <a:srgbClr val="000000"/>
                  </a:solidFill>
                  <a:latin typeface="Courier New" panose="02070309020205020404" pitchFamily="49" charset="0"/>
                </a:rPr>
                <a:t>]} </a:t>
              </a:r>
            </a:p>
            <a:p>
              <a:r>
                <a:rPr lang="en-US" b="1" dirty="0" err="1">
                  <a:solidFill>
                    <a:srgbClr val="000000"/>
                  </a:solidFill>
                  <a:latin typeface="Courier New" panose="02070309020205020404" pitchFamily="49" charset="0"/>
                </a:rPr>
                <a:t>pd.DataFrame.from_dict</a:t>
              </a:r>
              <a:r>
                <a:rPr lang="en-US" b="1" dirty="0">
                  <a:solidFill>
                    <a:srgbClr val="000000"/>
                  </a:solidFill>
                  <a:latin typeface="Courier New" panose="02070309020205020404" pitchFamily="49" charset="0"/>
                </a:rPr>
                <a:t>(data, </a:t>
              </a:r>
              <a:br>
                <a:rPr lang="en-US" b="1" dirty="0">
                  <a:solidFill>
                    <a:srgbClr val="000000"/>
                  </a:solidFill>
                  <a:latin typeface="Courier New" panose="02070309020205020404" pitchFamily="49" charset="0"/>
                </a:rPr>
              </a:br>
              <a:r>
                <a:rPr lang="en-US" b="1" dirty="0">
                  <a:solidFill>
                    <a:srgbClr val="000000"/>
                  </a:solidFill>
                  <a:latin typeface="Courier New" panose="02070309020205020404" pitchFamily="49" charset="0"/>
                </a:rPr>
                <a:t>                       </a:t>
              </a:r>
              <a:r>
                <a:rPr lang="en-US" b="1" dirty="0">
                  <a:solidFill>
                    <a:srgbClr val="FF0000"/>
                  </a:solidFill>
                  <a:latin typeface="Courier New" panose="02070309020205020404" pitchFamily="49" charset="0"/>
                </a:rPr>
                <a:t>orient  = </a:t>
              </a:r>
              <a:r>
                <a:rPr lang="en-US" b="1" dirty="0">
                  <a:solidFill>
                    <a:srgbClr val="A31515"/>
                  </a:solidFill>
                  <a:latin typeface="Courier New" panose="02070309020205020404" pitchFamily="49" charset="0"/>
                </a:rPr>
                <a:t>'index'</a:t>
              </a:r>
              <a:r>
                <a:rPr lang="en-US" b="1" dirty="0">
                  <a:solidFill>
                    <a:srgbClr val="000000"/>
                  </a:solidFill>
                  <a:latin typeface="Courier New" panose="02070309020205020404" pitchFamily="49" charset="0"/>
                </a:rPr>
                <a:t>, </a:t>
              </a:r>
              <a:br>
                <a:rPr lang="en-US" b="1" dirty="0">
                  <a:solidFill>
                    <a:srgbClr val="000000"/>
                  </a:solidFill>
                  <a:latin typeface="Courier New" panose="02070309020205020404" pitchFamily="49" charset="0"/>
                </a:rPr>
              </a:br>
              <a:r>
                <a:rPr lang="en-US" b="1" dirty="0">
                  <a:solidFill>
                    <a:srgbClr val="000000"/>
                  </a:solidFill>
                  <a:latin typeface="Courier New" panose="02070309020205020404" pitchFamily="49" charset="0"/>
                </a:rPr>
                <a:t>                       </a:t>
              </a:r>
              <a:r>
                <a:rPr lang="en-US" b="1" dirty="0">
                  <a:solidFill>
                    <a:srgbClr val="FF0000"/>
                  </a:solidFill>
                  <a:latin typeface="Courier New" panose="02070309020205020404" pitchFamily="49" charset="0"/>
                </a:rPr>
                <a:t>columns = </a:t>
              </a:r>
              <a:r>
                <a:rPr lang="en-US" b="1" dirty="0">
                  <a:solidFill>
                    <a:srgbClr val="000000"/>
                  </a:solidFill>
                  <a:latin typeface="Courier New" panose="02070309020205020404" pitchFamily="49" charset="0"/>
                </a:rPr>
                <a:t>[</a:t>
              </a:r>
              <a:r>
                <a:rPr lang="en-US" b="1" dirty="0">
                  <a:solidFill>
                    <a:srgbClr val="A31515"/>
                  </a:solidFill>
                  <a:latin typeface="Courier New" panose="02070309020205020404" pitchFamily="49" charset="0"/>
                </a:rPr>
                <a:t>'A'</a:t>
              </a:r>
              <a:r>
                <a:rPr lang="en-US" b="1" dirty="0">
                  <a:solidFill>
                    <a:srgbClr val="000000"/>
                  </a:solidFill>
                  <a:latin typeface="Courier New" panose="02070309020205020404" pitchFamily="49" charset="0"/>
                </a:rPr>
                <a:t>,</a:t>
              </a:r>
              <a:r>
                <a:rPr lang="en-US" b="1" dirty="0">
                  <a:solidFill>
                    <a:srgbClr val="A31515"/>
                  </a:solidFill>
                  <a:latin typeface="Courier New" panose="02070309020205020404" pitchFamily="49" charset="0"/>
                </a:rPr>
                <a:t>'B'</a:t>
              </a:r>
              <a:r>
                <a:rPr lang="en-US" b="1" dirty="0">
                  <a:solidFill>
                    <a:srgbClr val="000000"/>
                  </a:solidFill>
                  <a:latin typeface="Courier New" panose="02070309020205020404" pitchFamily="49" charset="0"/>
                </a:rPr>
                <a:t>,</a:t>
              </a:r>
              <a:r>
                <a:rPr lang="en-US" b="1" dirty="0">
                  <a:solidFill>
                    <a:srgbClr val="A31515"/>
                  </a:solidFill>
                  <a:latin typeface="Courier New" panose="02070309020205020404" pitchFamily="49" charset="0"/>
                </a:rPr>
                <a:t>'C'</a:t>
              </a:r>
              <a:r>
                <a:rPr lang="en-US" b="1" dirty="0">
                  <a:solidFill>
                    <a:srgbClr val="000000"/>
                  </a:solidFill>
                  <a:latin typeface="Courier New" panose="02070309020205020404" pitchFamily="49" charset="0"/>
                </a:rPr>
                <a:t>,</a:t>
              </a:r>
              <a:r>
                <a:rPr lang="en-US" b="1" dirty="0">
                  <a:solidFill>
                    <a:srgbClr val="A31515"/>
                  </a:solidFill>
                  <a:latin typeface="Courier New" panose="02070309020205020404" pitchFamily="49" charset="0"/>
                </a:rPr>
                <a:t>'D'</a:t>
              </a:r>
              <a:r>
                <a:rPr lang="en-US" b="1" dirty="0">
                  <a:solidFill>
                    <a:srgbClr val="000000"/>
                  </a:solidFill>
                  <a:latin typeface="Courier New" panose="02070309020205020404" pitchFamily="49" charset="0"/>
                </a:rPr>
                <a:t>])</a:t>
              </a:r>
              <a:endParaRPr lang="en-US" b="1" dirty="0">
                <a:solidFill>
                  <a:srgbClr val="000000"/>
                </a:solidFill>
                <a:effectLst/>
                <a:latin typeface="Courier New" panose="02070309020205020404" pitchFamily="49" charset="0"/>
              </a:endParaRPr>
            </a:p>
          </p:txBody>
        </p:sp>
        <p:pic>
          <p:nvPicPr>
            <p:cNvPr id="29" name="Picture 28"/>
            <p:cNvPicPr>
              <a:picLocks noChangeAspect="1"/>
            </p:cNvPicPr>
            <p:nvPr/>
          </p:nvPicPr>
          <p:blipFill>
            <a:blip r:embed="rId4"/>
            <a:stretch>
              <a:fillRect/>
            </a:stretch>
          </p:blipFill>
          <p:spPr>
            <a:xfrm>
              <a:off x="9823248" y="4947241"/>
              <a:ext cx="2088202" cy="1215734"/>
            </a:xfrm>
            <a:prstGeom prst="rect">
              <a:avLst/>
            </a:prstGeom>
          </p:spPr>
        </p:pic>
      </p:grpSp>
    </p:spTree>
    <p:extLst>
      <p:ext uri="{BB962C8B-B14F-4D97-AF65-F5344CB8AC3E}">
        <p14:creationId xmlns:p14="http://schemas.microsoft.com/office/powerpoint/2010/main" val="200737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1850" y="916523"/>
            <a:ext cx="10515600" cy="1529221"/>
          </a:xfrm>
        </p:spPr>
        <p:txBody>
          <a:bodyPr>
            <a:normAutofit fontScale="90000"/>
          </a:bodyPr>
          <a:lstStyle/>
          <a:p>
            <a:pPr algn="ctr"/>
            <a:r>
              <a:rPr lang="en-US" sz="6600" b="1" dirty="0"/>
              <a:t>Loading a </a:t>
            </a:r>
            <a:r>
              <a:rPr lang="en-US" sz="6600" b="1" dirty="0" err="1"/>
              <a:t>DataFrame</a:t>
            </a:r>
            <a:r>
              <a:rPr lang="en-US" sz="6600" b="1" dirty="0"/>
              <a:t> from files</a:t>
            </a:r>
          </a:p>
        </p:txBody>
      </p:sp>
      <p:pic>
        <p:nvPicPr>
          <p:cNvPr id="3" name="Picture 2"/>
          <p:cNvPicPr>
            <a:picLocks noChangeAspect="1"/>
          </p:cNvPicPr>
          <p:nvPr/>
        </p:nvPicPr>
        <p:blipFill>
          <a:blip r:embed="rId2"/>
          <a:stretch>
            <a:fillRect/>
          </a:stretch>
        </p:blipFill>
        <p:spPr>
          <a:xfrm>
            <a:off x="232473" y="3294043"/>
            <a:ext cx="11714354" cy="3172857"/>
          </a:xfrm>
          <a:prstGeom prst="rect">
            <a:avLst/>
          </a:prstGeom>
        </p:spPr>
      </p:pic>
    </p:spTree>
    <p:extLst>
      <p:ext uri="{BB962C8B-B14F-4D97-AF65-F5344CB8AC3E}">
        <p14:creationId xmlns:p14="http://schemas.microsoft.com/office/powerpoint/2010/main" val="1821701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89517"/>
          </a:xfrm>
        </p:spPr>
        <p:txBody>
          <a:bodyPr/>
          <a:lstStyle/>
          <a:p>
            <a:pPr algn="ctr"/>
            <a:r>
              <a:rPr lang="en-US" dirty="0"/>
              <a:t>Reading data from a CSV file</a:t>
            </a:r>
          </a:p>
        </p:txBody>
      </p:sp>
      <p:sp>
        <p:nvSpPr>
          <p:cNvPr id="10" name="Bent-Up Arrow 9"/>
          <p:cNvSpPr/>
          <p:nvPr/>
        </p:nvSpPr>
        <p:spPr>
          <a:xfrm flipV="1">
            <a:off x="4425941" y="1645304"/>
            <a:ext cx="1130595" cy="903768"/>
          </a:xfrm>
          <a:prstGeom prst="bentUpArrow">
            <a:avLst>
              <a:gd name="adj1" fmla="val 25000"/>
              <a:gd name="adj2" fmla="val 28175"/>
              <a:gd name="adj3" fmla="val 25000"/>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273356" y="1254642"/>
            <a:ext cx="3896543" cy="3086003"/>
          </a:xfrm>
          <a:prstGeom prst="rect">
            <a:avLst/>
          </a:prstGeom>
        </p:spPr>
      </p:pic>
      <p:pic>
        <p:nvPicPr>
          <p:cNvPr id="3" name="Picture 2"/>
          <p:cNvPicPr>
            <a:picLocks noChangeAspect="1"/>
          </p:cNvPicPr>
          <p:nvPr/>
        </p:nvPicPr>
        <p:blipFill>
          <a:blip r:embed="rId3"/>
          <a:stretch>
            <a:fillRect/>
          </a:stretch>
        </p:blipFill>
        <p:spPr>
          <a:xfrm>
            <a:off x="4425941" y="2654720"/>
            <a:ext cx="7400925" cy="3371850"/>
          </a:xfrm>
          <a:prstGeom prst="rect">
            <a:avLst/>
          </a:prstGeom>
        </p:spPr>
      </p:pic>
    </p:spTree>
    <p:extLst>
      <p:ext uri="{BB962C8B-B14F-4D97-AF65-F5344CB8AC3E}">
        <p14:creationId xmlns:p14="http://schemas.microsoft.com/office/powerpoint/2010/main" val="2780337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258"/>
            <a:ext cx="10515600" cy="1325563"/>
          </a:xfrm>
        </p:spPr>
        <p:txBody>
          <a:bodyPr/>
          <a:lstStyle/>
          <a:p>
            <a:r>
              <a:rPr lang="en-US" dirty="0"/>
              <a:t>Reading data from CSVs</a:t>
            </a:r>
          </a:p>
        </p:txBody>
      </p:sp>
      <p:sp>
        <p:nvSpPr>
          <p:cNvPr id="3" name="Content Placeholder 2"/>
          <p:cNvSpPr>
            <a:spLocks noGrp="1"/>
          </p:cNvSpPr>
          <p:nvPr>
            <p:ph idx="1"/>
          </p:nvPr>
        </p:nvSpPr>
        <p:spPr>
          <a:xfrm>
            <a:off x="838200" y="1399276"/>
            <a:ext cx="10515600" cy="531985"/>
          </a:xfrm>
        </p:spPr>
        <p:txBody>
          <a:bodyPr>
            <a:normAutofit/>
          </a:bodyPr>
          <a:lstStyle/>
          <a:p>
            <a:r>
              <a:rPr lang="en-US" sz="2000" dirty="0"/>
              <a:t>With CSV files, all you need is a single line to load in the data:</a:t>
            </a:r>
          </a:p>
        </p:txBody>
      </p:sp>
      <p:sp>
        <p:nvSpPr>
          <p:cNvPr id="4" name="Rectangle 3"/>
          <p:cNvSpPr/>
          <p:nvPr/>
        </p:nvSpPr>
        <p:spPr>
          <a:xfrm>
            <a:off x="1157689" y="1988278"/>
            <a:ext cx="4458272"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4D4D4C"/>
                </a:solidFill>
                <a:latin typeface="Courier New" panose="02070309020205020404" pitchFamily="49" charset="0"/>
                <a:cs typeface="Courier New" panose="02070309020205020404" pitchFamily="49" charset="0"/>
              </a:rPr>
              <a:t>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4D4D4C"/>
                </a:solidFill>
                <a:latin typeface="Courier New" panose="02070309020205020404" pitchFamily="49" charset="0"/>
                <a:cs typeface="Courier New" panose="02070309020205020404" pitchFamily="49" charset="0"/>
              </a:rPr>
              <a:t>pd.</a:t>
            </a:r>
            <a:r>
              <a:rPr lang="en-US" b="1" dirty="0" err="1">
                <a:solidFill>
                  <a:srgbClr val="4271AE"/>
                </a:solidFill>
                <a:latin typeface="Courier New" panose="02070309020205020404" pitchFamily="49" charset="0"/>
                <a:cs typeface="Courier New" panose="02070309020205020404" pitchFamily="49" charset="0"/>
              </a:rPr>
              <a:t>read_csv</a:t>
            </a:r>
            <a:r>
              <a:rPr lang="en-US" b="1" dirty="0">
                <a:solidFill>
                  <a:srgbClr val="4D4D4C"/>
                </a:solidFill>
                <a:latin typeface="Courier New" panose="02070309020205020404" pitchFamily="49" charset="0"/>
                <a:cs typeface="Courier New" panose="02070309020205020404" pitchFamily="49" charset="0"/>
              </a:rPr>
              <a:t>(</a:t>
            </a:r>
            <a:r>
              <a:rPr lang="en-US" b="1" dirty="0">
                <a:solidFill>
                  <a:srgbClr val="A31515"/>
                </a:solidFill>
                <a:latin typeface="Courier New" panose="02070309020205020404" pitchFamily="49" charset="0"/>
              </a:rPr>
              <a:t>'dataset.csv'</a:t>
            </a:r>
            <a:r>
              <a:rPr lang="en-US" b="1" dirty="0">
                <a:solidFill>
                  <a:srgbClr val="4D4D4C"/>
                </a:solidFill>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6" name="Content Placeholder 2"/>
          <p:cNvSpPr txBox="1">
            <a:spLocks/>
          </p:cNvSpPr>
          <p:nvPr/>
        </p:nvSpPr>
        <p:spPr>
          <a:xfrm>
            <a:off x="838200" y="3687323"/>
            <a:ext cx="10707477" cy="6990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CSVs don't have indexes like our </a:t>
            </a:r>
            <a:r>
              <a:rPr lang="en-US" sz="2000" dirty="0" err="1"/>
              <a:t>DataFrames</a:t>
            </a:r>
            <a:r>
              <a:rPr lang="en-US" sz="2000" dirty="0"/>
              <a:t>, so all we need to do is just designate the </a:t>
            </a:r>
            <a:r>
              <a:rPr lang="en-US" sz="2000" b="1" dirty="0" err="1">
                <a:latin typeface="Courier New" panose="02070309020205020404" pitchFamily="49" charset="0"/>
                <a:cs typeface="Courier New" panose="02070309020205020404" pitchFamily="49" charset="0"/>
              </a:rPr>
              <a:t>index_col</a:t>
            </a:r>
            <a:r>
              <a:rPr lang="en-US" sz="2000" dirty="0"/>
              <a:t> when reading:</a:t>
            </a:r>
          </a:p>
        </p:txBody>
      </p:sp>
      <p:sp>
        <p:nvSpPr>
          <p:cNvPr id="8" name="Rectangle 7"/>
          <p:cNvSpPr/>
          <p:nvPr/>
        </p:nvSpPr>
        <p:spPr>
          <a:xfrm>
            <a:off x="1157689" y="4562112"/>
            <a:ext cx="6250429"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4D4D4C"/>
                </a:solidFill>
                <a:latin typeface="Courier New" panose="02070309020205020404" pitchFamily="49" charset="0"/>
                <a:cs typeface="Courier New" panose="02070309020205020404" pitchFamily="49" charset="0"/>
              </a:rPr>
              <a:t>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4D4D4C"/>
                </a:solidFill>
                <a:latin typeface="Courier New" panose="02070309020205020404" pitchFamily="49" charset="0"/>
                <a:cs typeface="Courier New" panose="02070309020205020404" pitchFamily="49" charset="0"/>
              </a:rPr>
              <a:t>pd.</a:t>
            </a:r>
            <a:r>
              <a:rPr lang="en-US" b="1" dirty="0" err="1">
                <a:solidFill>
                  <a:srgbClr val="4271AE"/>
                </a:solidFill>
                <a:latin typeface="Courier New" panose="02070309020205020404" pitchFamily="49" charset="0"/>
                <a:cs typeface="Courier New" panose="02070309020205020404" pitchFamily="49" charset="0"/>
              </a:rPr>
              <a:t>read_csv</a:t>
            </a:r>
            <a:r>
              <a:rPr lang="en-US" b="1" dirty="0">
                <a:solidFill>
                  <a:srgbClr val="4D4D4C"/>
                </a:solidFill>
                <a:latin typeface="Courier New" panose="02070309020205020404" pitchFamily="49" charset="0"/>
                <a:cs typeface="Courier New" panose="02070309020205020404" pitchFamily="49" charset="0"/>
              </a:rPr>
              <a:t>(</a:t>
            </a:r>
            <a:r>
              <a:rPr lang="en-US" b="1" dirty="0">
                <a:solidFill>
                  <a:srgbClr val="A31515"/>
                </a:solidFill>
                <a:latin typeface="Courier New" panose="02070309020205020404" pitchFamily="49" charset="0"/>
              </a:rPr>
              <a:t>'dataset.csv'</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4D4D4C"/>
                </a:solidFill>
                <a:latin typeface="Courier New" panose="02070309020205020404" pitchFamily="49" charset="0"/>
                <a:cs typeface="Courier New" panose="02070309020205020404" pitchFamily="49" charset="0"/>
              </a:rPr>
              <a:t>index_col</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F5871F"/>
                </a:solidFill>
                <a:latin typeface="Courier New" panose="02070309020205020404" pitchFamily="49" charset="0"/>
                <a:cs typeface="Courier New" panose="02070309020205020404" pitchFamily="49" charset="0"/>
              </a:rPr>
              <a:t>0</a:t>
            </a:r>
            <a:r>
              <a:rPr lang="en-US" b="1" dirty="0">
                <a:solidFill>
                  <a:srgbClr val="4D4D4C"/>
                </a:solidFill>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10" name="Rectangle 9"/>
          <p:cNvSpPr/>
          <p:nvPr/>
        </p:nvSpPr>
        <p:spPr>
          <a:xfrm>
            <a:off x="1059436" y="5516055"/>
            <a:ext cx="5962338" cy="400110"/>
          </a:xfrm>
          <a:prstGeom prst="rect">
            <a:avLst/>
          </a:prstGeom>
        </p:spPr>
        <p:txBody>
          <a:bodyPr wrap="none">
            <a:spAutoFit/>
          </a:bodyPr>
          <a:lstStyle/>
          <a:p>
            <a:pPr marL="285750" indent="-285750">
              <a:buFont typeface="Arial" panose="020B0604020202020204" pitchFamily="34" charset="0"/>
              <a:buChar char="•"/>
            </a:pPr>
            <a:r>
              <a:rPr lang="en-US" sz="2000" i="1" dirty="0"/>
              <a:t>Note: here we're setting the </a:t>
            </a:r>
            <a:r>
              <a:rPr lang="en-US" sz="2000" i="1" u="sng" dirty="0"/>
              <a:t>index to be column zero</a:t>
            </a:r>
            <a:r>
              <a:rPr lang="en-US" sz="2000" i="1" dirty="0"/>
              <a:t>.</a:t>
            </a:r>
          </a:p>
        </p:txBody>
      </p:sp>
      <p:pic>
        <p:nvPicPr>
          <p:cNvPr id="7" name="Picture 6"/>
          <p:cNvPicPr>
            <a:picLocks noChangeAspect="1"/>
          </p:cNvPicPr>
          <p:nvPr/>
        </p:nvPicPr>
        <p:blipFill>
          <a:blip r:embed="rId2"/>
          <a:stretch>
            <a:fillRect/>
          </a:stretch>
        </p:blipFill>
        <p:spPr>
          <a:xfrm>
            <a:off x="7728791" y="1641265"/>
            <a:ext cx="3155874" cy="1936559"/>
          </a:xfrm>
          <a:prstGeom prst="rect">
            <a:avLst/>
          </a:prstGeom>
        </p:spPr>
      </p:pic>
      <p:pic>
        <p:nvPicPr>
          <p:cNvPr id="11" name="Picture 10"/>
          <p:cNvPicPr>
            <a:picLocks noChangeAspect="1"/>
          </p:cNvPicPr>
          <p:nvPr/>
        </p:nvPicPr>
        <p:blipFill>
          <a:blip r:embed="rId3"/>
          <a:stretch>
            <a:fillRect/>
          </a:stretch>
        </p:blipFill>
        <p:spPr>
          <a:xfrm>
            <a:off x="7728791" y="4554882"/>
            <a:ext cx="2472828" cy="1823080"/>
          </a:xfrm>
          <a:prstGeom prst="rect">
            <a:avLst/>
          </a:prstGeom>
        </p:spPr>
      </p:pic>
    </p:spTree>
    <p:extLst>
      <p:ext uri="{BB962C8B-B14F-4D97-AF65-F5344CB8AC3E}">
        <p14:creationId xmlns:p14="http://schemas.microsoft.com/office/powerpoint/2010/main" val="911808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data from JSON</a:t>
            </a:r>
          </a:p>
        </p:txBody>
      </p:sp>
      <p:sp>
        <p:nvSpPr>
          <p:cNvPr id="3" name="Content Placeholder 2"/>
          <p:cNvSpPr>
            <a:spLocks noGrp="1"/>
          </p:cNvSpPr>
          <p:nvPr>
            <p:ph idx="1"/>
          </p:nvPr>
        </p:nvSpPr>
        <p:spPr>
          <a:xfrm>
            <a:off x="838200" y="1690688"/>
            <a:ext cx="10515600" cy="840457"/>
          </a:xfrm>
        </p:spPr>
        <p:txBody>
          <a:bodyPr>
            <a:normAutofit/>
          </a:bodyPr>
          <a:lstStyle/>
          <a:p>
            <a:r>
              <a:rPr lang="en-US" sz="2000" dirty="0"/>
              <a:t>If you have a JSON file — which is essentially a stored Python </a:t>
            </a:r>
            <a:r>
              <a:rPr lang="en-US" sz="2000" dirty="0" err="1"/>
              <a:t>dict</a:t>
            </a:r>
            <a:r>
              <a:rPr lang="en-US" sz="2000" dirty="0"/>
              <a:t> — pandas can read this just as easily:</a:t>
            </a:r>
          </a:p>
        </p:txBody>
      </p:sp>
      <p:sp>
        <p:nvSpPr>
          <p:cNvPr id="4" name="Rectangle 3"/>
          <p:cNvSpPr/>
          <p:nvPr/>
        </p:nvSpPr>
        <p:spPr>
          <a:xfrm>
            <a:off x="838200" y="2801019"/>
            <a:ext cx="5262979" cy="400110"/>
          </a:xfrm>
          <a:prstGeom prst="rect">
            <a:avLst/>
          </a:prstGeom>
          <a:solidFill>
            <a:schemeClr val="accent4">
              <a:lumMod val="20000"/>
              <a:lumOff val="80000"/>
            </a:schemeClr>
          </a:solidFill>
          <a:ln>
            <a:solidFill>
              <a:schemeClr val="accent1"/>
            </a:solidFill>
          </a:ln>
        </p:spPr>
        <p:txBody>
          <a:bodyPr wrap="none">
            <a:spAutoFit/>
          </a:bodyPr>
          <a:lstStyle/>
          <a:p>
            <a:r>
              <a:rPr lang="en-US" sz="2000" b="1" dirty="0" err="1">
                <a:solidFill>
                  <a:srgbClr val="4D4D4C"/>
                </a:solidFill>
                <a:latin typeface="Courier New" panose="02070309020205020404" pitchFamily="49" charset="0"/>
                <a:cs typeface="Courier New" panose="02070309020205020404" pitchFamily="49" charset="0"/>
              </a:rPr>
              <a:t>df</a:t>
            </a:r>
            <a:r>
              <a:rPr lang="en-US" sz="2000" b="1" dirty="0">
                <a:solidFill>
                  <a:srgbClr val="4D4D4C"/>
                </a:solidFill>
                <a:latin typeface="Courier New" panose="02070309020205020404" pitchFamily="49" charset="0"/>
                <a:cs typeface="Courier New" panose="02070309020205020404" pitchFamily="49" charset="0"/>
              </a:rPr>
              <a:t> </a:t>
            </a:r>
            <a:r>
              <a:rPr lang="en-US" sz="2000" b="1" dirty="0">
                <a:solidFill>
                  <a:srgbClr val="3E999F"/>
                </a:solidFill>
                <a:latin typeface="Courier New" panose="02070309020205020404" pitchFamily="49" charset="0"/>
                <a:cs typeface="Courier New" panose="02070309020205020404" pitchFamily="49" charset="0"/>
              </a:rPr>
              <a:t>=</a:t>
            </a:r>
            <a:r>
              <a:rPr lang="en-US" sz="2000" b="1" dirty="0">
                <a:solidFill>
                  <a:srgbClr val="4D4D4C"/>
                </a:solidFill>
                <a:latin typeface="Courier New" panose="02070309020205020404" pitchFamily="49" charset="0"/>
                <a:cs typeface="Courier New" panose="02070309020205020404" pitchFamily="49" charset="0"/>
              </a:rPr>
              <a:t> </a:t>
            </a:r>
            <a:r>
              <a:rPr lang="en-US" sz="2000" b="1" dirty="0" err="1">
                <a:solidFill>
                  <a:srgbClr val="4D4D4C"/>
                </a:solidFill>
                <a:latin typeface="Courier New" panose="02070309020205020404" pitchFamily="49" charset="0"/>
                <a:cs typeface="Courier New" panose="02070309020205020404" pitchFamily="49" charset="0"/>
              </a:rPr>
              <a:t>pd.</a:t>
            </a:r>
            <a:r>
              <a:rPr lang="en-US" sz="2000" b="1" dirty="0" err="1">
                <a:solidFill>
                  <a:srgbClr val="4271AE"/>
                </a:solidFill>
                <a:latin typeface="Courier New" panose="02070309020205020404" pitchFamily="49" charset="0"/>
                <a:cs typeface="Courier New" panose="02070309020205020404" pitchFamily="49" charset="0"/>
              </a:rPr>
              <a:t>read_json</a:t>
            </a:r>
            <a:r>
              <a:rPr lang="en-US" sz="2000" b="1" dirty="0">
                <a:solidFill>
                  <a:srgbClr val="4D4D4C"/>
                </a:solidFill>
                <a:latin typeface="Courier New" panose="02070309020205020404" pitchFamily="49" charset="0"/>
                <a:cs typeface="Courier New" panose="02070309020205020404" pitchFamily="49" charset="0"/>
              </a:rPr>
              <a:t>(</a:t>
            </a:r>
            <a:r>
              <a:rPr lang="en-US" sz="2000" b="1" dirty="0">
                <a:solidFill>
                  <a:srgbClr val="A31515"/>
                </a:solidFill>
                <a:latin typeface="Courier New" panose="02070309020205020404" pitchFamily="49" charset="0"/>
              </a:rPr>
              <a:t>'</a:t>
            </a:r>
            <a:r>
              <a:rPr lang="en-US" sz="2000" b="1" dirty="0" err="1">
                <a:solidFill>
                  <a:srgbClr val="A31515"/>
                </a:solidFill>
                <a:latin typeface="Courier New" panose="02070309020205020404" pitchFamily="49" charset="0"/>
              </a:rPr>
              <a:t>dataset.json</a:t>
            </a:r>
            <a:r>
              <a:rPr lang="en-US" sz="2000" b="1" dirty="0">
                <a:solidFill>
                  <a:srgbClr val="A31515"/>
                </a:solidFill>
                <a:latin typeface="Courier New" panose="02070309020205020404" pitchFamily="49" charset="0"/>
              </a:rPr>
              <a:t>'</a:t>
            </a:r>
            <a:r>
              <a:rPr lang="en-US" sz="2000" b="1" dirty="0">
                <a:solidFill>
                  <a:srgbClr val="4D4D4C"/>
                </a:solidFill>
                <a:latin typeface="Courier New" panose="02070309020205020404" pitchFamily="49" charset="0"/>
                <a:cs typeface="Courier New" panose="02070309020205020404" pitchFamily="49" charset="0"/>
              </a:rPr>
              <a:t>)</a:t>
            </a:r>
            <a:endParaRPr lang="en-US" sz="2000" b="1" dirty="0">
              <a:latin typeface="Courier New" panose="02070309020205020404" pitchFamily="49" charset="0"/>
              <a:cs typeface="Courier New" panose="02070309020205020404" pitchFamily="49" charset="0"/>
            </a:endParaRPr>
          </a:p>
        </p:txBody>
      </p:sp>
      <p:sp>
        <p:nvSpPr>
          <p:cNvPr id="6" name="Content Placeholder 2"/>
          <p:cNvSpPr txBox="1">
            <a:spLocks/>
          </p:cNvSpPr>
          <p:nvPr/>
        </p:nvSpPr>
        <p:spPr>
          <a:xfrm>
            <a:off x="838200" y="4094218"/>
            <a:ext cx="10515600" cy="2053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2000" dirty="0"/>
              <a:t>Notice this time our index came with us correctly since using JSON allowed indexes to work through nesting.</a:t>
            </a:r>
          </a:p>
          <a:p>
            <a:pPr>
              <a:lnSpc>
                <a:spcPct val="110000"/>
              </a:lnSpc>
            </a:pPr>
            <a:r>
              <a:rPr lang="en-US" sz="2000" dirty="0"/>
              <a:t>Pandas will try to figure out how to create a </a:t>
            </a:r>
            <a:r>
              <a:rPr lang="en-US" sz="2000" dirty="0" err="1"/>
              <a:t>DataFrame</a:t>
            </a:r>
            <a:r>
              <a:rPr lang="en-US" sz="2000" dirty="0"/>
              <a:t> by analyzing structure of your JSON, and sometimes it doesn't get it right. </a:t>
            </a:r>
          </a:p>
          <a:p>
            <a:pPr>
              <a:lnSpc>
                <a:spcPct val="110000"/>
              </a:lnSpc>
            </a:pPr>
            <a:r>
              <a:rPr lang="en-US" sz="2000" dirty="0"/>
              <a:t>Often you'll need to set the </a:t>
            </a:r>
            <a:r>
              <a:rPr lang="en-US" sz="2000" b="1" dirty="0">
                <a:solidFill>
                  <a:srgbClr val="0070C0"/>
                </a:solidFill>
                <a:latin typeface="Courier New" panose="02070309020205020404" pitchFamily="49" charset="0"/>
                <a:cs typeface="Courier New" panose="02070309020205020404" pitchFamily="49" charset="0"/>
              </a:rPr>
              <a:t>orient</a:t>
            </a:r>
            <a:r>
              <a:rPr lang="en-US" sz="2000" dirty="0"/>
              <a:t> keyword argument depending on the structure</a:t>
            </a:r>
          </a:p>
        </p:txBody>
      </p:sp>
    </p:spTree>
    <p:extLst>
      <p:ext uri="{BB962C8B-B14F-4D97-AF65-F5344CB8AC3E}">
        <p14:creationId xmlns:p14="http://schemas.microsoft.com/office/powerpoint/2010/main" val="248816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t>Example </a:t>
            </a:r>
            <a:r>
              <a:rPr lang="en-US" dirty="0">
                <a:solidFill>
                  <a:srgbClr val="FF0000"/>
                </a:solidFill>
              </a:rPr>
              <a:t>#1:</a:t>
            </a:r>
            <a:r>
              <a:rPr lang="en-US" dirty="0"/>
              <a:t>Reading data from JSON</a:t>
            </a:r>
            <a:endParaRPr lang="en-US" dirty="0">
              <a:solidFill>
                <a:srgbClr val="FF0000"/>
              </a:solidFill>
            </a:endParaRPr>
          </a:p>
        </p:txBody>
      </p:sp>
      <p:pic>
        <p:nvPicPr>
          <p:cNvPr id="5" name="Picture 4"/>
          <p:cNvPicPr>
            <a:picLocks noChangeAspect="1"/>
          </p:cNvPicPr>
          <p:nvPr/>
        </p:nvPicPr>
        <p:blipFill>
          <a:blip r:embed="rId2"/>
          <a:stretch>
            <a:fillRect/>
          </a:stretch>
        </p:blipFill>
        <p:spPr>
          <a:xfrm>
            <a:off x="838200" y="4093186"/>
            <a:ext cx="5534025" cy="1685925"/>
          </a:xfrm>
          <a:prstGeom prst="rect">
            <a:avLst/>
          </a:prstGeom>
        </p:spPr>
      </p:pic>
      <p:sp>
        <p:nvSpPr>
          <p:cNvPr id="9" name="Right Arrow 8"/>
          <p:cNvSpPr/>
          <p:nvPr/>
        </p:nvSpPr>
        <p:spPr>
          <a:xfrm>
            <a:off x="6849991" y="4457684"/>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0" name="Right Arrow 9"/>
          <p:cNvSpPr/>
          <p:nvPr/>
        </p:nvSpPr>
        <p:spPr>
          <a:xfrm rot="5400000">
            <a:off x="4115972" y="3290319"/>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838200" y="1664486"/>
            <a:ext cx="9867900" cy="1409700"/>
          </a:xfrm>
          <a:prstGeom prst="rect">
            <a:avLst/>
          </a:prstGeom>
          <a:ln>
            <a:solidFill>
              <a:schemeClr val="accent1"/>
            </a:solidFill>
          </a:ln>
        </p:spPr>
      </p:pic>
      <p:pic>
        <p:nvPicPr>
          <p:cNvPr id="7" name="Picture 6"/>
          <p:cNvPicPr>
            <a:picLocks noChangeAspect="1"/>
          </p:cNvPicPr>
          <p:nvPr/>
        </p:nvPicPr>
        <p:blipFill>
          <a:blip r:embed="rId4"/>
          <a:stretch>
            <a:fillRect/>
          </a:stretch>
        </p:blipFill>
        <p:spPr>
          <a:xfrm>
            <a:off x="8201718" y="3988895"/>
            <a:ext cx="2504382" cy="1894507"/>
          </a:xfrm>
          <a:prstGeom prst="rect">
            <a:avLst/>
          </a:prstGeom>
        </p:spPr>
      </p:pic>
    </p:spTree>
    <p:extLst>
      <p:ext uri="{BB962C8B-B14F-4D97-AF65-F5344CB8AC3E}">
        <p14:creationId xmlns:p14="http://schemas.microsoft.com/office/powerpoint/2010/main" val="4067432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t>Example </a:t>
            </a:r>
            <a:r>
              <a:rPr lang="en-US" dirty="0">
                <a:solidFill>
                  <a:srgbClr val="FF0000"/>
                </a:solidFill>
              </a:rPr>
              <a:t>#2: </a:t>
            </a:r>
            <a:r>
              <a:rPr lang="en-US" dirty="0"/>
              <a:t>Reading data from JSON</a:t>
            </a:r>
            <a:endParaRPr lang="en-US" dirty="0">
              <a:solidFill>
                <a:srgbClr val="FF0000"/>
              </a:solidFill>
            </a:endParaRPr>
          </a:p>
        </p:txBody>
      </p:sp>
      <p:pic>
        <p:nvPicPr>
          <p:cNvPr id="2" name="Picture 1"/>
          <p:cNvPicPr>
            <a:picLocks noChangeAspect="1"/>
          </p:cNvPicPr>
          <p:nvPr/>
        </p:nvPicPr>
        <p:blipFill>
          <a:blip r:embed="rId2"/>
          <a:stretch>
            <a:fillRect/>
          </a:stretch>
        </p:blipFill>
        <p:spPr>
          <a:xfrm>
            <a:off x="354863" y="1575857"/>
            <a:ext cx="5943600" cy="1743075"/>
          </a:xfrm>
          <a:prstGeom prst="rect">
            <a:avLst/>
          </a:prstGeom>
          <a:ln>
            <a:solidFill>
              <a:schemeClr val="accent1"/>
            </a:solidFill>
          </a:ln>
        </p:spPr>
      </p:pic>
      <p:pic>
        <p:nvPicPr>
          <p:cNvPr id="5" name="Picture 4"/>
          <p:cNvPicPr>
            <a:picLocks noChangeAspect="1"/>
          </p:cNvPicPr>
          <p:nvPr/>
        </p:nvPicPr>
        <p:blipFill>
          <a:blip r:embed="rId3"/>
          <a:stretch>
            <a:fillRect/>
          </a:stretch>
        </p:blipFill>
        <p:spPr>
          <a:xfrm>
            <a:off x="354863" y="4355842"/>
            <a:ext cx="5953130" cy="1813604"/>
          </a:xfrm>
          <a:prstGeom prst="rect">
            <a:avLst/>
          </a:prstGeom>
        </p:spPr>
      </p:pic>
      <p:pic>
        <p:nvPicPr>
          <p:cNvPr id="8" name="Picture 7"/>
          <p:cNvPicPr>
            <a:picLocks noChangeAspect="1"/>
          </p:cNvPicPr>
          <p:nvPr/>
        </p:nvPicPr>
        <p:blipFill>
          <a:blip r:embed="rId4"/>
          <a:stretch>
            <a:fillRect/>
          </a:stretch>
        </p:blipFill>
        <p:spPr>
          <a:xfrm>
            <a:off x="7749524" y="4589884"/>
            <a:ext cx="4027578" cy="1271089"/>
          </a:xfrm>
          <a:prstGeom prst="rect">
            <a:avLst/>
          </a:prstGeom>
        </p:spPr>
      </p:pic>
      <p:sp>
        <p:nvSpPr>
          <p:cNvPr id="9" name="Right Arrow 8"/>
          <p:cNvSpPr/>
          <p:nvPr/>
        </p:nvSpPr>
        <p:spPr>
          <a:xfrm>
            <a:off x="6640670" y="4458421"/>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0" name="Right Arrow 9"/>
          <p:cNvSpPr/>
          <p:nvPr/>
        </p:nvSpPr>
        <p:spPr>
          <a:xfrm rot="5400000">
            <a:off x="2699342" y="3554699"/>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2293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66822"/>
            <a:ext cx="10515600" cy="780571"/>
          </a:xfrm>
        </p:spPr>
        <p:txBody>
          <a:bodyPr/>
          <a:lstStyle/>
          <a:p>
            <a:pPr algn="ctr"/>
            <a:r>
              <a:rPr lang="en-US" dirty="0"/>
              <a:t>Example </a:t>
            </a:r>
            <a:r>
              <a:rPr lang="en-US" dirty="0">
                <a:solidFill>
                  <a:srgbClr val="FF0000"/>
                </a:solidFill>
              </a:rPr>
              <a:t>#3: </a:t>
            </a:r>
            <a:r>
              <a:rPr lang="en-US" dirty="0"/>
              <a:t>Reading data from JSON</a:t>
            </a:r>
            <a:endParaRPr lang="en-US" dirty="0">
              <a:solidFill>
                <a:srgbClr val="FF0000"/>
              </a:solidFill>
            </a:endParaRPr>
          </a:p>
        </p:txBody>
      </p:sp>
      <p:pic>
        <p:nvPicPr>
          <p:cNvPr id="2" name="Picture 1"/>
          <p:cNvPicPr>
            <a:picLocks noChangeAspect="1"/>
          </p:cNvPicPr>
          <p:nvPr/>
        </p:nvPicPr>
        <p:blipFill>
          <a:blip r:embed="rId2"/>
          <a:stretch>
            <a:fillRect/>
          </a:stretch>
        </p:blipFill>
        <p:spPr>
          <a:xfrm>
            <a:off x="354863" y="1140268"/>
            <a:ext cx="4635778" cy="1359531"/>
          </a:xfrm>
          <a:prstGeom prst="rect">
            <a:avLst/>
          </a:prstGeom>
          <a:ln>
            <a:solidFill>
              <a:schemeClr val="accent1"/>
            </a:solidFill>
          </a:ln>
        </p:spPr>
      </p:pic>
      <p:pic>
        <p:nvPicPr>
          <p:cNvPr id="8" name="Picture 7"/>
          <p:cNvPicPr>
            <a:picLocks noChangeAspect="1"/>
          </p:cNvPicPr>
          <p:nvPr/>
        </p:nvPicPr>
        <p:blipFill>
          <a:blip r:embed="rId3"/>
          <a:stretch>
            <a:fillRect/>
          </a:stretch>
        </p:blipFill>
        <p:spPr>
          <a:xfrm>
            <a:off x="949773" y="5056902"/>
            <a:ext cx="3445957" cy="1087532"/>
          </a:xfrm>
          <a:prstGeom prst="rect">
            <a:avLst/>
          </a:prstGeom>
        </p:spPr>
      </p:pic>
      <p:sp>
        <p:nvSpPr>
          <p:cNvPr id="10" name="Right Arrow 9"/>
          <p:cNvSpPr/>
          <p:nvPr/>
        </p:nvSpPr>
        <p:spPr>
          <a:xfrm rot="5400000">
            <a:off x="2471744" y="2491920"/>
            <a:ext cx="402015"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4"/>
          <a:stretch>
            <a:fillRect/>
          </a:stretch>
        </p:blipFill>
        <p:spPr>
          <a:xfrm>
            <a:off x="354862" y="2946419"/>
            <a:ext cx="4635778" cy="1586743"/>
          </a:xfrm>
          <a:prstGeom prst="rect">
            <a:avLst/>
          </a:prstGeom>
        </p:spPr>
      </p:pic>
      <p:sp>
        <p:nvSpPr>
          <p:cNvPr id="11" name="Right Arrow 10"/>
          <p:cNvSpPr/>
          <p:nvPr/>
        </p:nvSpPr>
        <p:spPr>
          <a:xfrm rot="5400000">
            <a:off x="2471743" y="4509196"/>
            <a:ext cx="402015"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5"/>
          <a:stretch>
            <a:fillRect/>
          </a:stretch>
        </p:blipFill>
        <p:spPr>
          <a:xfrm>
            <a:off x="6461967" y="2917901"/>
            <a:ext cx="4773458" cy="1615261"/>
          </a:xfrm>
          <a:prstGeom prst="rect">
            <a:avLst/>
          </a:prstGeom>
        </p:spPr>
      </p:pic>
      <p:pic>
        <p:nvPicPr>
          <p:cNvPr id="12" name="Picture 11"/>
          <p:cNvPicPr>
            <a:picLocks noChangeAspect="1"/>
          </p:cNvPicPr>
          <p:nvPr/>
        </p:nvPicPr>
        <p:blipFill>
          <a:blip r:embed="rId6"/>
          <a:stretch>
            <a:fillRect/>
          </a:stretch>
        </p:blipFill>
        <p:spPr>
          <a:xfrm>
            <a:off x="7794094" y="4915785"/>
            <a:ext cx="2099054" cy="1587885"/>
          </a:xfrm>
          <a:prstGeom prst="rect">
            <a:avLst/>
          </a:prstGeom>
        </p:spPr>
      </p:pic>
      <p:sp>
        <p:nvSpPr>
          <p:cNvPr id="13" name="Right Arrow 12"/>
          <p:cNvSpPr/>
          <p:nvPr/>
        </p:nvSpPr>
        <p:spPr>
          <a:xfrm rot="5400000">
            <a:off x="8642613" y="4472146"/>
            <a:ext cx="402015"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4" name="Bent-Up Arrow 13"/>
          <p:cNvSpPr/>
          <p:nvPr/>
        </p:nvSpPr>
        <p:spPr>
          <a:xfrm flipV="1">
            <a:off x="5165074" y="1555807"/>
            <a:ext cx="3917779" cy="1077224"/>
          </a:xfrm>
          <a:prstGeom prst="bentUp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2093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7916"/>
          </a:xfrm>
        </p:spPr>
        <p:txBody>
          <a:bodyPr/>
          <a:lstStyle/>
          <a:p>
            <a:r>
              <a:rPr lang="en-US" dirty="0"/>
              <a:t>Converting back to a CSV or JSON</a:t>
            </a:r>
          </a:p>
        </p:txBody>
      </p:sp>
      <p:sp>
        <p:nvSpPr>
          <p:cNvPr id="3" name="Content Placeholder 2"/>
          <p:cNvSpPr>
            <a:spLocks noGrp="1"/>
          </p:cNvSpPr>
          <p:nvPr>
            <p:ph idx="1"/>
          </p:nvPr>
        </p:nvSpPr>
        <p:spPr>
          <a:xfrm>
            <a:off x="838200" y="1562986"/>
            <a:ext cx="10515600" cy="4613977"/>
          </a:xfrm>
        </p:spPr>
        <p:txBody>
          <a:bodyPr>
            <a:normAutofit/>
          </a:bodyPr>
          <a:lstStyle/>
          <a:p>
            <a:pPr>
              <a:lnSpc>
                <a:spcPct val="100000"/>
              </a:lnSpc>
              <a:spcBef>
                <a:spcPts val="600"/>
              </a:spcBef>
              <a:spcAft>
                <a:spcPts val="600"/>
              </a:spcAft>
            </a:pPr>
            <a:r>
              <a:rPr lang="en-US" sz="2000" dirty="0"/>
              <a:t>So after extensive work on cleaning your data, you’re now ready to save it as a file of your choice. Similar to the ways we read in data, pandas provides intuitive commands to save it:</a:t>
            </a:r>
          </a:p>
          <a:p>
            <a:pPr>
              <a:lnSpc>
                <a:spcPct val="100000"/>
              </a:lnSpc>
              <a:spcBef>
                <a:spcPts val="600"/>
              </a:spcBef>
              <a:spcAft>
                <a:spcPts val="600"/>
              </a:spcAft>
            </a:pPr>
            <a:endParaRPr lang="en-US" sz="2000" dirty="0"/>
          </a:p>
          <a:p>
            <a:pPr>
              <a:lnSpc>
                <a:spcPct val="100000"/>
              </a:lnSpc>
              <a:spcBef>
                <a:spcPts val="600"/>
              </a:spcBef>
              <a:spcAft>
                <a:spcPts val="600"/>
              </a:spcAft>
            </a:pPr>
            <a:endParaRPr lang="en-US" sz="2000" dirty="0"/>
          </a:p>
          <a:p>
            <a:pPr>
              <a:lnSpc>
                <a:spcPct val="100000"/>
              </a:lnSpc>
              <a:spcBef>
                <a:spcPts val="600"/>
              </a:spcBef>
              <a:spcAft>
                <a:spcPts val="600"/>
              </a:spcAft>
            </a:pPr>
            <a:endParaRPr lang="en-US" sz="2000" dirty="0"/>
          </a:p>
          <a:p>
            <a:pPr>
              <a:lnSpc>
                <a:spcPct val="100000"/>
              </a:lnSpc>
              <a:spcBef>
                <a:spcPts val="600"/>
              </a:spcBef>
              <a:spcAft>
                <a:spcPts val="600"/>
              </a:spcAft>
            </a:pPr>
            <a:endParaRPr lang="en-US" sz="2000" dirty="0"/>
          </a:p>
          <a:p>
            <a:pPr>
              <a:lnSpc>
                <a:spcPct val="100000"/>
              </a:lnSpc>
              <a:spcBef>
                <a:spcPts val="600"/>
              </a:spcBef>
              <a:spcAft>
                <a:spcPts val="600"/>
              </a:spcAft>
            </a:pPr>
            <a:endParaRPr lang="en-US" sz="2000" dirty="0"/>
          </a:p>
          <a:p>
            <a:pPr>
              <a:lnSpc>
                <a:spcPct val="100000"/>
              </a:lnSpc>
              <a:spcBef>
                <a:spcPts val="600"/>
              </a:spcBef>
              <a:spcAft>
                <a:spcPts val="600"/>
              </a:spcAft>
            </a:pPr>
            <a:endParaRPr lang="en-US" sz="2000" dirty="0"/>
          </a:p>
          <a:p>
            <a:pPr>
              <a:lnSpc>
                <a:spcPct val="100000"/>
              </a:lnSpc>
              <a:spcBef>
                <a:spcPts val="600"/>
              </a:spcBef>
              <a:spcAft>
                <a:spcPts val="600"/>
              </a:spcAft>
            </a:pPr>
            <a:r>
              <a:rPr lang="en-US" sz="2000" dirty="0"/>
              <a:t>When we save JSON and CSV files, all we have to input into those functions is our desired filename with the appropriate file extension.</a:t>
            </a:r>
          </a:p>
        </p:txBody>
      </p:sp>
      <p:sp>
        <p:nvSpPr>
          <p:cNvPr id="4" name="Rectangle 3"/>
          <p:cNvSpPr/>
          <p:nvPr/>
        </p:nvSpPr>
        <p:spPr>
          <a:xfrm>
            <a:off x="3048000" y="2967335"/>
            <a:ext cx="6096000" cy="1477328"/>
          </a:xfrm>
          <a:prstGeom prst="rect">
            <a:avLst/>
          </a:prstGeom>
          <a:solidFill>
            <a:schemeClr val="accent4">
              <a:lumMod val="20000"/>
              <a:lumOff val="80000"/>
            </a:schemeClr>
          </a:solidFill>
          <a:ln>
            <a:solidFill>
              <a:schemeClr val="accent1"/>
            </a:solidFill>
          </a:ln>
        </p:spPr>
        <p:txBody>
          <a:bodyPr>
            <a:spAutoFit/>
          </a:bodyPr>
          <a:lstStyle/>
          <a:p>
            <a:pPr>
              <a:lnSpc>
                <a:spcPct val="150000"/>
              </a:lnSpc>
            </a:pPr>
            <a:r>
              <a:rPr lang="en-US" sz="2000" b="1" dirty="0" err="1">
                <a:solidFill>
                  <a:srgbClr val="4D4D4C"/>
                </a:solidFill>
                <a:latin typeface="Courier New" panose="02070309020205020404" pitchFamily="49" charset="0"/>
                <a:cs typeface="Courier New" panose="02070309020205020404" pitchFamily="49" charset="0"/>
              </a:rPr>
              <a:t>df.</a:t>
            </a:r>
            <a:r>
              <a:rPr lang="en-US" sz="2000" b="1" dirty="0" err="1">
                <a:solidFill>
                  <a:srgbClr val="4271AE"/>
                </a:solidFill>
                <a:latin typeface="Courier New" panose="02070309020205020404" pitchFamily="49" charset="0"/>
                <a:cs typeface="Courier New" panose="02070309020205020404" pitchFamily="49" charset="0"/>
              </a:rPr>
              <a:t>to_csv</a:t>
            </a:r>
            <a:r>
              <a:rPr lang="en-US" sz="2000" b="1" dirty="0">
                <a:solidFill>
                  <a:srgbClr val="4D4D4C"/>
                </a:solidFill>
                <a:latin typeface="Courier New" panose="02070309020205020404" pitchFamily="49" charset="0"/>
                <a:cs typeface="Courier New" panose="02070309020205020404" pitchFamily="49" charset="0"/>
              </a:rPr>
              <a:t>(</a:t>
            </a:r>
            <a:r>
              <a:rPr lang="en-US" sz="2000" b="1" dirty="0">
                <a:solidFill>
                  <a:srgbClr val="A31515"/>
                </a:solidFill>
                <a:latin typeface="Courier New" panose="02070309020205020404" pitchFamily="49" charset="0"/>
              </a:rPr>
              <a:t>'new_dataset.csv'</a:t>
            </a:r>
            <a:r>
              <a:rPr lang="en-US" sz="2000" b="1" dirty="0">
                <a:solidFill>
                  <a:srgbClr val="4D4D4C"/>
                </a:solidFill>
                <a:latin typeface="Courier New" panose="02070309020205020404" pitchFamily="49" charset="0"/>
                <a:cs typeface="Courier New" panose="02070309020205020404" pitchFamily="49" charset="0"/>
              </a:rPr>
              <a:t>) </a:t>
            </a:r>
          </a:p>
          <a:p>
            <a:pPr>
              <a:lnSpc>
                <a:spcPct val="150000"/>
              </a:lnSpc>
            </a:pPr>
            <a:r>
              <a:rPr lang="en-US" sz="2000" b="1" dirty="0" err="1">
                <a:solidFill>
                  <a:srgbClr val="4D4D4C"/>
                </a:solidFill>
                <a:latin typeface="Courier New" panose="02070309020205020404" pitchFamily="49" charset="0"/>
                <a:cs typeface="Courier New" panose="02070309020205020404" pitchFamily="49" charset="0"/>
              </a:rPr>
              <a:t>df.</a:t>
            </a:r>
            <a:r>
              <a:rPr lang="en-US" sz="2000" b="1" dirty="0" err="1">
                <a:solidFill>
                  <a:srgbClr val="4271AE"/>
                </a:solidFill>
                <a:latin typeface="Courier New" panose="02070309020205020404" pitchFamily="49" charset="0"/>
                <a:cs typeface="Courier New" panose="02070309020205020404" pitchFamily="49" charset="0"/>
              </a:rPr>
              <a:t>to_json</a:t>
            </a:r>
            <a:r>
              <a:rPr lang="en-US" sz="2000" b="1" dirty="0">
                <a:solidFill>
                  <a:srgbClr val="4D4D4C"/>
                </a:solidFill>
                <a:latin typeface="Courier New" panose="02070309020205020404" pitchFamily="49" charset="0"/>
                <a:cs typeface="Courier New" panose="02070309020205020404" pitchFamily="49" charset="0"/>
              </a:rPr>
              <a:t>(</a:t>
            </a:r>
            <a:r>
              <a:rPr lang="en-US" sz="2000" b="1" dirty="0">
                <a:solidFill>
                  <a:srgbClr val="A31515"/>
                </a:solidFill>
                <a:latin typeface="Courier New" panose="02070309020205020404" pitchFamily="49" charset="0"/>
              </a:rPr>
              <a:t>'</a:t>
            </a:r>
            <a:r>
              <a:rPr lang="en-US" sz="2000" b="1" dirty="0" err="1">
                <a:solidFill>
                  <a:srgbClr val="A31515"/>
                </a:solidFill>
                <a:latin typeface="Courier New" panose="02070309020205020404" pitchFamily="49" charset="0"/>
              </a:rPr>
              <a:t>new_dataset.json</a:t>
            </a:r>
            <a:r>
              <a:rPr lang="en-US" sz="2000" b="1" dirty="0">
                <a:solidFill>
                  <a:srgbClr val="A31515"/>
                </a:solidFill>
                <a:latin typeface="Courier New" panose="02070309020205020404" pitchFamily="49" charset="0"/>
              </a:rPr>
              <a:t>'</a:t>
            </a:r>
            <a:r>
              <a:rPr lang="en-US" sz="2000" b="1" dirty="0">
                <a:solidFill>
                  <a:srgbClr val="4D4D4C"/>
                </a:solidFill>
                <a:latin typeface="Courier New" panose="02070309020205020404" pitchFamily="49" charset="0"/>
                <a:cs typeface="Courier New" panose="02070309020205020404" pitchFamily="49" charset="0"/>
              </a:rPr>
              <a:t>) </a:t>
            </a:r>
          </a:p>
          <a:p>
            <a:pPr>
              <a:lnSpc>
                <a:spcPct val="150000"/>
              </a:lnSpc>
            </a:pPr>
            <a:r>
              <a:rPr lang="en-US" sz="2000" b="1" dirty="0" err="1">
                <a:solidFill>
                  <a:schemeClr val="accent4">
                    <a:lumMod val="20000"/>
                    <a:lumOff val="80000"/>
                  </a:schemeClr>
                </a:solidFill>
                <a:latin typeface="Courier New" panose="02070309020205020404" pitchFamily="49" charset="0"/>
                <a:cs typeface="Courier New" panose="02070309020205020404" pitchFamily="49" charset="0"/>
              </a:rPr>
              <a:t>df.to_sql</a:t>
            </a:r>
            <a:r>
              <a:rPr lang="en-US" sz="2000" b="1" dirty="0">
                <a:solidFill>
                  <a:schemeClr val="accent4">
                    <a:lumMod val="20000"/>
                    <a:lumOff val="80000"/>
                  </a:schemeClr>
                </a:solidFill>
                <a:latin typeface="Courier New" panose="02070309020205020404" pitchFamily="49" charset="0"/>
                <a:cs typeface="Courier New" panose="02070309020205020404" pitchFamily="49" charset="0"/>
              </a:rPr>
              <a:t>('</a:t>
            </a:r>
            <a:r>
              <a:rPr lang="en-US" sz="2000" b="1" dirty="0" err="1">
                <a:solidFill>
                  <a:schemeClr val="accent4">
                    <a:lumMod val="20000"/>
                    <a:lumOff val="80000"/>
                  </a:schemeClr>
                </a:solidFill>
                <a:latin typeface="Courier New" panose="02070309020205020404" pitchFamily="49" charset="0"/>
                <a:cs typeface="Courier New" panose="02070309020205020404" pitchFamily="49" charset="0"/>
              </a:rPr>
              <a:t>new_dataset</a:t>
            </a:r>
            <a:r>
              <a:rPr lang="en-US" sz="2000" b="1" dirty="0">
                <a:solidFill>
                  <a:schemeClr val="accent4">
                    <a:lumMod val="20000"/>
                    <a:lumOff val="80000"/>
                  </a:schemeClr>
                </a:solidFill>
                <a:latin typeface="Courier New" panose="02070309020205020404" pitchFamily="49" charset="0"/>
                <a:cs typeface="Courier New" panose="02070309020205020404" pitchFamily="49" charset="0"/>
              </a:rPr>
              <a:t>', con)</a:t>
            </a:r>
            <a:endParaRPr lang="en-US" sz="2000" b="1" i="0" dirty="0">
              <a:solidFill>
                <a:schemeClr val="accent4">
                  <a:lumMod val="20000"/>
                  <a:lumOff val="80000"/>
                </a:schemeClr>
              </a:solidFill>
              <a:effectLst/>
              <a:latin typeface="Courier New" panose="02070309020205020404" pitchFamily="49" charset="0"/>
              <a:cs typeface="Courier New" panose="02070309020205020404" pitchFamily="49" charset="0"/>
            </a:endParaRPr>
          </a:p>
        </p:txBody>
      </p:sp>
      <p:sp>
        <p:nvSpPr>
          <p:cNvPr id="5" name="Rectangle 4"/>
          <p:cNvSpPr/>
          <p:nvPr/>
        </p:nvSpPr>
        <p:spPr>
          <a:xfrm>
            <a:off x="1070344" y="6406907"/>
            <a:ext cx="10051311" cy="307777"/>
          </a:xfrm>
          <a:prstGeom prst="rect">
            <a:avLst/>
          </a:prstGeom>
        </p:spPr>
        <p:txBody>
          <a:bodyPr wrap="square">
            <a:spAutoFit/>
          </a:bodyPr>
          <a:lstStyle/>
          <a:p>
            <a:pPr algn="ctr"/>
            <a:r>
              <a:rPr lang="en-US" sz="1400" dirty="0"/>
              <a:t>Reference: </a:t>
            </a:r>
            <a:r>
              <a:rPr lang="en-US" sz="1400" dirty="0">
                <a:hlinkClick r:id="rId2"/>
              </a:rPr>
              <a:t>https://pandas.pydata.org/pandas-docs/stable/reference/api/pandas.DataFrame.to_json.html</a:t>
            </a:r>
            <a:r>
              <a:rPr lang="en-US" sz="1400" dirty="0"/>
              <a:t> </a:t>
            </a:r>
          </a:p>
        </p:txBody>
      </p:sp>
    </p:spTree>
    <p:extLst>
      <p:ext uri="{BB962C8B-B14F-4D97-AF65-F5344CB8AC3E}">
        <p14:creationId xmlns:p14="http://schemas.microsoft.com/office/powerpoint/2010/main" val="2010950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408814" y="612001"/>
            <a:ext cx="9144000" cy="2387600"/>
          </a:xfrm>
        </p:spPr>
        <p:txBody>
          <a:bodyPr/>
          <a:lstStyle/>
          <a:p>
            <a:r>
              <a:rPr lang="en-US" b="1" dirty="0"/>
              <a:t>Most important </a:t>
            </a:r>
            <a:r>
              <a:rPr lang="en-US" b="1" dirty="0" err="1"/>
              <a:t>DataFrame</a:t>
            </a:r>
            <a:r>
              <a:rPr lang="en-US" b="1" dirty="0"/>
              <a:t> operations</a:t>
            </a:r>
          </a:p>
        </p:txBody>
      </p:sp>
      <p:sp>
        <p:nvSpPr>
          <p:cNvPr id="7" name="Subtitle 6"/>
          <p:cNvSpPr>
            <a:spLocks noGrp="1"/>
          </p:cNvSpPr>
          <p:nvPr>
            <p:ph type="subTitle" idx="1"/>
          </p:nvPr>
        </p:nvSpPr>
        <p:spPr>
          <a:xfrm>
            <a:off x="701749" y="3696926"/>
            <a:ext cx="10558130" cy="2236041"/>
          </a:xfrm>
        </p:spPr>
        <p:txBody>
          <a:bodyPr>
            <a:normAutofit/>
          </a:bodyPr>
          <a:lstStyle/>
          <a:p>
            <a:pPr marL="342900" indent="-342900" algn="l">
              <a:lnSpc>
                <a:spcPct val="100000"/>
              </a:lnSpc>
              <a:spcBef>
                <a:spcPts val="600"/>
              </a:spcBef>
              <a:spcAft>
                <a:spcPts val="600"/>
              </a:spcAft>
              <a:buFont typeface="Arial" panose="020B0604020202020204" pitchFamily="34" charset="0"/>
              <a:buChar char="•"/>
            </a:pPr>
            <a:r>
              <a:rPr lang="en-US" sz="2000" dirty="0" err="1"/>
              <a:t>DataFrames</a:t>
            </a:r>
            <a:r>
              <a:rPr lang="en-US" sz="2000" dirty="0"/>
              <a:t> possess hundreds of methods and other operations that are crucial to any analysis. </a:t>
            </a:r>
          </a:p>
          <a:p>
            <a:pPr marL="342900" indent="-342900" algn="l">
              <a:lnSpc>
                <a:spcPct val="100000"/>
              </a:lnSpc>
              <a:spcBef>
                <a:spcPts val="600"/>
              </a:spcBef>
              <a:spcAft>
                <a:spcPts val="600"/>
              </a:spcAft>
              <a:buFont typeface="Arial" panose="020B0604020202020204" pitchFamily="34" charset="0"/>
              <a:buChar char="•"/>
            </a:pPr>
            <a:r>
              <a:rPr lang="en-US" sz="2000" dirty="0"/>
              <a:t>As a beginner, you should know the operations that:</a:t>
            </a:r>
          </a:p>
          <a:p>
            <a:pPr marL="800100" lvl="1" indent="-342900" algn="l">
              <a:lnSpc>
                <a:spcPct val="100000"/>
              </a:lnSpc>
              <a:spcBef>
                <a:spcPts val="600"/>
              </a:spcBef>
              <a:spcAft>
                <a:spcPts val="600"/>
              </a:spcAft>
              <a:buFont typeface="Arial" panose="020B0604020202020204" pitchFamily="34" charset="0"/>
              <a:buChar char="•"/>
            </a:pPr>
            <a:r>
              <a:rPr lang="en-US" dirty="0"/>
              <a:t>that perform </a:t>
            </a:r>
            <a:r>
              <a:rPr lang="en-US" u="sng" dirty="0">
                <a:solidFill>
                  <a:srgbClr val="FF0000"/>
                </a:solidFill>
              </a:rPr>
              <a:t>simple transformations</a:t>
            </a:r>
            <a:r>
              <a:rPr lang="en-US" dirty="0">
                <a:solidFill>
                  <a:srgbClr val="FF0000"/>
                </a:solidFill>
              </a:rPr>
              <a:t> </a:t>
            </a:r>
            <a:r>
              <a:rPr lang="en-US" dirty="0"/>
              <a:t>of your data and those </a:t>
            </a:r>
          </a:p>
          <a:p>
            <a:pPr marL="800100" lvl="1" indent="-342900" algn="l">
              <a:lnSpc>
                <a:spcPct val="100000"/>
              </a:lnSpc>
              <a:spcBef>
                <a:spcPts val="600"/>
              </a:spcBef>
              <a:spcAft>
                <a:spcPts val="600"/>
              </a:spcAft>
              <a:buFont typeface="Arial" panose="020B0604020202020204" pitchFamily="34" charset="0"/>
              <a:buChar char="•"/>
            </a:pPr>
            <a:r>
              <a:rPr lang="en-US" dirty="0"/>
              <a:t>that provide </a:t>
            </a:r>
            <a:r>
              <a:rPr lang="en-US" u="sng" dirty="0"/>
              <a:t>fundamental statistical analysis</a:t>
            </a:r>
            <a:r>
              <a:rPr lang="en-US" dirty="0"/>
              <a:t> on your data.</a:t>
            </a:r>
          </a:p>
        </p:txBody>
      </p:sp>
    </p:spTree>
    <p:extLst>
      <p:ext uri="{BB962C8B-B14F-4D97-AF65-F5344CB8AC3E}">
        <p14:creationId xmlns:p14="http://schemas.microsoft.com/office/powerpoint/2010/main" val="2121004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Loading dataset </a:t>
            </a:r>
          </a:p>
        </p:txBody>
      </p:sp>
      <p:sp>
        <p:nvSpPr>
          <p:cNvPr id="3" name="Content Placeholder 2"/>
          <p:cNvSpPr>
            <a:spLocks noGrp="1"/>
          </p:cNvSpPr>
          <p:nvPr>
            <p:ph idx="1"/>
          </p:nvPr>
        </p:nvSpPr>
        <p:spPr>
          <a:xfrm>
            <a:off x="838200" y="1825625"/>
            <a:ext cx="10515600" cy="1181980"/>
          </a:xfrm>
        </p:spPr>
        <p:txBody>
          <a:bodyPr>
            <a:normAutofit/>
          </a:bodyPr>
          <a:lstStyle/>
          <a:p>
            <a:r>
              <a:rPr lang="en-US" sz="2400" dirty="0"/>
              <a:t>We're loading this dataset from a CSV and designating the movie titles to be our index.</a:t>
            </a:r>
          </a:p>
        </p:txBody>
      </p:sp>
      <p:sp>
        <p:nvSpPr>
          <p:cNvPr id="4" name="Rectangle 3"/>
          <p:cNvSpPr/>
          <p:nvPr/>
        </p:nvSpPr>
        <p:spPr>
          <a:xfrm>
            <a:off x="838200" y="2942487"/>
            <a:ext cx="10756519" cy="400110"/>
          </a:xfrm>
          <a:prstGeom prst="rect">
            <a:avLst/>
          </a:prstGeom>
          <a:solidFill>
            <a:schemeClr val="accent4">
              <a:lumMod val="20000"/>
              <a:lumOff val="80000"/>
            </a:schemeClr>
          </a:solidFill>
          <a:ln>
            <a:solidFill>
              <a:schemeClr val="accent1"/>
            </a:solidFill>
          </a:ln>
        </p:spPr>
        <p:txBody>
          <a:bodyPr wrap="square">
            <a:spAutoFit/>
          </a:bodyPr>
          <a:lstStyle/>
          <a:p>
            <a:r>
              <a:rPr lang="en-US" sz="2000" b="1" dirty="0" err="1">
                <a:solidFill>
                  <a:srgbClr val="4D4D4C"/>
                </a:solidFill>
                <a:latin typeface="Courier New" panose="02070309020205020404" pitchFamily="49" charset="0"/>
                <a:cs typeface="Courier New" panose="02070309020205020404" pitchFamily="49" charset="0"/>
              </a:rPr>
              <a:t>movies_df</a:t>
            </a:r>
            <a:r>
              <a:rPr lang="en-US" sz="2000" b="1" dirty="0">
                <a:solidFill>
                  <a:srgbClr val="4D4D4C"/>
                </a:solidFill>
                <a:latin typeface="Courier New" panose="02070309020205020404" pitchFamily="49" charset="0"/>
                <a:cs typeface="Courier New" panose="02070309020205020404" pitchFamily="49" charset="0"/>
              </a:rPr>
              <a:t> </a:t>
            </a:r>
            <a:r>
              <a:rPr lang="en-US" sz="2000" b="1" dirty="0">
                <a:solidFill>
                  <a:srgbClr val="3E999F"/>
                </a:solidFill>
                <a:latin typeface="Courier New" panose="02070309020205020404" pitchFamily="49" charset="0"/>
                <a:cs typeface="Courier New" panose="02070309020205020404" pitchFamily="49" charset="0"/>
              </a:rPr>
              <a:t>=</a:t>
            </a:r>
            <a:r>
              <a:rPr lang="en-US" sz="2000" b="1" dirty="0">
                <a:solidFill>
                  <a:srgbClr val="4D4D4C"/>
                </a:solidFill>
                <a:latin typeface="Courier New" panose="02070309020205020404" pitchFamily="49" charset="0"/>
                <a:cs typeface="Courier New" panose="02070309020205020404" pitchFamily="49" charset="0"/>
              </a:rPr>
              <a:t> </a:t>
            </a:r>
            <a:r>
              <a:rPr lang="en-US" sz="2000" b="1" dirty="0" err="1">
                <a:solidFill>
                  <a:srgbClr val="4D4D4C"/>
                </a:solidFill>
                <a:latin typeface="Courier New" panose="02070309020205020404" pitchFamily="49" charset="0"/>
                <a:cs typeface="Courier New" panose="02070309020205020404" pitchFamily="49" charset="0"/>
              </a:rPr>
              <a:t>pd.</a:t>
            </a:r>
            <a:r>
              <a:rPr lang="en-US" sz="2000" b="1" dirty="0" err="1">
                <a:solidFill>
                  <a:srgbClr val="4271AE"/>
                </a:solidFill>
                <a:latin typeface="Courier New" panose="02070309020205020404" pitchFamily="49" charset="0"/>
                <a:cs typeface="Courier New" panose="02070309020205020404" pitchFamily="49" charset="0"/>
              </a:rPr>
              <a:t>read_csv</a:t>
            </a:r>
            <a:r>
              <a:rPr lang="en-US" sz="2000" b="1" dirty="0">
                <a:solidFill>
                  <a:srgbClr val="4D4D4C"/>
                </a:solidFill>
                <a:latin typeface="Courier New" panose="02070309020205020404" pitchFamily="49" charset="0"/>
                <a:cs typeface="Courier New" panose="02070309020205020404" pitchFamily="49" charset="0"/>
              </a:rPr>
              <a:t>(</a:t>
            </a:r>
            <a:r>
              <a:rPr lang="en-US" sz="2000" b="1" dirty="0">
                <a:solidFill>
                  <a:srgbClr val="A31515"/>
                </a:solidFill>
                <a:latin typeface="Courier New" panose="02070309020205020404" pitchFamily="49" charset="0"/>
              </a:rPr>
              <a:t>"movies.csv"</a:t>
            </a:r>
            <a:r>
              <a:rPr lang="en-US" sz="2000" b="1" dirty="0">
                <a:solidFill>
                  <a:srgbClr val="4D4D4C"/>
                </a:solidFill>
                <a:latin typeface="Courier New" panose="02070309020205020404" pitchFamily="49" charset="0"/>
                <a:cs typeface="Courier New" panose="02070309020205020404" pitchFamily="49" charset="0"/>
              </a:rPr>
              <a:t>, </a:t>
            </a:r>
            <a:r>
              <a:rPr lang="en-US" sz="2000" b="1" dirty="0" err="1">
                <a:solidFill>
                  <a:srgbClr val="4D4D4C"/>
                </a:solidFill>
                <a:latin typeface="Courier New" panose="02070309020205020404" pitchFamily="49" charset="0"/>
                <a:cs typeface="Courier New" panose="02070309020205020404" pitchFamily="49" charset="0"/>
              </a:rPr>
              <a:t>index_col</a:t>
            </a:r>
            <a:r>
              <a:rPr lang="en-US" sz="2000" b="1" dirty="0">
                <a:solidFill>
                  <a:srgbClr val="3E999F"/>
                </a:solidFill>
                <a:latin typeface="Courier New" panose="02070309020205020404" pitchFamily="49" charset="0"/>
                <a:cs typeface="Courier New" panose="02070309020205020404" pitchFamily="49" charset="0"/>
              </a:rPr>
              <a:t>=</a:t>
            </a:r>
            <a:r>
              <a:rPr lang="en-US" sz="2000" b="1" dirty="0">
                <a:solidFill>
                  <a:srgbClr val="A31515"/>
                </a:solidFill>
                <a:latin typeface="Courier New" panose="02070309020205020404" pitchFamily="49" charset="0"/>
              </a:rPr>
              <a:t>"title"</a:t>
            </a:r>
            <a:r>
              <a:rPr lang="en-US" sz="2000" b="1" dirty="0">
                <a:solidFill>
                  <a:srgbClr val="4D4D4C"/>
                </a:solidFill>
                <a:latin typeface="Courier New" panose="02070309020205020404" pitchFamily="49" charset="0"/>
                <a:cs typeface="Courier New" panose="02070309020205020404" pitchFamily="49" charset="0"/>
              </a:rPr>
              <a:t>)</a:t>
            </a:r>
            <a:endParaRPr lang="en-US" sz="2000" b="1" dirty="0">
              <a:latin typeface="Courier New" panose="02070309020205020404" pitchFamily="49" charset="0"/>
              <a:cs typeface="Courier New" panose="02070309020205020404" pitchFamily="49" charset="0"/>
            </a:endParaRPr>
          </a:p>
        </p:txBody>
      </p:sp>
      <p:sp>
        <p:nvSpPr>
          <p:cNvPr id="6" name="Rectangle 5"/>
          <p:cNvSpPr/>
          <p:nvPr/>
        </p:nvSpPr>
        <p:spPr>
          <a:xfrm>
            <a:off x="838200" y="6344516"/>
            <a:ext cx="4273606" cy="369332"/>
          </a:xfrm>
          <a:prstGeom prst="rect">
            <a:avLst/>
          </a:prstGeom>
        </p:spPr>
        <p:txBody>
          <a:bodyPr wrap="none">
            <a:spAutoFit/>
          </a:bodyPr>
          <a:lstStyle/>
          <a:p>
            <a:r>
              <a:rPr lang="en-US" dirty="0">
                <a:hlinkClick r:id="rId2"/>
              </a:rPr>
              <a:t>https://grouplens.org/datasets/movielens/</a:t>
            </a:r>
            <a:r>
              <a:rPr lang="en-US" dirty="0"/>
              <a:t> </a:t>
            </a:r>
          </a:p>
        </p:txBody>
      </p:sp>
    </p:spTree>
    <p:extLst>
      <p:ext uri="{BB962C8B-B14F-4D97-AF65-F5344CB8AC3E}">
        <p14:creationId xmlns:p14="http://schemas.microsoft.com/office/powerpoint/2010/main" val="3944877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Viewing your data</a:t>
            </a:r>
          </a:p>
        </p:txBody>
      </p:sp>
      <p:sp>
        <p:nvSpPr>
          <p:cNvPr id="3" name="Content Placeholder 2"/>
          <p:cNvSpPr>
            <a:spLocks noGrp="1"/>
          </p:cNvSpPr>
          <p:nvPr>
            <p:ph idx="1"/>
          </p:nvPr>
        </p:nvSpPr>
        <p:spPr/>
        <p:txBody>
          <a:bodyPr>
            <a:normAutofit/>
          </a:bodyPr>
          <a:lstStyle/>
          <a:p>
            <a:r>
              <a:rPr lang="en-US" sz="2000" dirty="0"/>
              <a:t>The first thing to do when opening a new dataset is print out a few rows to keep as a visual reference. We accomplish this with </a:t>
            </a:r>
            <a:r>
              <a:rPr lang="en-US" sz="2000" b="1" dirty="0">
                <a:solidFill>
                  <a:srgbClr val="0070C0"/>
                </a:solidFill>
                <a:latin typeface="Courier New" panose="02070309020205020404" pitchFamily="49" charset="0"/>
                <a:cs typeface="Courier New" panose="02070309020205020404" pitchFamily="49" charset="0"/>
              </a:rPr>
              <a:t>.head()</a:t>
            </a:r>
            <a:r>
              <a:rPr lang="en-US" sz="2000" dirty="0"/>
              <a:t>:</a:t>
            </a:r>
          </a:p>
          <a:p>
            <a:endParaRPr lang="en-US" sz="2000" dirty="0"/>
          </a:p>
          <a:p>
            <a:r>
              <a:rPr lang="en-US" sz="2000" dirty="0"/>
              <a:t>.head() outputs the first five rows of your </a:t>
            </a:r>
            <a:r>
              <a:rPr lang="en-US" sz="2000" dirty="0" err="1"/>
              <a:t>DataFrame</a:t>
            </a:r>
            <a:r>
              <a:rPr lang="en-US" sz="2000" dirty="0"/>
              <a:t> by default, but we could also pass a number as well: </a:t>
            </a:r>
            <a:r>
              <a:rPr lang="en-US" sz="2000" b="1" dirty="0" err="1">
                <a:solidFill>
                  <a:srgbClr val="0070C0"/>
                </a:solidFill>
                <a:latin typeface="Courier New" panose="02070309020205020404" pitchFamily="49" charset="0"/>
                <a:cs typeface="Courier New" panose="02070309020205020404" pitchFamily="49" charset="0"/>
              </a:rPr>
              <a:t>movies_df.head</a:t>
            </a:r>
            <a:r>
              <a:rPr lang="en-US" sz="2000" b="1" dirty="0">
                <a:solidFill>
                  <a:srgbClr val="0070C0"/>
                </a:solidFill>
                <a:latin typeface="Courier New" panose="02070309020205020404" pitchFamily="49" charset="0"/>
                <a:cs typeface="Courier New" panose="02070309020205020404" pitchFamily="49" charset="0"/>
              </a:rPr>
              <a:t>(10)</a:t>
            </a:r>
            <a:r>
              <a:rPr lang="en-US" sz="2000" dirty="0"/>
              <a:t> would output the top ten rows, for example.</a:t>
            </a:r>
          </a:p>
          <a:p>
            <a:endParaRPr lang="en-US" sz="2000" dirty="0"/>
          </a:p>
          <a:p>
            <a:endParaRPr lang="en-US" sz="2000" dirty="0"/>
          </a:p>
          <a:p>
            <a:r>
              <a:rPr lang="en-US" sz="2000" dirty="0"/>
              <a:t>To see the last five rows use </a:t>
            </a:r>
            <a:r>
              <a:rPr lang="en-US" sz="2000" b="1" dirty="0">
                <a:solidFill>
                  <a:srgbClr val="0070C0"/>
                </a:solidFill>
                <a:latin typeface="Courier New" panose="02070309020205020404" pitchFamily="49" charset="0"/>
                <a:cs typeface="Courier New" panose="02070309020205020404" pitchFamily="49" charset="0"/>
              </a:rPr>
              <a:t>.tail()</a:t>
            </a:r>
            <a:r>
              <a:rPr lang="en-US" sz="2000" dirty="0"/>
              <a:t> that also accepts a number, and in this case we printing the bottom two rows.:</a:t>
            </a:r>
          </a:p>
          <a:p>
            <a:endParaRPr lang="en-US" sz="2000" dirty="0"/>
          </a:p>
        </p:txBody>
      </p:sp>
      <p:sp>
        <p:nvSpPr>
          <p:cNvPr id="4" name="Rectangle 3"/>
          <p:cNvSpPr/>
          <p:nvPr/>
        </p:nvSpPr>
        <p:spPr>
          <a:xfrm>
            <a:off x="6004764" y="2362985"/>
            <a:ext cx="2390398"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4D4D4C"/>
                </a:solidFill>
                <a:latin typeface="Courier New" panose="02070309020205020404" pitchFamily="49" charset="0"/>
                <a:cs typeface="Courier New" panose="02070309020205020404" pitchFamily="49" charset="0"/>
              </a:rPr>
              <a:t>movies_df.</a:t>
            </a:r>
            <a:r>
              <a:rPr lang="en-US" b="1" dirty="0" err="1">
                <a:solidFill>
                  <a:srgbClr val="4271AE"/>
                </a:solidFill>
                <a:latin typeface="Courier New" panose="02070309020205020404" pitchFamily="49" charset="0"/>
                <a:cs typeface="Courier New" panose="02070309020205020404" pitchFamily="49" charset="0"/>
              </a:rPr>
              <a:t>head</a:t>
            </a:r>
            <a:r>
              <a:rPr lang="en-US" b="1" dirty="0">
                <a:solidFill>
                  <a:srgbClr val="4D4D4C"/>
                </a:solidFill>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6" name="Rectangle 5"/>
          <p:cNvSpPr/>
          <p:nvPr/>
        </p:nvSpPr>
        <p:spPr>
          <a:xfrm>
            <a:off x="6004764" y="5040083"/>
            <a:ext cx="2528256"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4D4D4C"/>
                </a:solidFill>
                <a:latin typeface="Courier New" panose="02070309020205020404" pitchFamily="49" charset="0"/>
                <a:cs typeface="Courier New" panose="02070309020205020404" pitchFamily="49" charset="0"/>
              </a:rPr>
              <a:t>movies_df.</a:t>
            </a:r>
            <a:r>
              <a:rPr lang="en-US" b="1" dirty="0" err="1">
                <a:solidFill>
                  <a:srgbClr val="4271AE"/>
                </a:solidFill>
                <a:latin typeface="Courier New" panose="02070309020205020404" pitchFamily="49" charset="0"/>
                <a:cs typeface="Courier New" panose="02070309020205020404" pitchFamily="49" charset="0"/>
              </a:rPr>
              <a:t>tail</a:t>
            </a:r>
            <a:r>
              <a:rPr lang="en-US" b="1" dirty="0">
                <a:solidFill>
                  <a:srgbClr val="4D4D4C"/>
                </a:solidFill>
                <a:latin typeface="Courier New" panose="02070309020205020404" pitchFamily="49" charset="0"/>
                <a:cs typeface="Courier New" panose="02070309020205020404" pitchFamily="49" charset="0"/>
              </a:rPr>
              <a:t>(</a:t>
            </a:r>
            <a:r>
              <a:rPr lang="en-US" b="1" dirty="0">
                <a:solidFill>
                  <a:srgbClr val="F5871F"/>
                </a:solidFill>
                <a:latin typeface="Courier New" panose="02070309020205020404" pitchFamily="49" charset="0"/>
                <a:cs typeface="Courier New" panose="02070309020205020404" pitchFamily="49" charset="0"/>
              </a:rPr>
              <a:t>2</a:t>
            </a:r>
            <a:r>
              <a:rPr lang="en-US" b="1" dirty="0">
                <a:solidFill>
                  <a:srgbClr val="4D4D4C"/>
                </a:solidFill>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49293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Getting info about your data</a:t>
            </a:r>
          </a:p>
        </p:txBody>
      </p:sp>
      <p:sp>
        <p:nvSpPr>
          <p:cNvPr id="3" name="Content Placeholder 2"/>
          <p:cNvSpPr>
            <a:spLocks noGrp="1"/>
          </p:cNvSpPr>
          <p:nvPr>
            <p:ph idx="1"/>
          </p:nvPr>
        </p:nvSpPr>
        <p:spPr>
          <a:xfrm>
            <a:off x="838200" y="1690689"/>
            <a:ext cx="10515600" cy="1294882"/>
          </a:xfrm>
        </p:spPr>
        <p:txBody>
          <a:bodyPr>
            <a:noAutofit/>
          </a:bodyPr>
          <a:lstStyle/>
          <a:p>
            <a:r>
              <a:rPr lang="en-US" sz="2000" b="1" dirty="0">
                <a:solidFill>
                  <a:srgbClr val="0070C0"/>
                </a:solidFill>
                <a:latin typeface="Courier New" panose="02070309020205020404" pitchFamily="49" charset="0"/>
                <a:cs typeface="Courier New" panose="02070309020205020404" pitchFamily="49" charset="0"/>
              </a:rPr>
              <a:t>.info() </a:t>
            </a:r>
            <a:r>
              <a:rPr lang="en-US" sz="2000" dirty="0"/>
              <a:t>should be one of the very first commands you run after loading your data</a:t>
            </a:r>
          </a:p>
          <a:p>
            <a:r>
              <a:rPr lang="en-US" sz="2000" b="1" dirty="0">
                <a:solidFill>
                  <a:srgbClr val="0070C0"/>
                </a:solidFill>
                <a:latin typeface="Courier New" panose="02070309020205020404" pitchFamily="49" charset="0"/>
                <a:cs typeface="Courier New" panose="02070309020205020404" pitchFamily="49" charset="0"/>
              </a:rPr>
              <a:t>.info() </a:t>
            </a:r>
            <a:r>
              <a:rPr lang="en-US" sz="2000" dirty="0"/>
              <a:t>provides the essential details about your dataset, such as the number of rows and columns, the number of non-null values, what type of data is in each column, and how much memory your </a:t>
            </a:r>
            <a:r>
              <a:rPr lang="en-US" sz="2000" dirty="0" err="1"/>
              <a:t>DataFrame</a:t>
            </a:r>
            <a:r>
              <a:rPr lang="en-US" sz="2000" dirty="0"/>
              <a:t> is using.</a:t>
            </a:r>
          </a:p>
        </p:txBody>
      </p:sp>
      <p:sp>
        <p:nvSpPr>
          <p:cNvPr id="4" name="Rectangle 3"/>
          <p:cNvSpPr/>
          <p:nvPr/>
        </p:nvSpPr>
        <p:spPr>
          <a:xfrm>
            <a:off x="3332096" y="2922092"/>
            <a:ext cx="2390398"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a:solidFill>
                  <a:srgbClr val="4D4D4C"/>
                </a:solidFill>
                <a:latin typeface="Courier New" panose="02070309020205020404" pitchFamily="49" charset="0"/>
                <a:cs typeface="Courier New" panose="02070309020205020404" pitchFamily="49" charset="0"/>
              </a:rPr>
              <a:t>movies_df.</a:t>
            </a:r>
            <a:r>
              <a:rPr lang="en-US" b="1" dirty="0">
                <a:solidFill>
                  <a:srgbClr val="4271AE"/>
                </a:solidFill>
                <a:latin typeface="Courier New" panose="02070309020205020404" pitchFamily="49" charset="0"/>
                <a:cs typeface="Courier New" panose="02070309020205020404" pitchFamily="49" charset="0"/>
              </a:rPr>
              <a:t>info</a:t>
            </a:r>
            <a:r>
              <a:rPr lang="en-US" b="1" dirty="0">
                <a:solidFill>
                  <a:srgbClr val="4D4D4C"/>
                </a:solidFill>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6204508" y="2922092"/>
            <a:ext cx="5677684" cy="2596647"/>
          </a:xfrm>
          <a:prstGeom prst="rect">
            <a:avLst/>
          </a:prstGeom>
        </p:spPr>
      </p:pic>
      <p:sp>
        <p:nvSpPr>
          <p:cNvPr id="6" name="Rectangle 5"/>
          <p:cNvSpPr/>
          <p:nvPr/>
        </p:nvSpPr>
        <p:spPr>
          <a:xfrm>
            <a:off x="3332096" y="5713610"/>
            <a:ext cx="2252540"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4D4D4C"/>
                </a:solidFill>
                <a:latin typeface="Courier New" panose="02070309020205020404" pitchFamily="49" charset="0"/>
                <a:cs typeface="Courier New" panose="02070309020205020404" pitchFamily="49" charset="0"/>
              </a:rPr>
              <a:t>movies_df.</a:t>
            </a:r>
            <a:r>
              <a:rPr lang="en-US" b="1" dirty="0" err="1">
                <a:solidFill>
                  <a:srgbClr val="4271AE"/>
                </a:solidFill>
                <a:latin typeface="Courier New" panose="02070309020205020404" pitchFamily="49" charset="0"/>
                <a:cs typeface="Courier New" panose="02070309020205020404" pitchFamily="49" charset="0"/>
              </a:rPr>
              <a:t>shape</a:t>
            </a:r>
            <a:endParaRPr lang="en-US" b="1" dirty="0">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3"/>
          <a:stretch>
            <a:fillRect/>
          </a:stretch>
        </p:blipFill>
        <p:spPr>
          <a:xfrm>
            <a:off x="6204508" y="5713610"/>
            <a:ext cx="1514475" cy="923925"/>
          </a:xfrm>
          <a:prstGeom prst="rect">
            <a:avLst/>
          </a:prstGeom>
        </p:spPr>
      </p:pic>
    </p:spTree>
    <p:extLst>
      <p:ext uri="{BB962C8B-B14F-4D97-AF65-F5344CB8AC3E}">
        <p14:creationId xmlns:p14="http://schemas.microsoft.com/office/powerpoint/2010/main" val="2406255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7813"/>
            <a:ext cx="10515600" cy="1325563"/>
          </a:xfrm>
        </p:spPr>
        <p:txBody>
          <a:bodyPr/>
          <a:lstStyle/>
          <a:p>
            <a:r>
              <a:rPr lang="en-US" b="1" dirty="0"/>
              <a:t>Handling duplicates</a:t>
            </a:r>
          </a:p>
        </p:txBody>
      </p:sp>
      <p:sp>
        <p:nvSpPr>
          <p:cNvPr id="3" name="Content Placeholder 2"/>
          <p:cNvSpPr>
            <a:spLocks noGrp="1"/>
          </p:cNvSpPr>
          <p:nvPr>
            <p:ph idx="1"/>
          </p:nvPr>
        </p:nvSpPr>
        <p:spPr>
          <a:xfrm>
            <a:off x="838200" y="1690687"/>
            <a:ext cx="10515600" cy="2192691"/>
          </a:xfrm>
        </p:spPr>
        <p:txBody>
          <a:bodyPr>
            <a:noAutofit/>
          </a:bodyPr>
          <a:lstStyle/>
          <a:p>
            <a:r>
              <a:rPr lang="en-US" sz="2000" dirty="0"/>
              <a:t>This dataset does not have duplicate rows, but it is always important to verify you aren't aggregating duplicate rows.</a:t>
            </a:r>
          </a:p>
          <a:p>
            <a:r>
              <a:rPr lang="en-US" sz="2000" dirty="0"/>
              <a:t>To demonstrate, let's simply just double up our movies </a:t>
            </a:r>
            <a:r>
              <a:rPr lang="en-US" sz="2000" dirty="0" err="1"/>
              <a:t>DataFrame</a:t>
            </a:r>
            <a:r>
              <a:rPr lang="en-US" sz="2000" dirty="0"/>
              <a:t> by appending it to itself:</a:t>
            </a:r>
          </a:p>
          <a:p>
            <a:r>
              <a:rPr lang="en-US" sz="2000" dirty="0"/>
              <a:t>Using </a:t>
            </a:r>
            <a:r>
              <a:rPr lang="en-US" sz="2000" b="1" dirty="0">
                <a:solidFill>
                  <a:srgbClr val="0070C0"/>
                </a:solidFill>
                <a:latin typeface="Courier New" panose="02070309020205020404" pitchFamily="49" charset="0"/>
                <a:cs typeface="Courier New" panose="02070309020205020404" pitchFamily="49" charset="0"/>
              </a:rPr>
              <a:t>append() </a:t>
            </a:r>
            <a:r>
              <a:rPr lang="en-US" sz="2000" dirty="0"/>
              <a:t>will return a copy without affecting the original </a:t>
            </a:r>
            <a:r>
              <a:rPr lang="en-US" sz="2000" dirty="0" err="1"/>
              <a:t>DataFrame</a:t>
            </a:r>
            <a:r>
              <a:rPr lang="en-US" sz="2000" dirty="0"/>
              <a:t>. We are capturing this copy in </a:t>
            </a:r>
            <a:r>
              <a:rPr lang="en-US" sz="2000" b="1" dirty="0"/>
              <a:t>temp</a:t>
            </a:r>
            <a:r>
              <a:rPr lang="en-US" sz="2000" dirty="0"/>
              <a:t> so we aren't working with the real data.</a:t>
            </a:r>
          </a:p>
          <a:p>
            <a:r>
              <a:rPr lang="en-US" sz="2000" dirty="0"/>
              <a:t>Notice call </a:t>
            </a:r>
            <a:r>
              <a:rPr lang="en-US" sz="2000" b="1" dirty="0">
                <a:solidFill>
                  <a:srgbClr val="0070C0"/>
                </a:solidFill>
                <a:latin typeface="Courier New" panose="02070309020205020404" pitchFamily="49" charset="0"/>
                <a:cs typeface="Courier New" panose="02070309020205020404" pitchFamily="49" charset="0"/>
              </a:rPr>
              <a:t>.shape</a:t>
            </a:r>
            <a:r>
              <a:rPr lang="en-US" sz="2000" dirty="0"/>
              <a:t> quickly proves our </a:t>
            </a:r>
            <a:r>
              <a:rPr lang="en-US" sz="2000" dirty="0" err="1"/>
              <a:t>DataFrame</a:t>
            </a:r>
            <a:r>
              <a:rPr lang="en-US" sz="2000" dirty="0"/>
              <a:t> rows have doubled.</a:t>
            </a:r>
          </a:p>
        </p:txBody>
      </p:sp>
      <p:sp>
        <p:nvSpPr>
          <p:cNvPr id="4" name="Rectangle 3"/>
          <p:cNvSpPr/>
          <p:nvPr/>
        </p:nvSpPr>
        <p:spPr>
          <a:xfrm>
            <a:off x="3048000" y="4131204"/>
            <a:ext cx="6096000" cy="646331"/>
          </a:xfrm>
          <a:prstGeom prst="rect">
            <a:avLst/>
          </a:prstGeom>
          <a:solidFill>
            <a:schemeClr val="accent4">
              <a:lumMod val="20000"/>
              <a:lumOff val="80000"/>
            </a:schemeClr>
          </a:solidFill>
          <a:ln>
            <a:solidFill>
              <a:schemeClr val="accent1"/>
            </a:solidFill>
          </a:ln>
        </p:spPr>
        <p:txBody>
          <a:bodyPr>
            <a:spAutoFit/>
          </a:bodyPr>
          <a:lstStyle/>
          <a:p>
            <a:r>
              <a:rPr lang="en-US" b="1" dirty="0" err="1">
                <a:solidFill>
                  <a:srgbClr val="4D4D4C"/>
                </a:solidFill>
                <a:latin typeface="Courier New" panose="02070309020205020404" pitchFamily="49" charset="0"/>
                <a:cs typeface="Courier New" panose="02070309020205020404" pitchFamily="49" charset="0"/>
              </a:rPr>
              <a:t>temp_df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4D4D4C"/>
                </a:solidFill>
                <a:latin typeface="Courier New" panose="02070309020205020404" pitchFamily="49" charset="0"/>
                <a:cs typeface="Courier New" panose="02070309020205020404" pitchFamily="49" charset="0"/>
              </a:rPr>
              <a:t>movies_df.</a:t>
            </a:r>
            <a:r>
              <a:rPr lang="en-US" b="1" dirty="0" err="1">
                <a:solidFill>
                  <a:srgbClr val="4271AE"/>
                </a:solidFill>
                <a:latin typeface="Courier New" panose="02070309020205020404" pitchFamily="49" charset="0"/>
                <a:cs typeface="Courier New" panose="02070309020205020404" pitchFamily="49" charset="0"/>
              </a:rPr>
              <a:t>append</a:t>
            </a:r>
            <a:r>
              <a:rPr lang="en-US" b="1" dirty="0">
                <a:solidFill>
                  <a:srgbClr val="4D4D4C"/>
                </a:solidFill>
                <a:latin typeface="Courier New" panose="02070309020205020404" pitchFamily="49" charset="0"/>
                <a:cs typeface="Courier New" panose="02070309020205020404" pitchFamily="49" charset="0"/>
              </a:rPr>
              <a:t>(</a:t>
            </a:r>
            <a:r>
              <a:rPr lang="en-US" b="1" dirty="0" err="1">
                <a:solidFill>
                  <a:srgbClr val="4D4D4C"/>
                </a:solidFill>
                <a:latin typeface="Courier New" panose="02070309020205020404" pitchFamily="49" charset="0"/>
                <a:cs typeface="Courier New" panose="02070309020205020404" pitchFamily="49" charset="0"/>
              </a:rPr>
              <a:t>movies_df</a:t>
            </a:r>
            <a:r>
              <a:rPr lang="en-US" b="1" dirty="0">
                <a:solidFill>
                  <a:srgbClr val="4D4D4C"/>
                </a:solidFill>
                <a:latin typeface="Courier New" panose="02070309020205020404" pitchFamily="49" charset="0"/>
                <a:cs typeface="Courier New" panose="02070309020205020404" pitchFamily="49" charset="0"/>
              </a:rPr>
              <a:t>) </a:t>
            </a:r>
          </a:p>
          <a:p>
            <a:r>
              <a:rPr lang="en-US" b="1" dirty="0" err="1">
                <a:solidFill>
                  <a:srgbClr val="4D4D4C"/>
                </a:solidFill>
                <a:latin typeface="Courier New" panose="02070309020205020404" pitchFamily="49" charset="0"/>
                <a:cs typeface="Courier New" panose="02070309020205020404" pitchFamily="49" charset="0"/>
              </a:rPr>
              <a:t>temp_df.</a:t>
            </a:r>
            <a:r>
              <a:rPr lang="en-US" b="1" dirty="0" err="1">
                <a:solidFill>
                  <a:srgbClr val="4271AE"/>
                </a:solidFill>
                <a:latin typeface="Courier New" panose="02070309020205020404" pitchFamily="49" charset="0"/>
                <a:cs typeface="Courier New" panose="02070309020205020404" pitchFamily="49" charset="0"/>
              </a:rPr>
              <a:t>shape</a:t>
            </a:r>
            <a:endParaRPr lang="en-US" b="1" i="0" dirty="0">
              <a:solidFill>
                <a:srgbClr val="4D4D4C"/>
              </a:solidFill>
              <a:effectLst/>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9421106" y="4131204"/>
            <a:ext cx="2037116" cy="939269"/>
          </a:xfrm>
          <a:prstGeom prst="rect">
            <a:avLst/>
          </a:prstGeom>
        </p:spPr>
      </p:pic>
      <p:sp>
        <p:nvSpPr>
          <p:cNvPr id="7" name="Rectangle 6"/>
          <p:cNvSpPr/>
          <p:nvPr/>
        </p:nvSpPr>
        <p:spPr>
          <a:xfrm>
            <a:off x="838200" y="5152157"/>
            <a:ext cx="3890809" cy="369332"/>
          </a:xfrm>
          <a:prstGeom prst="rect">
            <a:avLst/>
          </a:prstGeom>
        </p:spPr>
        <p:txBody>
          <a:bodyPr wrap="none">
            <a:spAutoFit/>
          </a:bodyPr>
          <a:lstStyle/>
          <a:p>
            <a:r>
              <a:rPr lang="en-US" dirty="0">
                <a:solidFill>
                  <a:srgbClr val="333333"/>
                </a:solidFill>
                <a:latin typeface="proxima-nova"/>
              </a:rPr>
              <a:t>Now we can try dropping duplicates:</a:t>
            </a:r>
            <a:endParaRPr lang="en-US" dirty="0"/>
          </a:p>
        </p:txBody>
      </p:sp>
      <p:sp>
        <p:nvSpPr>
          <p:cNvPr id="8" name="Rectangle 7"/>
          <p:cNvSpPr/>
          <p:nvPr/>
        </p:nvSpPr>
        <p:spPr>
          <a:xfrm>
            <a:off x="3048000" y="5572945"/>
            <a:ext cx="6096000" cy="646331"/>
          </a:xfrm>
          <a:prstGeom prst="rect">
            <a:avLst/>
          </a:prstGeom>
          <a:solidFill>
            <a:schemeClr val="accent4">
              <a:lumMod val="20000"/>
              <a:lumOff val="80000"/>
            </a:schemeClr>
          </a:solidFill>
          <a:ln>
            <a:solidFill>
              <a:schemeClr val="accent1"/>
            </a:solidFill>
          </a:ln>
        </p:spPr>
        <p:txBody>
          <a:bodyPr>
            <a:spAutoFit/>
          </a:bodyPr>
          <a:lstStyle/>
          <a:p>
            <a:r>
              <a:rPr lang="en-US" b="1" dirty="0" err="1">
                <a:solidFill>
                  <a:srgbClr val="4D4D4C"/>
                </a:solidFill>
                <a:latin typeface="Courier New" panose="02070309020205020404" pitchFamily="49" charset="0"/>
                <a:cs typeface="Courier New" panose="02070309020205020404" pitchFamily="49" charset="0"/>
              </a:rPr>
              <a:t>temp_df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4D4D4C"/>
                </a:solidFill>
                <a:latin typeface="Courier New" panose="02070309020205020404" pitchFamily="49" charset="0"/>
                <a:cs typeface="Courier New" panose="02070309020205020404" pitchFamily="49" charset="0"/>
              </a:rPr>
              <a:t>temp_df.</a:t>
            </a:r>
            <a:r>
              <a:rPr lang="en-US" b="1" dirty="0" err="1">
                <a:solidFill>
                  <a:srgbClr val="4271AE"/>
                </a:solidFill>
                <a:latin typeface="Courier New" panose="02070309020205020404" pitchFamily="49" charset="0"/>
                <a:cs typeface="Courier New" panose="02070309020205020404" pitchFamily="49" charset="0"/>
              </a:rPr>
              <a:t>drop_duplicates</a:t>
            </a:r>
            <a:r>
              <a:rPr lang="en-US" b="1" dirty="0">
                <a:solidFill>
                  <a:srgbClr val="4D4D4C"/>
                </a:solidFill>
                <a:latin typeface="Courier New" panose="02070309020205020404" pitchFamily="49" charset="0"/>
                <a:cs typeface="Courier New" panose="02070309020205020404" pitchFamily="49" charset="0"/>
              </a:rPr>
              <a:t>() </a:t>
            </a:r>
          </a:p>
          <a:p>
            <a:r>
              <a:rPr lang="en-US" b="1" dirty="0" err="1">
                <a:solidFill>
                  <a:srgbClr val="4D4D4C"/>
                </a:solidFill>
                <a:latin typeface="Courier New" panose="02070309020205020404" pitchFamily="49" charset="0"/>
                <a:cs typeface="Courier New" panose="02070309020205020404" pitchFamily="49" charset="0"/>
              </a:rPr>
              <a:t>temp_df.</a:t>
            </a:r>
            <a:r>
              <a:rPr lang="en-US" b="1" dirty="0" err="1">
                <a:solidFill>
                  <a:srgbClr val="4271AE"/>
                </a:solidFill>
                <a:latin typeface="Courier New" panose="02070309020205020404" pitchFamily="49" charset="0"/>
                <a:cs typeface="Courier New" panose="02070309020205020404" pitchFamily="49" charset="0"/>
              </a:rPr>
              <a:t>shape</a:t>
            </a:r>
            <a:endParaRPr lang="en-US" b="1" i="0" dirty="0">
              <a:solidFill>
                <a:srgbClr val="4D4D4C"/>
              </a:solidFill>
              <a:effectLst/>
              <a:latin typeface="Courier New" panose="02070309020205020404" pitchFamily="49" charset="0"/>
              <a:cs typeface="Courier New" panose="02070309020205020404" pitchFamily="49" charset="0"/>
            </a:endParaRPr>
          </a:p>
        </p:txBody>
      </p:sp>
      <p:pic>
        <p:nvPicPr>
          <p:cNvPr id="9" name="Picture 8"/>
          <p:cNvPicPr>
            <a:picLocks noChangeAspect="1"/>
          </p:cNvPicPr>
          <p:nvPr/>
        </p:nvPicPr>
        <p:blipFill>
          <a:blip r:embed="rId3"/>
          <a:stretch>
            <a:fillRect/>
          </a:stretch>
        </p:blipFill>
        <p:spPr>
          <a:xfrm>
            <a:off x="9421106" y="5572945"/>
            <a:ext cx="2037116" cy="857733"/>
          </a:xfrm>
          <a:prstGeom prst="rect">
            <a:avLst/>
          </a:prstGeom>
        </p:spPr>
      </p:pic>
    </p:spTree>
    <p:extLst>
      <p:ext uri="{BB962C8B-B14F-4D97-AF65-F5344CB8AC3E}">
        <p14:creationId xmlns:p14="http://schemas.microsoft.com/office/powerpoint/2010/main" val="3853460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3939"/>
            <a:ext cx="10515600" cy="1325563"/>
          </a:xfrm>
        </p:spPr>
        <p:txBody>
          <a:bodyPr/>
          <a:lstStyle/>
          <a:p>
            <a:r>
              <a:rPr lang="en-US" b="1" dirty="0"/>
              <a:t>Handling duplicates</a:t>
            </a:r>
          </a:p>
        </p:txBody>
      </p:sp>
      <p:sp>
        <p:nvSpPr>
          <p:cNvPr id="3" name="Content Placeholder 2"/>
          <p:cNvSpPr>
            <a:spLocks noGrp="1"/>
          </p:cNvSpPr>
          <p:nvPr>
            <p:ph idx="1"/>
          </p:nvPr>
        </p:nvSpPr>
        <p:spPr>
          <a:xfrm>
            <a:off x="838200" y="1690687"/>
            <a:ext cx="10515600" cy="4434691"/>
          </a:xfrm>
        </p:spPr>
        <p:txBody>
          <a:bodyPr>
            <a:noAutofit/>
          </a:bodyPr>
          <a:lstStyle/>
          <a:p>
            <a:r>
              <a:rPr lang="en-US" sz="2000" dirty="0"/>
              <a:t>Just like </a:t>
            </a:r>
            <a:r>
              <a:rPr lang="en-US" sz="2000" b="1" dirty="0">
                <a:latin typeface="Courier New" panose="02070309020205020404" pitchFamily="49" charset="0"/>
                <a:cs typeface="Courier New" panose="02070309020205020404" pitchFamily="49" charset="0"/>
              </a:rPr>
              <a:t>append()</a:t>
            </a:r>
            <a:r>
              <a:rPr lang="en-US" sz="2000" dirty="0"/>
              <a:t>, the </a:t>
            </a:r>
            <a:r>
              <a:rPr lang="en-US" sz="2000" b="1" dirty="0" err="1">
                <a:latin typeface="Courier New" panose="02070309020205020404" pitchFamily="49" charset="0"/>
                <a:cs typeface="Courier New" panose="02070309020205020404" pitchFamily="49" charset="0"/>
              </a:rPr>
              <a:t>drop_duplicates</a:t>
            </a:r>
            <a:r>
              <a:rPr lang="en-US" sz="2000" b="1" dirty="0">
                <a:latin typeface="Courier New" panose="02070309020205020404" pitchFamily="49" charset="0"/>
                <a:cs typeface="Courier New" panose="02070309020205020404" pitchFamily="49" charset="0"/>
              </a:rPr>
              <a:t>() </a:t>
            </a:r>
            <a:r>
              <a:rPr lang="en-US" sz="2000" dirty="0"/>
              <a:t>method will also return a copy of your </a:t>
            </a:r>
            <a:r>
              <a:rPr lang="en-US" sz="2000" dirty="0" err="1"/>
              <a:t>DataFrame</a:t>
            </a:r>
            <a:r>
              <a:rPr lang="en-US" sz="2000" dirty="0"/>
              <a:t>, but this time with duplicates removed. Calling </a:t>
            </a:r>
            <a:r>
              <a:rPr lang="en-US" sz="2000" b="1" dirty="0">
                <a:latin typeface="Courier New" panose="02070309020205020404" pitchFamily="49" charset="0"/>
                <a:cs typeface="Courier New" panose="02070309020205020404" pitchFamily="49" charset="0"/>
              </a:rPr>
              <a:t>.shape </a:t>
            </a:r>
            <a:r>
              <a:rPr lang="en-US" sz="2000" dirty="0"/>
              <a:t>confirms we're back to the 1000 rows of our original dataset.</a:t>
            </a:r>
          </a:p>
          <a:p>
            <a:r>
              <a:rPr lang="en-US" sz="2000" dirty="0"/>
              <a:t>It's a little verbose to keep assigning </a:t>
            </a:r>
            <a:r>
              <a:rPr lang="en-US" sz="2000" dirty="0" err="1"/>
              <a:t>DataFrames</a:t>
            </a:r>
            <a:r>
              <a:rPr lang="en-US" sz="2000" dirty="0"/>
              <a:t> to the same variable like in this example. For this reason, pandas has the </a:t>
            </a:r>
            <a:r>
              <a:rPr lang="en-US" sz="2000" dirty="0" err="1"/>
              <a:t>inplace</a:t>
            </a:r>
            <a:r>
              <a:rPr lang="en-US" sz="2000" dirty="0"/>
              <a:t> keyword argument on many of its methods. Using </a:t>
            </a:r>
            <a:r>
              <a:rPr lang="en-US" sz="2000" b="1" dirty="0" err="1">
                <a:latin typeface="Courier New" panose="02070309020205020404" pitchFamily="49" charset="0"/>
                <a:cs typeface="Courier New" panose="02070309020205020404" pitchFamily="49" charset="0"/>
              </a:rPr>
              <a:t>inplace</a:t>
            </a:r>
            <a:r>
              <a:rPr lang="en-US" sz="2000" b="1" dirty="0">
                <a:latin typeface="Courier New" panose="02070309020205020404" pitchFamily="49" charset="0"/>
                <a:cs typeface="Courier New" panose="02070309020205020404" pitchFamily="49" charset="0"/>
              </a:rPr>
              <a:t>=True</a:t>
            </a:r>
            <a:r>
              <a:rPr lang="en-US" sz="2000" dirty="0"/>
              <a:t> will modify the </a:t>
            </a:r>
            <a:r>
              <a:rPr lang="en-US" sz="2000" dirty="0" err="1"/>
              <a:t>DataFrame</a:t>
            </a:r>
            <a:r>
              <a:rPr lang="en-US" sz="2000" dirty="0"/>
              <a:t> object in place:</a:t>
            </a:r>
          </a:p>
          <a:p>
            <a:endParaRPr lang="en-US" sz="2000" dirty="0"/>
          </a:p>
          <a:p>
            <a:endParaRPr lang="en-US" sz="2000" dirty="0"/>
          </a:p>
          <a:p>
            <a:r>
              <a:rPr lang="en-US" sz="2000" dirty="0"/>
              <a:t>Another important argument for </a:t>
            </a:r>
            <a:r>
              <a:rPr lang="en-US" sz="2000" b="1" dirty="0" err="1">
                <a:latin typeface="Courier New" panose="02070309020205020404" pitchFamily="49" charset="0"/>
                <a:cs typeface="Courier New" panose="02070309020205020404" pitchFamily="49" charset="0"/>
              </a:rPr>
              <a:t>drop_duplicates</a:t>
            </a:r>
            <a:r>
              <a:rPr lang="en-US" sz="2000" b="1" dirty="0">
                <a:latin typeface="Courier New" panose="02070309020205020404" pitchFamily="49" charset="0"/>
                <a:cs typeface="Courier New" panose="02070309020205020404" pitchFamily="49" charset="0"/>
              </a:rPr>
              <a:t>()</a:t>
            </a:r>
            <a:r>
              <a:rPr lang="en-US" sz="2000" dirty="0"/>
              <a:t> is keep, which has three possible options:</a:t>
            </a:r>
          </a:p>
          <a:p>
            <a:pPr lvl="1"/>
            <a:r>
              <a:rPr lang="en-US" sz="1600" b="1" dirty="0">
                <a:solidFill>
                  <a:srgbClr val="FF0000"/>
                </a:solidFill>
              </a:rPr>
              <a:t>first</a:t>
            </a:r>
            <a:r>
              <a:rPr lang="en-US" sz="1600" dirty="0"/>
              <a:t>: (default) Drop duplicates </a:t>
            </a:r>
            <a:r>
              <a:rPr lang="en-US" sz="1600" u="sng" dirty="0"/>
              <a:t>except</a:t>
            </a:r>
            <a:r>
              <a:rPr lang="en-US" sz="1600" dirty="0"/>
              <a:t> for the first occurrence.</a:t>
            </a:r>
          </a:p>
          <a:p>
            <a:pPr lvl="1"/>
            <a:r>
              <a:rPr lang="en-US" sz="1600" b="1" dirty="0">
                <a:solidFill>
                  <a:srgbClr val="FF0000"/>
                </a:solidFill>
              </a:rPr>
              <a:t>last</a:t>
            </a:r>
            <a:r>
              <a:rPr lang="en-US" sz="1600" dirty="0"/>
              <a:t>: Drop duplicates </a:t>
            </a:r>
            <a:r>
              <a:rPr lang="en-US" sz="1600" u="sng" dirty="0"/>
              <a:t>except</a:t>
            </a:r>
            <a:r>
              <a:rPr lang="en-US" sz="1600" dirty="0"/>
              <a:t> for the last occurrence.</a:t>
            </a:r>
          </a:p>
          <a:p>
            <a:pPr lvl="1"/>
            <a:r>
              <a:rPr lang="en-US" sz="1600" b="1" dirty="0">
                <a:solidFill>
                  <a:srgbClr val="FF0000"/>
                </a:solidFill>
              </a:rPr>
              <a:t>False</a:t>
            </a:r>
            <a:r>
              <a:rPr lang="en-US" sz="1600" dirty="0"/>
              <a:t>: Drop </a:t>
            </a:r>
            <a:r>
              <a:rPr lang="en-US" sz="1600" u="sng" dirty="0"/>
              <a:t>all</a:t>
            </a:r>
            <a:r>
              <a:rPr lang="en-US" sz="1600" dirty="0"/>
              <a:t> duplicates.</a:t>
            </a:r>
          </a:p>
        </p:txBody>
      </p:sp>
      <p:sp>
        <p:nvSpPr>
          <p:cNvPr id="6" name="Rectangle 5"/>
          <p:cNvSpPr/>
          <p:nvPr/>
        </p:nvSpPr>
        <p:spPr>
          <a:xfrm>
            <a:off x="5385922" y="3828228"/>
            <a:ext cx="5285421" cy="369332"/>
          </a:xfrm>
          <a:prstGeom prst="rect">
            <a:avLst/>
          </a:prstGeom>
          <a:solidFill>
            <a:schemeClr val="accent4">
              <a:lumMod val="20000"/>
              <a:lumOff val="80000"/>
            </a:schemeClr>
          </a:solidFill>
          <a:ln>
            <a:solidFill>
              <a:schemeClr val="accent1"/>
            </a:solidFill>
          </a:ln>
        </p:spPr>
        <p:txBody>
          <a:bodyPr wrap="none">
            <a:spAutoFit/>
          </a:bodyPr>
          <a:lstStyle/>
          <a:p>
            <a:r>
              <a:rPr lang="en-US" dirty="0" err="1">
                <a:solidFill>
                  <a:srgbClr val="4D4D4C"/>
                </a:solidFill>
                <a:latin typeface="Courier New" panose="02070309020205020404" pitchFamily="49" charset="0"/>
                <a:cs typeface="Courier New" panose="02070309020205020404" pitchFamily="49" charset="0"/>
              </a:rPr>
              <a:t>temp_df.</a:t>
            </a:r>
            <a:r>
              <a:rPr lang="en-US" dirty="0" err="1">
                <a:solidFill>
                  <a:srgbClr val="4271AE"/>
                </a:solidFill>
                <a:latin typeface="Courier New" panose="02070309020205020404" pitchFamily="49" charset="0"/>
                <a:cs typeface="Courier New" panose="02070309020205020404" pitchFamily="49" charset="0"/>
              </a:rPr>
              <a:t>drop_duplicates</a:t>
            </a:r>
            <a:r>
              <a:rPr lang="en-US" dirty="0">
                <a:solidFill>
                  <a:srgbClr val="4D4D4C"/>
                </a:solidFill>
                <a:latin typeface="Courier New" panose="02070309020205020404" pitchFamily="49" charset="0"/>
                <a:cs typeface="Courier New" panose="02070309020205020404" pitchFamily="49" charset="0"/>
              </a:rPr>
              <a:t>(</a:t>
            </a:r>
            <a:r>
              <a:rPr lang="en-US" dirty="0" err="1">
                <a:solidFill>
                  <a:srgbClr val="4D4D4C"/>
                </a:solidFill>
                <a:latin typeface="Courier New" panose="02070309020205020404" pitchFamily="49" charset="0"/>
                <a:cs typeface="Courier New" panose="02070309020205020404" pitchFamily="49" charset="0"/>
              </a:rPr>
              <a:t>inplace</a:t>
            </a:r>
            <a:r>
              <a:rPr lang="en-US" dirty="0">
                <a:solidFill>
                  <a:srgbClr val="3E999F"/>
                </a:solidFill>
                <a:latin typeface="Courier New" panose="02070309020205020404" pitchFamily="49" charset="0"/>
                <a:cs typeface="Courier New" panose="02070309020205020404" pitchFamily="49" charset="0"/>
              </a:rPr>
              <a:t>=</a:t>
            </a:r>
            <a:r>
              <a:rPr lang="en-US" dirty="0">
                <a:solidFill>
                  <a:srgbClr val="F5871F"/>
                </a:solidFill>
                <a:latin typeface="Courier New" panose="02070309020205020404" pitchFamily="49" charset="0"/>
                <a:cs typeface="Courier New" panose="02070309020205020404" pitchFamily="49" charset="0"/>
              </a:rPr>
              <a:t>True</a:t>
            </a:r>
            <a:r>
              <a:rPr lang="en-US" dirty="0">
                <a:solidFill>
                  <a:srgbClr val="4D4D4C"/>
                </a:solidFill>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
        <p:nvSpPr>
          <p:cNvPr id="10" name="Rectangle 9"/>
          <p:cNvSpPr/>
          <p:nvPr/>
        </p:nvSpPr>
        <p:spPr>
          <a:xfrm>
            <a:off x="624289" y="6246563"/>
            <a:ext cx="11428164" cy="276999"/>
          </a:xfrm>
          <a:prstGeom prst="rect">
            <a:avLst/>
          </a:prstGeom>
        </p:spPr>
        <p:txBody>
          <a:bodyPr wrap="square">
            <a:spAutoFit/>
          </a:bodyPr>
          <a:lstStyle/>
          <a:p>
            <a:r>
              <a:rPr lang="en-US" sz="1200" dirty="0">
                <a:hlinkClick r:id="rId2"/>
              </a:rPr>
              <a:t>https://www.learndatasci.com/tutorials/python-pandas-tutorial-complete-introduction-for-beginners/</a:t>
            </a:r>
            <a:r>
              <a:rPr lang="en-US" sz="1200" dirty="0"/>
              <a:t> </a:t>
            </a:r>
          </a:p>
        </p:txBody>
      </p:sp>
    </p:spTree>
    <p:extLst>
      <p:ext uri="{BB962C8B-B14F-4D97-AF65-F5344CB8AC3E}">
        <p14:creationId xmlns:p14="http://schemas.microsoft.com/office/powerpoint/2010/main" val="3441630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487"/>
            <a:ext cx="10515600" cy="1325563"/>
          </a:xfrm>
        </p:spPr>
        <p:txBody>
          <a:bodyPr/>
          <a:lstStyle/>
          <a:p>
            <a:r>
              <a:rPr lang="en-US" b="1" dirty="0"/>
              <a:t>Understanding your variables</a:t>
            </a:r>
          </a:p>
        </p:txBody>
      </p:sp>
      <p:sp>
        <p:nvSpPr>
          <p:cNvPr id="3" name="Content Placeholder 2"/>
          <p:cNvSpPr>
            <a:spLocks noGrp="1"/>
          </p:cNvSpPr>
          <p:nvPr>
            <p:ph idx="1"/>
          </p:nvPr>
        </p:nvSpPr>
        <p:spPr>
          <a:xfrm>
            <a:off x="838200" y="1575412"/>
            <a:ext cx="10515600" cy="5107965"/>
          </a:xfrm>
        </p:spPr>
        <p:txBody>
          <a:bodyPr>
            <a:normAutofit/>
          </a:bodyPr>
          <a:lstStyle/>
          <a:p>
            <a:r>
              <a:rPr lang="en-US" sz="2000" dirty="0"/>
              <a:t>Using .</a:t>
            </a:r>
            <a:r>
              <a:rPr lang="en-US" sz="2000" b="1" dirty="0">
                <a:latin typeface="Courier New" panose="02070309020205020404" pitchFamily="49" charset="0"/>
                <a:cs typeface="Courier New" panose="02070309020205020404" pitchFamily="49" charset="0"/>
              </a:rPr>
              <a:t>describe() </a:t>
            </a:r>
            <a:r>
              <a:rPr lang="en-US" sz="2000" dirty="0"/>
              <a:t>on an entire </a:t>
            </a:r>
            <a:r>
              <a:rPr lang="en-US" sz="2000" dirty="0" err="1"/>
              <a:t>DataFrame</a:t>
            </a:r>
            <a:r>
              <a:rPr lang="en-US" sz="2000" dirty="0"/>
              <a:t> we can get a summary of the distribution of continuous variables:</a:t>
            </a:r>
          </a:p>
          <a:p>
            <a:endParaRPr lang="en-US" sz="2000" dirty="0"/>
          </a:p>
          <a:p>
            <a:endParaRPr lang="en-US" sz="2000" dirty="0"/>
          </a:p>
          <a:p>
            <a:endParaRPr lang="en-US" sz="2000" dirty="0"/>
          </a:p>
          <a:p>
            <a:endParaRPr lang="en-US" sz="2000" dirty="0"/>
          </a:p>
          <a:p>
            <a:endParaRPr lang="en-US" sz="2000" dirty="0"/>
          </a:p>
          <a:p>
            <a:r>
              <a:rPr lang="en-US" sz="2000" b="1" dirty="0">
                <a:latin typeface="Courier New" panose="02070309020205020404" pitchFamily="49" charset="0"/>
                <a:cs typeface="Courier New" panose="02070309020205020404" pitchFamily="49" charset="0"/>
              </a:rPr>
              <a:t>.describe() </a:t>
            </a:r>
            <a:r>
              <a:rPr lang="en-US" sz="2000" dirty="0"/>
              <a:t>can also be used on a categorical variable to get the count of rows, unique count of categories, top category, and </a:t>
            </a:r>
            <a:r>
              <a:rPr lang="en-US" sz="2000" dirty="0" err="1"/>
              <a:t>freq</a:t>
            </a:r>
            <a:r>
              <a:rPr lang="en-US" sz="2000" dirty="0"/>
              <a:t> of top category:</a:t>
            </a:r>
          </a:p>
          <a:p>
            <a:endParaRPr lang="en-US" sz="2000" dirty="0"/>
          </a:p>
          <a:p>
            <a:endParaRPr lang="en-US" sz="2000" dirty="0"/>
          </a:p>
          <a:p>
            <a:endParaRPr lang="en-US" sz="2000" dirty="0"/>
          </a:p>
          <a:p>
            <a:r>
              <a:rPr lang="en-US" sz="2000" dirty="0"/>
              <a:t>This tells us that the genre column has 207 unique values, the top value is Action/Adventure/Sci-Fi, which shows up 50 times (</a:t>
            </a:r>
            <a:r>
              <a:rPr lang="en-US" sz="2000" dirty="0" err="1"/>
              <a:t>freq</a:t>
            </a:r>
            <a:r>
              <a:rPr lang="en-US" sz="2000" dirty="0"/>
              <a:t>).</a:t>
            </a:r>
          </a:p>
        </p:txBody>
      </p:sp>
      <p:sp>
        <p:nvSpPr>
          <p:cNvPr id="4" name="Rectangle 3"/>
          <p:cNvSpPr/>
          <p:nvPr/>
        </p:nvSpPr>
        <p:spPr>
          <a:xfrm>
            <a:off x="2714689" y="2150372"/>
            <a:ext cx="2941831"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4D4D4C"/>
                </a:solidFill>
                <a:latin typeface="Courier New" panose="02070309020205020404" pitchFamily="49" charset="0"/>
                <a:cs typeface="Courier New" panose="02070309020205020404" pitchFamily="49" charset="0"/>
              </a:rPr>
              <a:t>movies_df.</a:t>
            </a:r>
            <a:r>
              <a:rPr lang="en-US" b="1" dirty="0" err="1">
                <a:solidFill>
                  <a:srgbClr val="4271AE"/>
                </a:solidFill>
                <a:latin typeface="Courier New" panose="02070309020205020404" pitchFamily="49" charset="0"/>
                <a:cs typeface="Courier New" panose="02070309020205020404" pitchFamily="49" charset="0"/>
              </a:rPr>
              <a:t>describe</a:t>
            </a:r>
            <a:r>
              <a:rPr lang="en-US" b="1" dirty="0">
                <a:solidFill>
                  <a:srgbClr val="4D4D4C"/>
                </a:solidFill>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6335387" y="1991264"/>
            <a:ext cx="4692498" cy="1967393"/>
          </a:xfrm>
          <a:prstGeom prst="rect">
            <a:avLst/>
          </a:prstGeom>
        </p:spPr>
      </p:pic>
      <p:sp>
        <p:nvSpPr>
          <p:cNvPr id="6" name="Rectangle 5"/>
          <p:cNvSpPr/>
          <p:nvPr/>
        </p:nvSpPr>
        <p:spPr>
          <a:xfrm>
            <a:off x="2714689" y="4931001"/>
            <a:ext cx="4182555"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4D4D4C"/>
                </a:solidFill>
                <a:latin typeface="Courier New" panose="02070309020205020404" pitchFamily="49" charset="0"/>
                <a:cs typeface="Courier New" panose="02070309020205020404" pitchFamily="49" charset="0"/>
              </a:rPr>
              <a:t>movies_df</a:t>
            </a:r>
            <a:r>
              <a:rPr lang="en-US" b="1" dirty="0">
                <a:solidFill>
                  <a:srgbClr val="4D4D4C"/>
                </a:solidFill>
                <a:latin typeface="Courier New" panose="02070309020205020404" pitchFamily="49" charset="0"/>
                <a:cs typeface="Courier New" panose="02070309020205020404" pitchFamily="49" charset="0"/>
              </a:rPr>
              <a:t>[</a:t>
            </a:r>
            <a:r>
              <a:rPr lang="en-US" b="1" dirty="0">
                <a:solidFill>
                  <a:srgbClr val="718C00"/>
                </a:solidFill>
                <a:latin typeface="Courier New" panose="02070309020205020404" pitchFamily="49" charset="0"/>
                <a:cs typeface="Courier New" panose="02070309020205020404" pitchFamily="49" charset="0"/>
              </a:rPr>
              <a:t>'genre'</a:t>
            </a:r>
            <a:r>
              <a:rPr lang="en-US" b="1" dirty="0">
                <a:solidFill>
                  <a:srgbClr val="4D4D4C"/>
                </a:solidFill>
                <a:latin typeface="Courier New" panose="02070309020205020404" pitchFamily="49" charset="0"/>
                <a:cs typeface="Courier New" panose="02070309020205020404" pitchFamily="49" charset="0"/>
              </a:rPr>
              <a:t>].</a:t>
            </a:r>
            <a:r>
              <a:rPr lang="en-US" b="1" dirty="0">
                <a:solidFill>
                  <a:srgbClr val="4271AE"/>
                </a:solidFill>
                <a:latin typeface="Courier New" panose="02070309020205020404" pitchFamily="49" charset="0"/>
                <a:cs typeface="Courier New" panose="02070309020205020404" pitchFamily="49" charset="0"/>
              </a:rPr>
              <a:t>describe</a:t>
            </a:r>
            <a:r>
              <a:rPr lang="en-US" b="1" dirty="0">
                <a:solidFill>
                  <a:srgbClr val="4D4D4C"/>
                </a:solidFill>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3"/>
          <a:stretch>
            <a:fillRect/>
          </a:stretch>
        </p:blipFill>
        <p:spPr>
          <a:xfrm>
            <a:off x="7425369" y="4487871"/>
            <a:ext cx="2875401" cy="1255592"/>
          </a:xfrm>
          <a:prstGeom prst="rect">
            <a:avLst/>
          </a:prstGeom>
        </p:spPr>
      </p:pic>
    </p:spTree>
    <p:extLst>
      <p:ext uri="{BB962C8B-B14F-4D97-AF65-F5344CB8AC3E}">
        <p14:creationId xmlns:p14="http://schemas.microsoft.com/office/powerpoint/2010/main" val="12119428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8007"/>
            <a:ext cx="10515600" cy="1325563"/>
          </a:xfrm>
        </p:spPr>
        <p:txBody>
          <a:bodyPr/>
          <a:lstStyle/>
          <a:p>
            <a:r>
              <a:rPr lang="en-US" b="1" dirty="0"/>
              <a:t>More Examples</a:t>
            </a:r>
          </a:p>
        </p:txBody>
      </p:sp>
      <p:sp>
        <p:nvSpPr>
          <p:cNvPr id="4" name="Rectangle 3"/>
          <p:cNvSpPr/>
          <p:nvPr/>
        </p:nvSpPr>
        <p:spPr>
          <a:xfrm>
            <a:off x="838200" y="2000588"/>
            <a:ext cx="6895011" cy="1200329"/>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b="1"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b="1" dirty="0">
                <a:latin typeface="Courier New" panose="02070309020205020404" pitchFamily="49" charset="0"/>
                <a:cs typeface="Courier New" panose="02070309020205020404" pitchFamily="49" charset="0"/>
              </a:rPr>
              <a:t> pd</a:t>
            </a:r>
          </a:p>
          <a:p>
            <a:r>
              <a:rPr lang="pt-BR" b="1" dirty="0">
                <a:latin typeface="Courier New" panose="02070309020205020404" pitchFamily="49" charset="0"/>
                <a:cs typeface="Courier New" panose="02070309020205020404" pitchFamily="49" charset="0"/>
              </a:rPr>
              <a:t>data </a:t>
            </a:r>
            <a:r>
              <a:rPr lang="pt-BR" b="1" dirty="0">
                <a:solidFill>
                  <a:srgbClr val="3E999F"/>
                </a:solidFill>
                <a:latin typeface="Courier New" panose="02070309020205020404" pitchFamily="49" charset="0"/>
                <a:cs typeface="Courier New" panose="02070309020205020404" pitchFamily="49" charset="0"/>
              </a:rPr>
              <a:t>=</a:t>
            </a:r>
            <a:r>
              <a:rPr lang="pt-BR" b="1" dirty="0">
                <a:latin typeface="Courier New" panose="02070309020205020404" pitchFamily="49" charset="0"/>
                <a:cs typeface="Courier New" panose="02070309020205020404" pitchFamily="49" charset="0"/>
              </a:rPr>
              <a:t> [1,2,3,10,20,30]</a:t>
            </a:r>
          </a:p>
          <a:p>
            <a:r>
              <a:rPr lang="pt-BR" b="1" dirty="0">
                <a:latin typeface="Courier New" panose="02070309020205020404" pitchFamily="49" charset="0"/>
                <a:cs typeface="Courier New" panose="02070309020205020404" pitchFamily="49" charset="0"/>
              </a:rPr>
              <a:t>df </a:t>
            </a:r>
            <a:r>
              <a:rPr lang="pt-BR" b="1" dirty="0">
                <a:solidFill>
                  <a:srgbClr val="3E999F"/>
                </a:solidFill>
                <a:latin typeface="Courier New" panose="02070309020205020404" pitchFamily="49" charset="0"/>
                <a:cs typeface="Courier New" panose="02070309020205020404" pitchFamily="49" charset="0"/>
              </a:rPr>
              <a:t>=</a:t>
            </a:r>
            <a:r>
              <a:rPr lang="pt-BR" b="1" dirty="0">
                <a:latin typeface="Courier New" panose="02070309020205020404" pitchFamily="49" charset="0"/>
                <a:cs typeface="Courier New" panose="02070309020205020404" pitchFamily="49" charset="0"/>
              </a:rPr>
              <a:t> pd.</a:t>
            </a:r>
            <a:r>
              <a:rPr lang="pt-BR" b="1" dirty="0">
                <a:solidFill>
                  <a:srgbClr val="4271AE"/>
                </a:solidFill>
                <a:latin typeface="Courier New" panose="02070309020205020404" pitchFamily="49" charset="0"/>
                <a:cs typeface="Courier New" panose="02070309020205020404" pitchFamily="49" charset="0"/>
              </a:rPr>
              <a:t>DataFrame</a:t>
            </a:r>
            <a:r>
              <a:rPr lang="pt-BR" b="1" dirty="0">
                <a:latin typeface="Courier New" panose="02070309020205020404" pitchFamily="49" charset="0"/>
                <a:cs typeface="Courier New" panose="02070309020205020404" pitchFamily="49" charset="0"/>
              </a:rPr>
              <a:t>(data)</a:t>
            </a:r>
          </a:p>
          <a:p>
            <a:r>
              <a:rPr lang="pt-BR" b="1" dirty="0">
                <a:latin typeface="Courier New" panose="02070309020205020404" pitchFamily="49" charset="0"/>
                <a:cs typeface="Courier New" panose="02070309020205020404" pitchFamily="49" charset="0"/>
              </a:rPr>
              <a:t>print(df)</a:t>
            </a:r>
            <a:endParaRPr lang="en-US" b="1" dirty="0">
              <a:latin typeface="Courier New" panose="02070309020205020404" pitchFamily="49" charset="0"/>
              <a:cs typeface="Courier New" panose="02070309020205020404" pitchFamily="49" charset="0"/>
            </a:endParaRPr>
          </a:p>
        </p:txBody>
      </p:sp>
      <p:sp>
        <p:nvSpPr>
          <p:cNvPr id="5" name="Rectangle 4"/>
          <p:cNvSpPr/>
          <p:nvPr/>
        </p:nvSpPr>
        <p:spPr>
          <a:xfrm>
            <a:off x="838200" y="4788265"/>
            <a:ext cx="6895011" cy="1200329"/>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b="1"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b="1" dirty="0">
                <a:latin typeface="Courier New" panose="02070309020205020404" pitchFamily="49" charset="0"/>
                <a:cs typeface="Courier New" panose="02070309020205020404" pitchFamily="49" charset="0"/>
              </a:rPr>
              <a:t> pd</a:t>
            </a:r>
          </a:p>
          <a:p>
            <a:r>
              <a:rPr lang="pt-BR" b="1" dirty="0">
                <a:latin typeface="Courier New" panose="02070309020205020404" pitchFamily="49" charset="0"/>
                <a:cs typeface="Courier New" panose="02070309020205020404" pitchFamily="49" charset="0"/>
              </a:rPr>
              <a:t>data </a:t>
            </a:r>
            <a:r>
              <a:rPr lang="pt-BR" b="1" dirty="0">
                <a:solidFill>
                  <a:srgbClr val="3E999F"/>
                </a:solidFill>
                <a:latin typeface="Courier New" panose="02070309020205020404" pitchFamily="49" charset="0"/>
                <a:cs typeface="Courier New" panose="02070309020205020404" pitchFamily="49" charset="0"/>
              </a:rPr>
              <a:t>=</a:t>
            </a:r>
            <a:r>
              <a:rPr lang="pt-BR" b="1" dirty="0">
                <a:latin typeface="Courier New" panose="02070309020205020404" pitchFamily="49" charset="0"/>
                <a:cs typeface="Courier New" panose="02070309020205020404" pitchFamily="49" charset="0"/>
              </a:rPr>
              <a:t> {</a:t>
            </a:r>
            <a:r>
              <a:rPr lang="en-US" b="1" dirty="0">
                <a:solidFill>
                  <a:srgbClr val="718C00"/>
                </a:solidFill>
                <a:latin typeface="Courier New" panose="02070309020205020404" pitchFamily="49" charset="0"/>
                <a:cs typeface="Courier New" panose="02070309020205020404" pitchFamily="49" charset="0"/>
              </a:rPr>
              <a:t>'</a:t>
            </a:r>
            <a:r>
              <a:rPr lang="pt-BR" b="1" dirty="0">
                <a:solidFill>
                  <a:srgbClr val="718C00"/>
                </a:solidFill>
                <a:latin typeface="Courier New" panose="02070309020205020404" pitchFamily="49" charset="0"/>
                <a:cs typeface="Courier New" panose="02070309020205020404" pitchFamily="49" charset="0"/>
              </a:rPr>
              <a:t>Name</a:t>
            </a:r>
            <a:r>
              <a:rPr lang="en-US" b="1" dirty="0">
                <a:solidFill>
                  <a:srgbClr val="718C00"/>
                </a:solidFill>
                <a:latin typeface="Courier New" panose="02070309020205020404" pitchFamily="49" charset="0"/>
                <a:cs typeface="Courier New" panose="02070309020205020404" pitchFamily="49" charset="0"/>
              </a:rPr>
              <a:t>'</a:t>
            </a:r>
            <a:r>
              <a:rPr lang="pt-BR" b="1" dirty="0">
                <a:solidFill>
                  <a:srgbClr val="718C00"/>
                </a:solidFill>
                <a:latin typeface="Courier New" panose="02070309020205020404" pitchFamily="49" charset="0"/>
                <a:cs typeface="Courier New" panose="02070309020205020404" pitchFamily="49" charset="0"/>
              </a:rPr>
              <a:t> </a:t>
            </a:r>
            <a:r>
              <a:rPr lang="pt-BR" b="1" dirty="0">
                <a:latin typeface="Courier New" panose="02070309020205020404" pitchFamily="49" charset="0"/>
                <a:cs typeface="Courier New" panose="02070309020205020404" pitchFamily="49" charset="0"/>
              </a:rPr>
              <a:t>: [</a:t>
            </a:r>
            <a:r>
              <a:rPr lang="en-US" b="1" dirty="0">
                <a:solidFill>
                  <a:srgbClr val="718C00"/>
                </a:solidFill>
                <a:latin typeface="Courier New" panose="02070309020205020404" pitchFamily="49" charset="0"/>
                <a:cs typeface="Courier New" panose="02070309020205020404" pitchFamily="49" charset="0"/>
              </a:rPr>
              <a:t>'</a:t>
            </a:r>
            <a:r>
              <a:rPr lang="pt-BR" b="1" dirty="0">
                <a:solidFill>
                  <a:srgbClr val="718C00"/>
                </a:solidFill>
                <a:latin typeface="Courier New" panose="02070309020205020404" pitchFamily="49" charset="0"/>
                <a:cs typeface="Courier New" panose="02070309020205020404" pitchFamily="49" charset="0"/>
              </a:rPr>
              <a:t>AA</a:t>
            </a:r>
            <a:r>
              <a:rPr lang="en-US" b="1" dirty="0">
                <a:solidFill>
                  <a:srgbClr val="718C00"/>
                </a:solidFill>
                <a:latin typeface="Courier New" panose="02070309020205020404" pitchFamily="49" charset="0"/>
                <a:cs typeface="Courier New" panose="02070309020205020404" pitchFamily="49" charset="0"/>
              </a:rPr>
              <a:t>',</a:t>
            </a:r>
            <a:r>
              <a:rPr lang="pt-BR" b="1" dirty="0">
                <a:latin typeface="Courier New" panose="02070309020205020404" pitchFamily="49" charset="0"/>
                <a:cs typeface="Courier New" panose="02070309020205020404" pitchFamily="49" charset="0"/>
              </a:rPr>
              <a:t> </a:t>
            </a:r>
            <a:r>
              <a:rPr lang="en-US" b="1" dirty="0">
                <a:solidFill>
                  <a:srgbClr val="718C00"/>
                </a:solidFill>
                <a:latin typeface="Courier New" panose="02070309020205020404" pitchFamily="49" charset="0"/>
                <a:cs typeface="Courier New" panose="02070309020205020404" pitchFamily="49" charset="0"/>
              </a:rPr>
              <a:t>'BB'</a:t>
            </a:r>
            <a:r>
              <a:rPr lang="pt-BR" b="1" dirty="0">
                <a:latin typeface="Courier New" panose="02070309020205020404" pitchFamily="49" charset="0"/>
                <a:cs typeface="Courier New" panose="02070309020205020404" pitchFamily="49" charset="0"/>
              </a:rPr>
              <a:t>], </a:t>
            </a:r>
            <a:r>
              <a:rPr lang="en-US" b="1" dirty="0">
                <a:solidFill>
                  <a:srgbClr val="718C00"/>
                </a:solidFill>
                <a:latin typeface="Courier New" panose="02070309020205020404" pitchFamily="49" charset="0"/>
                <a:cs typeface="Courier New" panose="02070309020205020404" pitchFamily="49" charset="0"/>
              </a:rPr>
              <a:t>'</a:t>
            </a:r>
            <a:r>
              <a:rPr lang="pt-BR" b="1" dirty="0">
                <a:solidFill>
                  <a:srgbClr val="718C00"/>
                </a:solidFill>
                <a:latin typeface="Courier New" panose="02070309020205020404" pitchFamily="49" charset="0"/>
                <a:cs typeface="Courier New" panose="02070309020205020404" pitchFamily="49" charset="0"/>
              </a:rPr>
              <a:t>Age</a:t>
            </a:r>
            <a:r>
              <a:rPr lang="en-US" b="1" dirty="0">
                <a:solidFill>
                  <a:srgbClr val="718C00"/>
                </a:solidFill>
                <a:latin typeface="Courier New" panose="02070309020205020404" pitchFamily="49" charset="0"/>
                <a:cs typeface="Courier New" panose="02070309020205020404" pitchFamily="49" charset="0"/>
              </a:rPr>
              <a:t>'</a:t>
            </a:r>
            <a:r>
              <a:rPr lang="pt-BR" b="1" dirty="0">
                <a:latin typeface="Courier New" panose="02070309020205020404" pitchFamily="49" charset="0"/>
                <a:cs typeface="Courier New" panose="02070309020205020404" pitchFamily="49" charset="0"/>
              </a:rPr>
              <a:t>: [30,45]}</a:t>
            </a:r>
          </a:p>
          <a:p>
            <a:r>
              <a:rPr lang="pt-BR" b="1" dirty="0">
                <a:latin typeface="Courier New" panose="02070309020205020404" pitchFamily="49" charset="0"/>
                <a:cs typeface="Courier New" panose="02070309020205020404" pitchFamily="49" charset="0"/>
              </a:rPr>
              <a:t>df </a:t>
            </a:r>
            <a:r>
              <a:rPr lang="pt-BR" b="1" dirty="0">
                <a:solidFill>
                  <a:srgbClr val="3E999F"/>
                </a:solidFill>
                <a:latin typeface="Courier New" panose="02070309020205020404" pitchFamily="49" charset="0"/>
                <a:cs typeface="Courier New" panose="02070309020205020404" pitchFamily="49" charset="0"/>
              </a:rPr>
              <a:t>=</a:t>
            </a:r>
            <a:r>
              <a:rPr lang="pt-BR" b="1" dirty="0">
                <a:latin typeface="Courier New" panose="02070309020205020404" pitchFamily="49" charset="0"/>
                <a:cs typeface="Courier New" panose="02070309020205020404" pitchFamily="49" charset="0"/>
              </a:rPr>
              <a:t> pd.</a:t>
            </a:r>
            <a:r>
              <a:rPr lang="pt-BR" b="1" dirty="0">
                <a:solidFill>
                  <a:srgbClr val="4271AE"/>
                </a:solidFill>
                <a:latin typeface="Courier New" panose="02070309020205020404" pitchFamily="49" charset="0"/>
                <a:cs typeface="Courier New" panose="02070309020205020404" pitchFamily="49" charset="0"/>
              </a:rPr>
              <a:t>DataFrame</a:t>
            </a:r>
            <a:r>
              <a:rPr lang="pt-BR" b="1" dirty="0">
                <a:latin typeface="Courier New" panose="02070309020205020404" pitchFamily="49" charset="0"/>
                <a:cs typeface="Courier New" panose="02070309020205020404" pitchFamily="49" charset="0"/>
              </a:rPr>
              <a:t>(data)</a:t>
            </a:r>
          </a:p>
          <a:p>
            <a:r>
              <a:rPr lang="pt-BR" b="1" dirty="0">
                <a:latin typeface="Courier New" panose="02070309020205020404" pitchFamily="49" charset="0"/>
                <a:cs typeface="Courier New" panose="02070309020205020404" pitchFamily="49" charset="0"/>
              </a:rPr>
              <a:t>print(df)</a:t>
            </a:r>
            <a:endParaRPr lang="en-US" b="1" dirty="0">
              <a:latin typeface="Courier New" panose="02070309020205020404" pitchFamily="49" charset="0"/>
              <a:cs typeface="Courier New" panose="02070309020205020404" pitchFamily="49" charset="0"/>
            </a:endParaRPr>
          </a:p>
        </p:txBody>
      </p:sp>
      <p:pic>
        <p:nvPicPr>
          <p:cNvPr id="3" name="Picture 2"/>
          <p:cNvPicPr>
            <a:picLocks noChangeAspect="1"/>
          </p:cNvPicPr>
          <p:nvPr/>
        </p:nvPicPr>
        <p:blipFill>
          <a:blip r:embed="rId2"/>
          <a:stretch>
            <a:fillRect/>
          </a:stretch>
        </p:blipFill>
        <p:spPr>
          <a:xfrm>
            <a:off x="10179231" y="1809513"/>
            <a:ext cx="976449" cy="2301630"/>
          </a:xfrm>
          <a:prstGeom prst="rect">
            <a:avLst/>
          </a:prstGeom>
        </p:spPr>
      </p:pic>
      <p:sp>
        <p:nvSpPr>
          <p:cNvPr id="8" name="Right Arrow 7"/>
          <p:cNvSpPr/>
          <p:nvPr/>
        </p:nvSpPr>
        <p:spPr>
          <a:xfrm>
            <a:off x="8489755" y="2000588"/>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9553285" y="4728114"/>
            <a:ext cx="1800515" cy="1077231"/>
          </a:xfrm>
          <a:prstGeom prst="rect">
            <a:avLst/>
          </a:prstGeom>
        </p:spPr>
      </p:pic>
      <p:sp>
        <p:nvSpPr>
          <p:cNvPr id="10" name="Right Arrow 9"/>
          <p:cNvSpPr/>
          <p:nvPr/>
        </p:nvSpPr>
        <p:spPr>
          <a:xfrm>
            <a:off x="8289458" y="4788265"/>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cxnSp>
        <p:nvCxnSpPr>
          <p:cNvPr id="12" name="Straight Connector 11"/>
          <p:cNvCxnSpPr/>
          <p:nvPr/>
        </p:nvCxnSpPr>
        <p:spPr>
          <a:xfrm>
            <a:off x="785948" y="4280962"/>
            <a:ext cx="10630989" cy="0"/>
          </a:xfrm>
          <a:prstGeom prst="line">
            <a:avLst/>
          </a:prstGeom>
          <a:ln w="381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72166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342"/>
            <a:ext cx="10515600" cy="1161235"/>
          </a:xfrm>
        </p:spPr>
        <p:txBody>
          <a:bodyPr/>
          <a:lstStyle/>
          <a:p>
            <a:r>
              <a:rPr lang="en-US" b="1" dirty="0"/>
              <a:t>More Examples</a:t>
            </a:r>
          </a:p>
        </p:txBody>
      </p:sp>
      <p:sp>
        <p:nvSpPr>
          <p:cNvPr id="4" name="Rectangle 3"/>
          <p:cNvSpPr/>
          <p:nvPr/>
        </p:nvSpPr>
        <p:spPr>
          <a:xfrm>
            <a:off x="420189" y="1744750"/>
            <a:ext cx="7365274" cy="1200329"/>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b="1"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b="1" dirty="0">
                <a:latin typeface="Courier New" panose="02070309020205020404" pitchFamily="49" charset="0"/>
                <a:cs typeface="Courier New" panose="02070309020205020404" pitchFamily="49" charset="0"/>
              </a:rPr>
              <a:t> pd</a:t>
            </a:r>
          </a:p>
          <a:p>
            <a:r>
              <a:rPr lang="pt-BR" b="1" dirty="0">
                <a:latin typeface="Courier New" panose="02070309020205020404" pitchFamily="49" charset="0"/>
                <a:cs typeface="Courier New" panose="02070309020205020404" pitchFamily="49" charset="0"/>
              </a:rPr>
              <a:t>data = [{</a:t>
            </a:r>
            <a:r>
              <a:rPr lang="pt-BR"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1, </a:t>
            </a:r>
            <a:r>
              <a:rPr lang="pt-BR"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2},{</a:t>
            </a:r>
            <a:r>
              <a:rPr lang="pt-BR"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5, </a:t>
            </a:r>
            <a:r>
              <a:rPr lang="pt-BR"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10, </a:t>
            </a:r>
            <a:r>
              <a:rPr lang="pt-BR"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 20}]</a:t>
            </a:r>
          </a:p>
          <a:p>
            <a:r>
              <a:rPr lang="pt-BR" b="1" dirty="0">
                <a:latin typeface="Courier New" panose="02070309020205020404" pitchFamily="49" charset="0"/>
                <a:cs typeface="Courier New" panose="02070309020205020404" pitchFamily="49" charset="0"/>
              </a:rPr>
              <a:t>df = pd.</a:t>
            </a:r>
            <a:r>
              <a:rPr lang="pt-BR" b="1" dirty="0">
                <a:solidFill>
                  <a:srgbClr val="4271AE"/>
                </a:solidFill>
                <a:latin typeface="Courier New" panose="02070309020205020404" pitchFamily="49" charset="0"/>
                <a:cs typeface="Courier New" panose="02070309020205020404" pitchFamily="49" charset="0"/>
              </a:rPr>
              <a:t>DataFrame</a:t>
            </a:r>
            <a:r>
              <a:rPr lang="pt-BR" b="1" dirty="0">
                <a:latin typeface="Courier New" panose="02070309020205020404" pitchFamily="49" charset="0"/>
                <a:cs typeface="Courier New" panose="02070309020205020404" pitchFamily="49" charset="0"/>
              </a:rPr>
              <a:t>(data)</a:t>
            </a:r>
          </a:p>
          <a:p>
            <a:r>
              <a:rPr lang="pt-BR" b="1" dirty="0">
                <a:latin typeface="Courier New" panose="02070309020205020404" pitchFamily="49" charset="0"/>
                <a:cs typeface="Courier New" panose="02070309020205020404" pitchFamily="49" charset="0"/>
              </a:rPr>
              <a:t>print(df)</a:t>
            </a:r>
            <a:endParaRPr lang="en-US" b="1" dirty="0">
              <a:latin typeface="Courier New" panose="02070309020205020404" pitchFamily="49" charset="0"/>
              <a:cs typeface="Courier New" panose="02070309020205020404" pitchFamily="49" charset="0"/>
            </a:endParaRPr>
          </a:p>
        </p:txBody>
      </p:sp>
      <p:sp>
        <p:nvSpPr>
          <p:cNvPr id="5" name="Rectangle 4"/>
          <p:cNvSpPr/>
          <p:nvPr/>
        </p:nvSpPr>
        <p:spPr>
          <a:xfrm>
            <a:off x="420189" y="3983775"/>
            <a:ext cx="7365274" cy="1200329"/>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b="1"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b="1" dirty="0">
                <a:latin typeface="Courier New" panose="02070309020205020404" pitchFamily="49" charset="0"/>
                <a:cs typeface="Courier New" panose="02070309020205020404" pitchFamily="49" charset="0"/>
              </a:rPr>
              <a:t> pd</a:t>
            </a:r>
          </a:p>
          <a:p>
            <a:r>
              <a:rPr lang="pt-BR" b="1" dirty="0">
                <a:latin typeface="Courier New" panose="02070309020205020404" pitchFamily="49" charset="0"/>
                <a:cs typeface="Courier New" panose="02070309020205020404" pitchFamily="49" charset="0"/>
              </a:rPr>
              <a:t>data = [{</a:t>
            </a:r>
            <a:r>
              <a:rPr lang="pt-BR"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1, </a:t>
            </a:r>
            <a:r>
              <a:rPr lang="pt-BR"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2},{</a:t>
            </a:r>
            <a:r>
              <a:rPr lang="pt-BR"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5, </a:t>
            </a:r>
            <a:r>
              <a:rPr lang="pt-BR"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10, </a:t>
            </a:r>
            <a:r>
              <a:rPr lang="pt-BR"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 20}]</a:t>
            </a:r>
          </a:p>
          <a:p>
            <a:r>
              <a:rPr lang="pt-BR" b="1" dirty="0">
                <a:latin typeface="Courier New" panose="02070309020205020404" pitchFamily="49" charset="0"/>
                <a:cs typeface="Courier New" panose="02070309020205020404" pitchFamily="49" charset="0"/>
              </a:rPr>
              <a:t>df = pd.</a:t>
            </a:r>
            <a:r>
              <a:rPr lang="pt-BR" b="1" dirty="0">
                <a:solidFill>
                  <a:srgbClr val="4271AE"/>
                </a:solidFill>
                <a:latin typeface="Courier New" panose="02070309020205020404" pitchFamily="49" charset="0"/>
                <a:cs typeface="Courier New" panose="02070309020205020404" pitchFamily="49" charset="0"/>
              </a:rPr>
              <a:t>DataFrame</a:t>
            </a:r>
            <a:r>
              <a:rPr lang="pt-BR" b="1" dirty="0">
                <a:latin typeface="Courier New" panose="02070309020205020404" pitchFamily="49" charset="0"/>
                <a:cs typeface="Courier New" panose="02070309020205020404" pitchFamily="49" charset="0"/>
              </a:rPr>
              <a:t>(data, index=[</a:t>
            </a:r>
            <a:r>
              <a:rPr lang="pt-BR" b="1" dirty="0">
                <a:solidFill>
                  <a:srgbClr val="718C00"/>
                </a:solidFill>
                <a:latin typeface="Courier New" panose="02070309020205020404" pitchFamily="49" charset="0"/>
                <a:cs typeface="Courier New" panose="02070309020205020404" pitchFamily="49" charset="0"/>
              </a:rPr>
              <a:t>'first'</a:t>
            </a:r>
            <a:r>
              <a:rPr lang="pt-BR" b="1" dirty="0">
                <a:latin typeface="Courier New" panose="02070309020205020404" pitchFamily="49" charset="0"/>
                <a:cs typeface="Courier New" panose="02070309020205020404" pitchFamily="49" charset="0"/>
              </a:rPr>
              <a:t>, </a:t>
            </a:r>
            <a:r>
              <a:rPr lang="pt-BR" b="1" dirty="0">
                <a:solidFill>
                  <a:srgbClr val="718C00"/>
                </a:solidFill>
                <a:latin typeface="Courier New" panose="02070309020205020404" pitchFamily="49" charset="0"/>
                <a:cs typeface="Courier New" panose="02070309020205020404" pitchFamily="49" charset="0"/>
              </a:rPr>
              <a:t>'second'</a:t>
            </a:r>
            <a:r>
              <a:rPr lang="pt-BR" b="1" dirty="0">
                <a:latin typeface="Courier New" panose="02070309020205020404" pitchFamily="49" charset="0"/>
                <a:cs typeface="Courier New" panose="02070309020205020404" pitchFamily="49" charset="0"/>
              </a:rPr>
              <a:t>])</a:t>
            </a:r>
          </a:p>
          <a:p>
            <a:r>
              <a:rPr lang="pt-BR" b="1" dirty="0">
                <a:latin typeface="Courier New" panose="02070309020205020404" pitchFamily="49" charset="0"/>
                <a:cs typeface="Courier New" panose="02070309020205020404" pitchFamily="49" charset="0"/>
              </a:rPr>
              <a:t>print(df)</a:t>
            </a:r>
            <a:endParaRPr lang="en-US" b="1" dirty="0">
              <a:latin typeface="Courier New" panose="02070309020205020404" pitchFamily="49" charset="0"/>
              <a:cs typeface="Courier New" panose="02070309020205020404" pitchFamily="49" charset="0"/>
            </a:endParaRPr>
          </a:p>
        </p:txBody>
      </p:sp>
      <p:sp>
        <p:nvSpPr>
          <p:cNvPr id="7" name="Rectangle 6"/>
          <p:cNvSpPr/>
          <p:nvPr/>
        </p:nvSpPr>
        <p:spPr>
          <a:xfrm>
            <a:off x="8887098" y="1692812"/>
            <a:ext cx="2886890" cy="1246495"/>
          </a:xfrm>
          <a:prstGeom prst="rect">
            <a:avLst/>
          </a:prstGeom>
          <a:solidFill>
            <a:schemeClr val="accent3">
              <a:lumMod val="20000"/>
              <a:lumOff val="80000"/>
            </a:schemeClr>
          </a:solidFill>
          <a:ln>
            <a:solidFill>
              <a:schemeClr val="accent1"/>
            </a:solidFill>
          </a:ln>
        </p:spPr>
        <p:txBody>
          <a:bodyPr wrap="square" lIns="91440" tIns="0" rIns="0" bIns="0">
            <a:spAutoFit/>
          </a:bodyPr>
          <a:lstStyle/>
          <a:p>
            <a:pPr>
              <a:lnSpc>
                <a:spcPct val="150000"/>
              </a:lnSpc>
            </a:pPr>
            <a:r>
              <a:rPr lang="pl-PL" b="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  </a:t>
            </a:r>
            <a:r>
              <a:rPr lang="pl-PL" b="1" dirty="0">
                <a:latin typeface="Courier New" panose="02070309020205020404" pitchFamily="49" charset="0"/>
                <a:cs typeface="Courier New" panose="02070309020205020404" pitchFamily="49" charset="0"/>
              </a:rPr>
              <a:t>a   b     c</a:t>
            </a:r>
          </a:p>
          <a:p>
            <a:pPr>
              <a:lnSpc>
                <a:spcPct val="150000"/>
              </a:lnSpc>
            </a:pPr>
            <a:r>
              <a:rPr lang="pl-PL" b="1" dirty="0">
                <a:latin typeface="Courier New" panose="02070309020205020404" pitchFamily="49" charset="0"/>
                <a:cs typeface="Courier New" panose="02070309020205020404" pitchFamily="49" charset="0"/>
              </a:rPr>
              <a:t>0  1   2   NaN</a:t>
            </a:r>
          </a:p>
          <a:p>
            <a:pPr>
              <a:lnSpc>
                <a:spcPct val="150000"/>
              </a:lnSpc>
            </a:pPr>
            <a:r>
              <a:rPr lang="pl-PL" b="1" dirty="0">
                <a:latin typeface="Courier New" panose="02070309020205020404" pitchFamily="49" charset="0"/>
                <a:cs typeface="Courier New" panose="02070309020205020404" pitchFamily="49" charset="0"/>
              </a:rPr>
              <a:t>1  5  10  20.0</a:t>
            </a:r>
            <a:endParaRPr lang="en-US" b="1" dirty="0">
              <a:latin typeface="Courier New" panose="02070309020205020404" pitchFamily="49" charset="0"/>
              <a:cs typeface="Courier New" panose="02070309020205020404" pitchFamily="49" charset="0"/>
            </a:endParaRPr>
          </a:p>
        </p:txBody>
      </p:sp>
      <p:sp>
        <p:nvSpPr>
          <p:cNvPr id="8" name="Right Arrow 7"/>
          <p:cNvSpPr/>
          <p:nvPr/>
        </p:nvSpPr>
        <p:spPr>
          <a:xfrm>
            <a:off x="7994469" y="2085833"/>
            <a:ext cx="644434" cy="496388"/>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9" name="Rectangle 8"/>
          <p:cNvSpPr/>
          <p:nvPr/>
        </p:nvSpPr>
        <p:spPr>
          <a:xfrm>
            <a:off x="8887097" y="3983775"/>
            <a:ext cx="2886891" cy="1246495"/>
          </a:xfrm>
          <a:prstGeom prst="rect">
            <a:avLst/>
          </a:prstGeom>
          <a:solidFill>
            <a:schemeClr val="accent3">
              <a:lumMod val="20000"/>
              <a:lumOff val="80000"/>
            </a:schemeClr>
          </a:solidFill>
          <a:ln>
            <a:solidFill>
              <a:schemeClr val="accent1"/>
            </a:solidFill>
          </a:ln>
        </p:spPr>
        <p:txBody>
          <a:bodyPr wrap="square" tIns="0" rIns="0" bIns="0">
            <a:spAutoFit/>
          </a:bodyPr>
          <a:lstStyle/>
          <a:p>
            <a:pPr>
              <a:lnSpc>
                <a:spcPct val="150000"/>
              </a:lnSpc>
            </a:pPr>
            <a:r>
              <a:rPr lang="pl-PL" b="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       a   b     c</a:t>
            </a:r>
          </a:p>
          <a:p>
            <a:pPr>
              <a:lnSpc>
                <a:spcPct val="150000"/>
              </a:lnSpc>
            </a:pPr>
            <a:r>
              <a:rPr lang="en-US" b="1" dirty="0">
                <a:latin typeface="Courier New" panose="02070309020205020404" pitchFamily="49" charset="0"/>
                <a:cs typeface="Courier New" panose="02070309020205020404" pitchFamily="49" charset="0"/>
              </a:rPr>
              <a:t>first   1   2   </a:t>
            </a:r>
            <a:r>
              <a:rPr lang="en-US" b="1" dirty="0" err="1">
                <a:latin typeface="Courier New" panose="02070309020205020404" pitchFamily="49" charset="0"/>
                <a:cs typeface="Courier New" panose="02070309020205020404" pitchFamily="49" charset="0"/>
              </a:rPr>
              <a:t>NaN</a:t>
            </a:r>
            <a:endParaRPr lang="en-US" b="1" dirty="0">
              <a:latin typeface="Courier New" panose="02070309020205020404" pitchFamily="49" charset="0"/>
              <a:cs typeface="Courier New" panose="02070309020205020404" pitchFamily="49" charset="0"/>
            </a:endParaRPr>
          </a:p>
          <a:p>
            <a:pPr>
              <a:lnSpc>
                <a:spcPct val="150000"/>
              </a:lnSpc>
            </a:pPr>
            <a:r>
              <a:rPr lang="en-US" b="1" dirty="0">
                <a:latin typeface="Courier New" panose="02070309020205020404" pitchFamily="49" charset="0"/>
                <a:cs typeface="Courier New" panose="02070309020205020404" pitchFamily="49" charset="0"/>
              </a:rPr>
              <a:t>second  5  10  20.0</a:t>
            </a:r>
          </a:p>
        </p:txBody>
      </p:sp>
      <p:sp>
        <p:nvSpPr>
          <p:cNvPr id="10" name="Right Arrow 9"/>
          <p:cNvSpPr/>
          <p:nvPr/>
        </p:nvSpPr>
        <p:spPr>
          <a:xfrm>
            <a:off x="7994469" y="4376796"/>
            <a:ext cx="644434" cy="496388"/>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cxnSp>
        <p:nvCxnSpPr>
          <p:cNvPr id="11" name="Straight Connector 10"/>
          <p:cNvCxnSpPr/>
          <p:nvPr/>
        </p:nvCxnSpPr>
        <p:spPr>
          <a:xfrm>
            <a:off x="420188" y="3719259"/>
            <a:ext cx="11338560" cy="0"/>
          </a:xfrm>
          <a:prstGeom prst="line">
            <a:avLst/>
          </a:prstGeom>
          <a:ln w="381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604437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449" y="125276"/>
            <a:ext cx="10515600" cy="1075748"/>
          </a:xfrm>
        </p:spPr>
        <p:txBody>
          <a:bodyPr/>
          <a:lstStyle/>
          <a:p>
            <a:r>
              <a:rPr lang="en-US" b="1" dirty="0"/>
              <a:t>More Examples</a:t>
            </a:r>
          </a:p>
        </p:txBody>
      </p:sp>
      <p:sp>
        <p:nvSpPr>
          <p:cNvPr id="5" name="Rectangle 4"/>
          <p:cNvSpPr/>
          <p:nvPr/>
        </p:nvSpPr>
        <p:spPr>
          <a:xfrm>
            <a:off x="284018" y="1770643"/>
            <a:ext cx="9543473" cy="3416320"/>
          </a:xfrm>
          <a:prstGeom prst="rect">
            <a:avLst/>
          </a:prstGeom>
          <a:solidFill>
            <a:schemeClr val="accent4">
              <a:lumMod val="20000"/>
              <a:lumOff val="80000"/>
            </a:schemeClr>
          </a:solidFill>
          <a:ln>
            <a:solidFill>
              <a:schemeClr val="accent1"/>
            </a:solidFill>
          </a:ln>
        </p:spPr>
        <p:txBody>
          <a:bodyPr wrap="square">
            <a:spAutoFit/>
          </a:bodyPr>
          <a:lstStyle/>
          <a:p>
            <a:r>
              <a:rPr lang="pt-BR" b="1" dirty="0">
                <a:latin typeface="Courier New" panose="02070309020205020404" pitchFamily="49" charset="0"/>
                <a:cs typeface="Courier New" panose="02070309020205020404" pitchFamily="49" charset="0"/>
              </a:rPr>
              <a:t>import pandas as pd</a:t>
            </a:r>
          </a:p>
          <a:p>
            <a:r>
              <a:rPr lang="pt-BR" b="1" dirty="0">
                <a:latin typeface="Courier New" panose="02070309020205020404" pitchFamily="49" charset="0"/>
                <a:cs typeface="Courier New" panose="02070309020205020404" pitchFamily="49" charset="0"/>
              </a:rPr>
              <a:t>data = [{</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1, </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2},{</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5, </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10, </a:t>
            </a:r>
            <a:r>
              <a:rPr lang="pt-BR" sz="1600"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 20}]</a:t>
            </a:r>
          </a:p>
          <a:p>
            <a:endParaRPr lang="pt-BR" b="1" dirty="0">
              <a:solidFill>
                <a:srgbClr val="00B050"/>
              </a:solidFill>
              <a:latin typeface="Courier New" panose="02070309020205020404" pitchFamily="49" charset="0"/>
              <a:cs typeface="Courier New" panose="02070309020205020404" pitchFamily="49" charset="0"/>
            </a:endParaRPr>
          </a:p>
          <a:p>
            <a:r>
              <a:rPr lang="pt-BR" b="1" dirty="0">
                <a:solidFill>
                  <a:srgbClr val="00B050"/>
                </a:solidFill>
                <a:latin typeface="Courier New" panose="02070309020205020404" pitchFamily="49" charset="0"/>
                <a:cs typeface="Courier New" panose="02070309020205020404" pitchFamily="49" charset="0"/>
              </a:rPr>
              <a:t>#With two column indices, values same as dictionary keys</a:t>
            </a:r>
          </a:p>
          <a:p>
            <a:r>
              <a:rPr lang="pt-BR" b="1" dirty="0">
                <a:latin typeface="Courier New" panose="02070309020205020404" pitchFamily="49" charset="0"/>
                <a:cs typeface="Courier New" panose="02070309020205020404" pitchFamily="49" charset="0"/>
              </a:rPr>
              <a:t>df1 = pd.DataFrame(data,index=[</a:t>
            </a:r>
            <a:r>
              <a:rPr lang="pt-BR" sz="1600" b="1" dirty="0">
                <a:solidFill>
                  <a:srgbClr val="718C00"/>
                </a:solidFill>
                <a:latin typeface="Courier New" panose="02070309020205020404" pitchFamily="49" charset="0"/>
                <a:cs typeface="Courier New" panose="02070309020205020404" pitchFamily="49" charset="0"/>
              </a:rPr>
              <a:t>'first'</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'second'</a:t>
            </a:r>
            <a:r>
              <a:rPr lang="pt-BR" b="1" dirty="0">
                <a:latin typeface="Courier New" panose="02070309020205020404" pitchFamily="49" charset="0"/>
                <a:cs typeface="Courier New" panose="02070309020205020404" pitchFamily="49" charset="0"/>
              </a:rPr>
              <a:t>],columns=[</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a:t>
            </a:r>
          </a:p>
          <a:p>
            <a:endParaRPr lang="pt-BR" b="1" dirty="0">
              <a:solidFill>
                <a:srgbClr val="00B050"/>
              </a:solidFill>
              <a:latin typeface="Courier New" panose="02070309020205020404" pitchFamily="49" charset="0"/>
              <a:cs typeface="Courier New" panose="02070309020205020404" pitchFamily="49" charset="0"/>
            </a:endParaRPr>
          </a:p>
          <a:p>
            <a:r>
              <a:rPr lang="pt-BR" b="1" dirty="0">
                <a:solidFill>
                  <a:srgbClr val="00B050"/>
                </a:solidFill>
                <a:latin typeface="Courier New" panose="02070309020205020404" pitchFamily="49" charset="0"/>
                <a:cs typeface="Courier New" panose="02070309020205020404" pitchFamily="49" charset="0"/>
              </a:rPr>
              <a:t>#With two column indices with one index with other name</a:t>
            </a:r>
          </a:p>
          <a:p>
            <a:r>
              <a:rPr lang="pt-BR" b="1" dirty="0">
                <a:latin typeface="Courier New" panose="02070309020205020404" pitchFamily="49" charset="0"/>
                <a:cs typeface="Courier New" panose="02070309020205020404" pitchFamily="49" charset="0"/>
              </a:rPr>
              <a:t>df2 = pd.DataFrame(data,index=[</a:t>
            </a:r>
            <a:r>
              <a:rPr lang="pt-BR" sz="1600" b="1" dirty="0">
                <a:solidFill>
                  <a:srgbClr val="718C00"/>
                </a:solidFill>
                <a:latin typeface="Courier New" panose="02070309020205020404" pitchFamily="49" charset="0"/>
                <a:cs typeface="Courier New" panose="02070309020205020404" pitchFamily="49" charset="0"/>
              </a:rPr>
              <a:t>'first'</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'second'</a:t>
            </a:r>
            <a:r>
              <a:rPr lang="pt-BR" b="1" dirty="0">
                <a:latin typeface="Courier New" panose="02070309020205020404" pitchFamily="49" charset="0"/>
                <a:cs typeface="Courier New" panose="02070309020205020404" pitchFamily="49" charset="0"/>
              </a:rPr>
              <a:t>],columns=[</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'b1'</a:t>
            </a:r>
            <a:r>
              <a:rPr lang="pt-BR" b="1" dirty="0">
                <a:latin typeface="Courier New" panose="02070309020205020404" pitchFamily="49" charset="0"/>
                <a:cs typeface="Courier New" panose="02070309020205020404" pitchFamily="49" charset="0"/>
              </a:rPr>
              <a:t>])</a:t>
            </a:r>
          </a:p>
          <a:p>
            <a:endParaRPr lang="pt-BR" b="1" dirty="0">
              <a:latin typeface="Courier New" panose="02070309020205020404" pitchFamily="49" charset="0"/>
              <a:cs typeface="Courier New" panose="02070309020205020404" pitchFamily="49" charset="0"/>
            </a:endParaRPr>
          </a:p>
          <a:p>
            <a:r>
              <a:rPr lang="pt-BR" b="1" dirty="0">
                <a:latin typeface="Courier New" panose="02070309020205020404" pitchFamily="49" charset="0"/>
                <a:cs typeface="Courier New" panose="02070309020205020404" pitchFamily="49" charset="0"/>
              </a:rPr>
              <a:t>print(df1)</a:t>
            </a:r>
          </a:p>
          <a:p>
            <a:r>
              <a:rPr lang="pt-BR" b="1" dirty="0">
                <a:latin typeface="Courier New" panose="02070309020205020404" pitchFamily="49" charset="0"/>
                <a:cs typeface="Courier New" panose="02070309020205020404" pitchFamily="49" charset="0"/>
              </a:rPr>
              <a:t>print(</a:t>
            </a:r>
            <a:r>
              <a:rPr lang="pt-BR" sz="1600" b="1" dirty="0">
                <a:solidFill>
                  <a:srgbClr val="718C00"/>
                </a:solidFill>
                <a:latin typeface="Courier New" panose="02070309020205020404" pitchFamily="49" charset="0"/>
                <a:cs typeface="Courier New" panose="02070309020205020404" pitchFamily="49" charset="0"/>
              </a:rPr>
              <a:t>'...........'</a:t>
            </a:r>
            <a:r>
              <a:rPr lang="pt-BR" b="1" dirty="0">
                <a:latin typeface="Courier New" panose="02070309020205020404" pitchFamily="49" charset="0"/>
                <a:cs typeface="Courier New" panose="02070309020205020404" pitchFamily="49" charset="0"/>
              </a:rPr>
              <a:t>)</a:t>
            </a:r>
          </a:p>
          <a:p>
            <a:r>
              <a:rPr lang="pt-BR" b="1" dirty="0">
                <a:latin typeface="Courier New" panose="02070309020205020404" pitchFamily="49" charset="0"/>
                <a:cs typeface="Courier New" panose="02070309020205020404" pitchFamily="49" charset="0"/>
              </a:rPr>
              <a:t>print(df2)</a:t>
            </a:r>
            <a:endParaRPr lang="en-US" b="1" dirty="0">
              <a:latin typeface="Courier New" panose="02070309020205020404" pitchFamily="49" charset="0"/>
              <a:cs typeface="Courier New" panose="02070309020205020404" pitchFamily="49" charset="0"/>
            </a:endParaRPr>
          </a:p>
        </p:txBody>
      </p:sp>
      <p:sp>
        <p:nvSpPr>
          <p:cNvPr id="3" name="Rectangle 2"/>
          <p:cNvSpPr/>
          <p:nvPr/>
        </p:nvSpPr>
        <p:spPr>
          <a:xfrm>
            <a:off x="284018" y="1189422"/>
            <a:ext cx="11360463" cy="400110"/>
          </a:xfrm>
          <a:prstGeom prst="rect">
            <a:avLst/>
          </a:prstGeom>
        </p:spPr>
        <p:txBody>
          <a:bodyPr wrap="square">
            <a:spAutoFit/>
          </a:bodyPr>
          <a:lstStyle/>
          <a:p>
            <a:r>
              <a:rPr lang="en-US" sz="2000" dirty="0"/>
              <a:t>E.g. This shows how to create a </a:t>
            </a:r>
            <a:r>
              <a:rPr lang="en-US" sz="2000" dirty="0" err="1"/>
              <a:t>DataFrame</a:t>
            </a:r>
            <a:r>
              <a:rPr lang="en-US" sz="2000" dirty="0"/>
              <a:t> with a list of dictionaries, row indices, and column indices.</a:t>
            </a:r>
          </a:p>
        </p:txBody>
      </p:sp>
      <p:sp>
        <p:nvSpPr>
          <p:cNvPr id="6" name="Rectangle 5"/>
          <p:cNvSpPr/>
          <p:nvPr/>
        </p:nvSpPr>
        <p:spPr>
          <a:xfrm>
            <a:off x="9967489" y="3804519"/>
            <a:ext cx="2094938" cy="2908489"/>
          </a:xfrm>
          <a:prstGeom prst="rect">
            <a:avLst/>
          </a:prstGeom>
          <a:solidFill>
            <a:schemeClr val="accent3">
              <a:lumMod val="20000"/>
              <a:lumOff val="80000"/>
            </a:schemeClr>
          </a:solidFill>
          <a:ln>
            <a:solidFill>
              <a:schemeClr val="accent1"/>
            </a:solidFill>
          </a:ln>
        </p:spPr>
        <p:txBody>
          <a:bodyPr wrap="square" lIns="91440" tIns="0" rIns="0" bIns="0">
            <a:spAutoFit/>
          </a:bodyPr>
          <a:lstStyle/>
          <a:p>
            <a:pPr>
              <a:lnSpc>
                <a:spcPct val="150000"/>
              </a:lnSpc>
            </a:pPr>
            <a:r>
              <a:rPr lang="en-US" b="1" dirty="0">
                <a:latin typeface="Courier New" panose="02070309020205020404" pitchFamily="49" charset="0"/>
                <a:cs typeface="Courier New" panose="02070309020205020404" pitchFamily="49" charset="0"/>
              </a:rPr>
              <a:t>        a   b</a:t>
            </a:r>
          </a:p>
          <a:p>
            <a:pPr>
              <a:lnSpc>
                <a:spcPct val="150000"/>
              </a:lnSpc>
            </a:pPr>
            <a:r>
              <a:rPr lang="en-US" b="1" dirty="0">
                <a:latin typeface="Courier New" panose="02070309020205020404" pitchFamily="49" charset="0"/>
                <a:cs typeface="Courier New" panose="02070309020205020404" pitchFamily="49" charset="0"/>
              </a:rPr>
              <a:t>first   1   2</a:t>
            </a:r>
          </a:p>
          <a:p>
            <a:pPr>
              <a:lnSpc>
                <a:spcPct val="150000"/>
              </a:lnSpc>
            </a:pPr>
            <a:r>
              <a:rPr lang="en-US" b="1" dirty="0">
                <a:latin typeface="Courier New" panose="02070309020205020404" pitchFamily="49" charset="0"/>
                <a:cs typeface="Courier New" panose="02070309020205020404" pitchFamily="49" charset="0"/>
              </a:rPr>
              <a:t>second  5  10</a:t>
            </a:r>
          </a:p>
          <a:p>
            <a:pPr>
              <a:lnSpc>
                <a:spcPct val="150000"/>
              </a:lnSpc>
            </a:pPr>
            <a:r>
              <a:rPr lang="en-US" b="1" dirty="0">
                <a:latin typeface="Courier New" panose="02070309020205020404" pitchFamily="49" charset="0"/>
                <a:cs typeface="Courier New" panose="02070309020205020404" pitchFamily="49" charset="0"/>
              </a:rPr>
              <a:t>...........</a:t>
            </a:r>
          </a:p>
          <a:p>
            <a:pPr>
              <a:lnSpc>
                <a:spcPct val="150000"/>
              </a:lnSpc>
            </a:pPr>
            <a:r>
              <a:rPr lang="en-US" b="1" dirty="0">
                <a:latin typeface="Courier New" panose="02070309020205020404" pitchFamily="49" charset="0"/>
                <a:cs typeface="Courier New" panose="02070309020205020404" pitchFamily="49" charset="0"/>
              </a:rPr>
              <a:t>        a  b1</a:t>
            </a:r>
          </a:p>
          <a:p>
            <a:pPr>
              <a:lnSpc>
                <a:spcPct val="150000"/>
              </a:lnSpc>
            </a:pPr>
            <a:r>
              <a:rPr lang="en-US" b="1" dirty="0">
                <a:latin typeface="Courier New" panose="02070309020205020404" pitchFamily="49" charset="0"/>
                <a:cs typeface="Courier New" panose="02070309020205020404" pitchFamily="49" charset="0"/>
              </a:rPr>
              <a:t>first   1 </a:t>
            </a:r>
            <a:r>
              <a:rPr lang="en-US" b="1" dirty="0" err="1">
                <a:latin typeface="Courier New" panose="02070309020205020404" pitchFamily="49" charset="0"/>
                <a:cs typeface="Courier New" panose="02070309020205020404" pitchFamily="49" charset="0"/>
              </a:rPr>
              <a:t>NaN</a:t>
            </a:r>
            <a:endParaRPr lang="en-US" b="1" dirty="0">
              <a:latin typeface="Courier New" panose="02070309020205020404" pitchFamily="49" charset="0"/>
              <a:cs typeface="Courier New" panose="02070309020205020404" pitchFamily="49" charset="0"/>
            </a:endParaRPr>
          </a:p>
          <a:p>
            <a:pPr>
              <a:lnSpc>
                <a:spcPct val="150000"/>
              </a:lnSpc>
            </a:pPr>
            <a:r>
              <a:rPr lang="en-US" b="1" dirty="0">
                <a:latin typeface="Courier New" panose="02070309020205020404" pitchFamily="49" charset="0"/>
                <a:cs typeface="Courier New" panose="02070309020205020404" pitchFamily="49" charset="0"/>
              </a:rPr>
              <a:t>second  5 </a:t>
            </a:r>
            <a:r>
              <a:rPr lang="en-US" b="1" dirty="0" err="1">
                <a:latin typeface="Courier New" panose="02070309020205020404" pitchFamily="49" charset="0"/>
                <a:cs typeface="Courier New" panose="02070309020205020404" pitchFamily="49" charset="0"/>
              </a:rPr>
              <a:t>NaN</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580657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More Examples:</a:t>
            </a:r>
            <a:br>
              <a:rPr lang="en-US" b="1" dirty="0"/>
            </a:br>
            <a:r>
              <a:rPr lang="en-US" b="1" dirty="0"/>
              <a:t>Create a </a:t>
            </a:r>
            <a:r>
              <a:rPr lang="en-US" b="1" dirty="0" err="1"/>
              <a:t>DataFrame</a:t>
            </a:r>
            <a:r>
              <a:rPr lang="en-US" b="1" dirty="0"/>
              <a:t> from </a:t>
            </a:r>
            <a:r>
              <a:rPr lang="en-US" b="1" dirty="0" err="1"/>
              <a:t>Dict</a:t>
            </a:r>
            <a:r>
              <a:rPr lang="en-US" b="1" dirty="0"/>
              <a:t> of Series</a:t>
            </a:r>
          </a:p>
        </p:txBody>
      </p:sp>
      <p:sp>
        <p:nvSpPr>
          <p:cNvPr id="4" name="Rectangle 3"/>
          <p:cNvSpPr/>
          <p:nvPr/>
        </p:nvSpPr>
        <p:spPr>
          <a:xfrm>
            <a:off x="838200" y="2249718"/>
            <a:ext cx="8896927" cy="1754326"/>
          </a:xfrm>
          <a:prstGeom prst="rect">
            <a:avLst/>
          </a:prstGeom>
          <a:solidFill>
            <a:schemeClr val="accent4">
              <a:lumMod val="20000"/>
              <a:lumOff val="80000"/>
            </a:schemeClr>
          </a:solidFill>
          <a:ln>
            <a:solidFill>
              <a:schemeClr val="accent1"/>
            </a:solidFill>
          </a:ln>
        </p:spPr>
        <p:txBody>
          <a:bodyPr wrap="square">
            <a:spAutoFit/>
          </a:bodyPr>
          <a:lstStyle/>
          <a:p>
            <a:r>
              <a:rPr lang="pt-BR" b="1" dirty="0">
                <a:latin typeface="Courier New" panose="02070309020205020404" pitchFamily="49" charset="0"/>
                <a:cs typeface="Courier New" panose="02070309020205020404" pitchFamily="49" charset="0"/>
              </a:rPr>
              <a:t>import pandas as pd</a:t>
            </a:r>
          </a:p>
          <a:p>
            <a:r>
              <a:rPr lang="pt-BR" b="1" dirty="0">
                <a:latin typeface="Courier New" panose="02070309020205020404" pitchFamily="49" charset="0"/>
                <a:cs typeface="Courier New" panose="02070309020205020404" pitchFamily="49" charset="0"/>
              </a:rPr>
              <a:t>d = {</a:t>
            </a:r>
            <a:r>
              <a:rPr lang="pt-BR" sz="1600" b="1" dirty="0">
                <a:solidFill>
                  <a:srgbClr val="718C00"/>
                </a:solidFill>
                <a:latin typeface="Courier New" panose="02070309020205020404" pitchFamily="49" charset="0"/>
                <a:cs typeface="Courier New" panose="02070309020205020404" pitchFamily="49" charset="0"/>
              </a:rPr>
              <a:t>'one'</a:t>
            </a:r>
            <a:r>
              <a:rPr lang="pt-BR" b="1" dirty="0">
                <a:latin typeface="Courier New" panose="02070309020205020404" pitchFamily="49" charset="0"/>
                <a:cs typeface="Courier New" panose="02070309020205020404" pitchFamily="49" charset="0"/>
              </a:rPr>
              <a:t> : pd.Series([1, 2, 3]  , index=[</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 </a:t>
            </a:r>
          </a:p>
          <a:p>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'two'</a:t>
            </a:r>
            <a:r>
              <a:rPr lang="pt-BR" b="1" dirty="0">
                <a:latin typeface="Courier New" panose="02070309020205020404" pitchFamily="49" charset="0"/>
                <a:cs typeface="Courier New" panose="02070309020205020404" pitchFamily="49" charset="0"/>
              </a:rPr>
              <a:t> : pd.Series([1,2, 3, 4], index=[</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'd'</a:t>
            </a:r>
            <a:r>
              <a:rPr lang="pt-BR" b="1" dirty="0">
                <a:latin typeface="Courier New" panose="02070309020205020404" pitchFamily="49" charset="0"/>
                <a:cs typeface="Courier New" panose="02070309020205020404" pitchFamily="49" charset="0"/>
              </a:rPr>
              <a:t>])</a:t>
            </a:r>
          </a:p>
          <a:p>
            <a:r>
              <a:rPr lang="pt-BR" b="1" dirty="0">
                <a:latin typeface="Courier New" panose="02070309020205020404" pitchFamily="49" charset="0"/>
                <a:cs typeface="Courier New" panose="02070309020205020404" pitchFamily="49" charset="0"/>
              </a:rPr>
              <a:t>    }</a:t>
            </a:r>
          </a:p>
          <a:p>
            <a:r>
              <a:rPr lang="pt-BR" b="1" dirty="0">
                <a:latin typeface="Courier New" panose="02070309020205020404" pitchFamily="49" charset="0"/>
                <a:cs typeface="Courier New" panose="02070309020205020404" pitchFamily="49" charset="0"/>
              </a:rPr>
              <a:t>df = pd.DataFrame(d)</a:t>
            </a:r>
          </a:p>
          <a:p>
            <a:r>
              <a:rPr lang="pt-BR" b="1" dirty="0">
                <a:latin typeface="Courier New" panose="02070309020205020404" pitchFamily="49" charset="0"/>
                <a:cs typeface="Courier New" panose="02070309020205020404" pitchFamily="49" charset="0"/>
              </a:rPr>
              <a:t>print(df)</a:t>
            </a:r>
            <a:endParaRPr lang="en-US" b="1" dirty="0">
              <a:latin typeface="Courier New" panose="02070309020205020404" pitchFamily="49" charset="0"/>
              <a:cs typeface="Courier New" panose="02070309020205020404" pitchFamily="49" charset="0"/>
            </a:endParaRPr>
          </a:p>
        </p:txBody>
      </p:sp>
      <p:sp>
        <p:nvSpPr>
          <p:cNvPr id="5" name="Rectangle 4"/>
          <p:cNvSpPr/>
          <p:nvPr/>
        </p:nvSpPr>
        <p:spPr>
          <a:xfrm>
            <a:off x="838200" y="4452238"/>
            <a:ext cx="1780903" cy="2077492"/>
          </a:xfrm>
          <a:prstGeom prst="rect">
            <a:avLst/>
          </a:prstGeom>
          <a:solidFill>
            <a:schemeClr val="accent3">
              <a:lumMod val="20000"/>
              <a:lumOff val="80000"/>
            </a:schemeClr>
          </a:solidFill>
          <a:ln>
            <a:solidFill>
              <a:schemeClr val="accent1"/>
            </a:solidFill>
          </a:ln>
        </p:spPr>
        <p:txBody>
          <a:bodyPr wrap="square" tIns="0" rIns="0" bIns="0">
            <a:spAutoFit/>
          </a:bodyPr>
          <a:lstStyle/>
          <a:p>
            <a:pPr>
              <a:lnSpc>
                <a:spcPct val="150000"/>
              </a:lnSpc>
            </a:pPr>
            <a:r>
              <a:rPr lang="en-US" b="1" dirty="0">
                <a:latin typeface="Courier New" panose="02070309020205020404" pitchFamily="49" charset="0"/>
                <a:cs typeface="Courier New" panose="02070309020205020404" pitchFamily="49" charset="0"/>
              </a:rPr>
              <a:t>   one  two</a:t>
            </a:r>
          </a:p>
          <a:p>
            <a:pPr>
              <a:lnSpc>
                <a:spcPct val="150000"/>
              </a:lnSpc>
            </a:pPr>
            <a:r>
              <a:rPr lang="en-US" b="1" dirty="0">
                <a:latin typeface="Courier New" panose="02070309020205020404" pitchFamily="49" charset="0"/>
                <a:cs typeface="Courier New" panose="02070309020205020404" pitchFamily="49" charset="0"/>
              </a:rPr>
              <a:t>a  1.0    1</a:t>
            </a:r>
          </a:p>
          <a:p>
            <a:pPr>
              <a:lnSpc>
                <a:spcPct val="150000"/>
              </a:lnSpc>
            </a:pPr>
            <a:r>
              <a:rPr lang="en-US" b="1" dirty="0">
                <a:latin typeface="Courier New" panose="02070309020205020404" pitchFamily="49" charset="0"/>
                <a:cs typeface="Courier New" panose="02070309020205020404" pitchFamily="49" charset="0"/>
              </a:rPr>
              <a:t>b  2.0    2</a:t>
            </a:r>
          </a:p>
          <a:p>
            <a:pPr>
              <a:lnSpc>
                <a:spcPct val="150000"/>
              </a:lnSpc>
            </a:pPr>
            <a:r>
              <a:rPr lang="en-US" b="1" dirty="0">
                <a:latin typeface="Courier New" panose="02070309020205020404" pitchFamily="49" charset="0"/>
                <a:cs typeface="Courier New" panose="02070309020205020404" pitchFamily="49" charset="0"/>
              </a:rPr>
              <a:t>c  3.0    3</a:t>
            </a:r>
          </a:p>
          <a:p>
            <a:pPr>
              <a:lnSpc>
                <a:spcPct val="150000"/>
              </a:lnSpc>
            </a:pPr>
            <a:r>
              <a:rPr lang="en-US" b="1" dirty="0">
                <a:latin typeface="Courier New" panose="02070309020205020404" pitchFamily="49" charset="0"/>
                <a:cs typeface="Courier New" panose="02070309020205020404" pitchFamily="49" charset="0"/>
              </a:rPr>
              <a:t>d  </a:t>
            </a:r>
            <a:r>
              <a:rPr lang="en-US" b="1" dirty="0" err="1">
                <a:latin typeface="Courier New" panose="02070309020205020404" pitchFamily="49" charset="0"/>
                <a:cs typeface="Courier New" panose="02070309020205020404" pitchFamily="49" charset="0"/>
              </a:rPr>
              <a:t>NaN</a:t>
            </a:r>
            <a:r>
              <a:rPr lang="en-US" b="1" dirty="0">
                <a:latin typeface="Courier New" panose="02070309020205020404" pitchFamily="49" charset="0"/>
                <a:cs typeface="Courier New" panose="02070309020205020404" pitchFamily="49" charset="0"/>
              </a:rPr>
              <a:t>    4</a:t>
            </a:r>
          </a:p>
        </p:txBody>
      </p:sp>
    </p:spTree>
    <p:extLst>
      <p:ext uri="{BB962C8B-B14F-4D97-AF65-F5344CB8AC3E}">
        <p14:creationId xmlns:p14="http://schemas.microsoft.com/office/powerpoint/2010/main" val="3858147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673" y="144341"/>
            <a:ext cx="10515600" cy="1325563"/>
          </a:xfrm>
        </p:spPr>
        <p:txBody>
          <a:bodyPr/>
          <a:lstStyle/>
          <a:p>
            <a:r>
              <a:rPr lang="en-US" b="1" dirty="0"/>
              <a:t>More Examples: Column Addition</a:t>
            </a:r>
          </a:p>
        </p:txBody>
      </p:sp>
      <p:sp>
        <p:nvSpPr>
          <p:cNvPr id="4" name="Rectangle 3"/>
          <p:cNvSpPr/>
          <p:nvPr/>
        </p:nvSpPr>
        <p:spPr>
          <a:xfrm>
            <a:off x="302492" y="1469904"/>
            <a:ext cx="7123545" cy="4031873"/>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sz="1600" b="1"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sz="1600" b="1" dirty="0">
                <a:latin typeface="Courier New" panose="02070309020205020404" pitchFamily="49" charset="0"/>
                <a:cs typeface="Courier New" panose="02070309020205020404" pitchFamily="49" charset="0"/>
              </a:rPr>
              <a:t> pd</a:t>
            </a:r>
          </a:p>
          <a:p>
            <a:r>
              <a:rPr lang="pt-BR" sz="1600" b="1" dirty="0">
                <a:latin typeface="Courier New" panose="02070309020205020404" pitchFamily="49" charset="0"/>
                <a:cs typeface="Courier New" panose="02070309020205020404" pitchFamily="49" charset="0"/>
              </a:rPr>
              <a:t>d = {</a:t>
            </a:r>
            <a:r>
              <a:rPr lang="pt-BR" sz="1600" b="1" dirty="0">
                <a:solidFill>
                  <a:srgbClr val="718C00"/>
                </a:solidFill>
                <a:latin typeface="Courier New" panose="02070309020205020404" pitchFamily="49" charset="0"/>
                <a:cs typeface="Courier New" panose="02070309020205020404" pitchFamily="49" charset="0"/>
              </a:rPr>
              <a:t>'one'</a:t>
            </a:r>
            <a:r>
              <a:rPr lang="pt-BR" sz="1600" b="1" dirty="0">
                <a:latin typeface="Courier New" panose="02070309020205020404" pitchFamily="49" charset="0"/>
                <a:cs typeface="Courier New" panose="02070309020205020404" pitchFamily="49" charset="0"/>
              </a:rPr>
              <a:t>:pd.Series([1,2,3],   index=[</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'c'</a:t>
            </a:r>
            <a:r>
              <a:rPr lang="pt-BR" sz="1600" b="1" dirty="0">
                <a:latin typeface="Courier New" panose="02070309020205020404" pitchFamily="49" charset="0"/>
                <a:cs typeface="Courier New" panose="02070309020205020404" pitchFamily="49" charset="0"/>
              </a:rPr>
              <a:t>]), </a:t>
            </a:r>
          </a:p>
          <a:p>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'two'</a:t>
            </a:r>
            <a:r>
              <a:rPr lang="pt-BR" sz="1600" b="1" dirty="0">
                <a:latin typeface="Courier New" panose="02070309020205020404" pitchFamily="49" charset="0"/>
                <a:cs typeface="Courier New" panose="02070309020205020404" pitchFamily="49" charset="0"/>
              </a:rPr>
              <a:t>:pd.Series([1,2,3,4], index=[</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'c'</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'd'</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    }</a:t>
            </a:r>
          </a:p>
          <a:p>
            <a:r>
              <a:rPr lang="pt-BR" sz="1600" b="1" dirty="0">
                <a:latin typeface="Courier New" panose="02070309020205020404" pitchFamily="49" charset="0"/>
                <a:cs typeface="Courier New" panose="02070309020205020404" pitchFamily="49" charset="0"/>
              </a:rPr>
              <a:t>df = pd.DataFrame(d)</a:t>
            </a:r>
          </a:p>
          <a:p>
            <a:r>
              <a:rPr lang="pt-BR" sz="1600" b="1" dirty="0">
                <a:solidFill>
                  <a:srgbClr val="00B050"/>
                </a:solidFill>
                <a:latin typeface="Courier New" panose="02070309020205020404" pitchFamily="49" charset="0"/>
                <a:cs typeface="Courier New" panose="02070309020205020404" pitchFamily="49" charset="0"/>
              </a:rPr>
              <a:t># Adding a new column to an existing DataFrame object</a:t>
            </a:r>
          </a:p>
          <a:p>
            <a:r>
              <a:rPr lang="pt-BR" sz="1600" b="1" dirty="0">
                <a:solidFill>
                  <a:srgbClr val="00B050"/>
                </a:solidFill>
                <a:latin typeface="Courier New" panose="02070309020205020404" pitchFamily="49" charset="0"/>
                <a:cs typeface="Courier New" panose="02070309020205020404" pitchFamily="49" charset="0"/>
              </a:rPr>
              <a:t># with column label by passing new series</a:t>
            </a:r>
          </a:p>
          <a:p>
            <a:endParaRPr lang="pt-BR" sz="1600" b="1" dirty="0">
              <a:latin typeface="Courier New" panose="02070309020205020404" pitchFamily="49" charset="0"/>
              <a:cs typeface="Courier New" panose="02070309020205020404" pitchFamily="49" charset="0"/>
            </a:endParaRPr>
          </a:p>
          <a:p>
            <a:r>
              <a:rPr lang="pt-BR" sz="1600" b="1" dirty="0">
                <a:latin typeface="Courier New" panose="02070309020205020404" pitchFamily="49" charset="0"/>
                <a:cs typeface="Courier New" panose="02070309020205020404" pitchFamily="49" charset="0"/>
              </a:rPr>
              <a:t>print("Adding a new column by passing as Series:")</a:t>
            </a:r>
          </a:p>
          <a:p>
            <a:r>
              <a:rPr lang="pt-BR" sz="1600" b="1" dirty="0">
                <a:latin typeface="Courier New" panose="02070309020205020404" pitchFamily="49" charset="0"/>
                <a:cs typeface="Courier New" panose="02070309020205020404" pitchFamily="49" charset="0"/>
              </a:rPr>
              <a:t>df[</a:t>
            </a:r>
            <a:r>
              <a:rPr lang="pt-BR" sz="1600" b="1" dirty="0">
                <a:solidFill>
                  <a:srgbClr val="718C00"/>
                </a:solidFill>
                <a:latin typeface="Courier New" panose="02070309020205020404" pitchFamily="49" charset="0"/>
                <a:cs typeface="Courier New" panose="02070309020205020404" pitchFamily="49" charset="0"/>
              </a:rPr>
              <a:t>'three'</a:t>
            </a:r>
            <a:r>
              <a:rPr lang="pt-BR" sz="1600" b="1" dirty="0">
                <a:latin typeface="Courier New" panose="02070309020205020404" pitchFamily="49" charset="0"/>
                <a:cs typeface="Courier New" panose="02070309020205020404" pitchFamily="49" charset="0"/>
              </a:rPr>
              <a:t>] = pd.Series([10,20,30],index=[</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'c'</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print(df)</a:t>
            </a:r>
          </a:p>
          <a:p>
            <a:endParaRPr lang="pt-BR" sz="1600" b="1" dirty="0">
              <a:latin typeface="Courier New" panose="02070309020205020404" pitchFamily="49" charset="0"/>
              <a:cs typeface="Courier New" panose="02070309020205020404" pitchFamily="49" charset="0"/>
            </a:endParaRPr>
          </a:p>
          <a:p>
            <a:r>
              <a:rPr lang="pt-BR" sz="1600" b="1" dirty="0">
                <a:latin typeface="Courier New" panose="02070309020205020404" pitchFamily="49" charset="0"/>
                <a:cs typeface="Courier New" panose="02070309020205020404" pitchFamily="49" charset="0"/>
              </a:rPr>
              <a:t>print("Adding a column using an existing columns in DataFrame:")</a:t>
            </a:r>
          </a:p>
          <a:p>
            <a:r>
              <a:rPr lang="pt-BR" sz="1600" b="1" dirty="0">
                <a:latin typeface="Courier New" panose="02070309020205020404" pitchFamily="49" charset="0"/>
                <a:cs typeface="Courier New" panose="02070309020205020404" pitchFamily="49" charset="0"/>
              </a:rPr>
              <a:t>df[</a:t>
            </a:r>
            <a:r>
              <a:rPr lang="pt-BR" sz="1600" b="1" dirty="0">
                <a:solidFill>
                  <a:srgbClr val="718C00"/>
                </a:solidFill>
                <a:latin typeface="Courier New" panose="02070309020205020404" pitchFamily="49" charset="0"/>
                <a:cs typeface="Courier New" panose="02070309020205020404" pitchFamily="49" charset="0"/>
              </a:rPr>
              <a:t>'four'</a:t>
            </a:r>
            <a:r>
              <a:rPr lang="pt-BR" sz="1600" b="1" dirty="0">
                <a:latin typeface="Courier New" panose="02070309020205020404" pitchFamily="49" charset="0"/>
                <a:cs typeface="Courier New" panose="02070309020205020404" pitchFamily="49" charset="0"/>
              </a:rPr>
              <a:t>] = df[</a:t>
            </a:r>
            <a:r>
              <a:rPr lang="pt-BR" sz="1600" b="1" dirty="0">
                <a:solidFill>
                  <a:srgbClr val="718C00"/>
                </a:solidFill>
                <a:latin typeface="Courier New" panose="02070309020205020404" pitchFamily="49" charset="0"/>
                <a:cs typeface="Courier New" panose="02070309020205020404" pitchFamily="49" charset="0"/>
              </a:rPr>
              <a:t>'one'</a:t>
            </a:r>
            <a:r>
              <a:rPr lang="pt-BR" sz="1600" b="1" dirty="0">
                <a:latin typeface="Courier New" panose="02070309020205020404" pitchFamily="49" charset="0"/>
                <a:cs typeface="Courier New" panose="02070309020205020404" pitchFamily="49" charset="0"/>
              </a:rPr>
              <a:t>]+df[</a:t>
            </a:r>
            <a:r>
              <a:rPr lang="pt-BR" sz="1600" b="1" dirty="0">
                <a:solidFill>
                  <a:srgbClr val="718C00"/>
                </a:solidFill>
                <a:latin typeface="Courier New" panose="02070309020205020404" pitchFamily="49" charset="0"/>
                <a:cs typeface="Courier New" panose="02070309020205020404" pitchFamily="49" charset="0"/>
              </a:rPr>
              <a:t>'three'</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print(df)</a:t>
            </a:r>
            <a:endParaRPr lang="en-US" sz="1600" b="1" dirty="0">
              <a:latin typeface="Courier New" panose="02070309020205020404" pitchFamily="49" charset="0"/>
              <a:cs typeface="Courier New" panose="02070309020205020404" pitchFamily="49" charset="0"/>
            </a:endParaRPr>
          </a:p>
        </p:txBody>
      </p:sp>
      <p:sp>
        <p:nvSpPr>
          <p:cNvPr id="5" name="Rectangle 4"/>
          <p:cNvSpPr/>
          <p:nvPr/>
        </p:nvSpPr>
        <p:spPr>
          <a:xfrm>
            <a:off x="8007927" y="1494692"/>
            <a:ext cx="3860800" cy="4770537"/>
          </a:xfrm>
          <a:prstGeom prst="rect">
            <a:avLst/>
          </a:prstGeom>
          <a:solidFill>
            <a:schemeClr val="accent3">
              <a:lumMod val="20000"/>
              <a:lumOff val="80000"/>
            </a:schemeClr>
          </a:solidFill>
          <a:ln>
            <a:solidFill>
              <a:schemeClr val="accent1"/>
            </a:solidFill>
          </a:ln>
        </p:spPr>
        <p:txBody>
          <a:bodyPr wrap="square" tIns="0" rIns="0" bIns="0">
            <a:spAutoFit/>
          </a:bodyPr>
          <a:lstStyle/>
          <a:p>
            <a:pPr>
              <a:lnSpc>
                <a:spcPct val="150000"/>
              </a:lnSpc>
            </a:pPr>
            <a:r>
              <a:rPr lang="en-US" sz="1600" u="sng" dirty="0">
                <a:latin typeface="Courier New" panose="02070309020205020404" pitchFamily="49" charset="0"/>
                <a:cs typeface="Courier New" panose="02070309020205020404" pitchFamily="49" charset="0"/>
              </a:rPr>
              <a:t>Adding a column using Series:</a:t>
            </a:r>
          </a:p>
          <a:p>
            <a:pPr>
              <a:lnSpc>
                <a:spcPct val="150000"/>
              </a:lnSpc>
            </a:pPr>
            <a:r>
              <a:rPr lang="en-US" sz="1600" dirty="0">
                <a:latin typeface="Courier New" panose="02070309020205020404" pitchFamily="49" charset="0"/>
                <a:cs typeface="Courier New" panose="02070309020205020404" pitchFamily="49" charset="0"/>
              </a:rPr>
              <a:t>   one  two  three</a:t>
            </a:r>
          </a:p>
          <a:p>
            <a:pPr>
              <a:lnSpc>
                <a:spcPct val="150000"/>
              </a:lnSpc>
            </a:pPr>
            <a:r>
              <a:rPr lang="en-US" sz="1600" dirty="0">
                <a:latin typeface="Courier New" panose="02070309020205020404" pitchFamily="49" charset="0"/>
                <a:cs typeface="Courier New" panose="02070309020205020404" pitchFamily="49" charset="0"/>
              </a:rPr>
              <a:t>a  1.0    1   10.0</a:t>
            </a:r>
          </a:p>
          <a:p>
            <a:pPr>
              <a:lnSpc>
                <a:spcPct val="150000"/>
              </a:lnSpc>
            </a:pPr>
            <a:r>
              <a:rPr lang="en-US" sz="1600" dirty="0">
                <a:latin typeface="Courier New" panose="02070309020205020404" pitchFamily="49" charset="0"/>
                <a:cs typeface="Courier New" panose="02070309020205020404" pitchFamily="49" charset="0"/>
              </a:rPr>
              <a:t>b  2.0    2   20.0</a:t>
            </a:r>
          </a:p>
          <a:p>
            <a:pPr>
              <a:lnSpc>
                <a:spcPct val="150000"/>
              </a:lnSpc>
            </a:pPr>
            <a:r>
              <a:rPr lang="en-US" sz="1600" dirty="0">
                <a:latin typeface="Courier New" panose="02070309020205020404" pitchFamily="49" charset="0"/>
                <a:cs typeface="Courier New" panose="02070309020205020404" pitchFamily="49" charset="0"/>
              </a:rPr>
              <a:t>c  3.0    3   30.0</a:t>
            </a:r>
          </a:p>
          <a:p>
            <a:pPr>
              <a:lnSpc>
                <a:spcPct val="150000"/>
              </a:lnSpc>
            </a:pPr>
            <a:r>
              <a:rPr lang="en-US" sz="1600" dirty="0">
                <a:latin typeface="Courier New" panose="02070309020205020404" pitchFamily="49" charset="0"/>
                <a:cs typeface="Courier New" panose="02070309020205020404" pitchFamily="49" charset="0"/>
              </a:rPr>
              <a:t>d  </a:t>
            </a:r>
            <a:r>
              <a:rPr lang="en-US" sz="1600" dirty="0" err="1">
                <a:latin typeface="Courier New" panose="02070309020205020404" pitchFamily="49" charset="0"/>
                <a:cs typeface="Courier New" panose="02070309020205020404" pitchFamily="49" charset="0"/>
              </a:rPr>
              <a:t>NaN</a:t>
            </a:r>
            <a:r>
              <a:rPr lang="en-US" sz="1600" dirty="0">
                <a:latin typeface="Courier New" panose="02070309020205020404" pitchFamily="49" charset="0"/>
                <a:cs typeface="Courier New" panose="02070309020205020404" pitchFamily="49" charset="0"/>
              </a:rPr>
              <a:t>    4    </a:t>
            </a:r>
            <a:r>
              <a:rPr lang="en-US" sz="1600" dirty="0" err="1">
                <a:latin typeface="Courier New" panose="02070309020205020404" pitchFamily="49" charset="0"/>
                <a:cs typeface="Courier New" panose="02070309020205020404" pitchFamily="49" charset="0"/>
              </a:rPr>
              <a:t>NaN</a:t>
            </a:r>
            <a:endParaRPr lang="en-US" sz="1600" dirty="0">
              <a:latin typeface="Courier New" panose="02070309020205020404" pitchFamily="49" charset="0"/>
              <a:cs typeface="Courier New" panose="02070309020205020404" pitchFamily="49" charset="0"/>
            </a:endParaRPr>
          </a:p>
          <a:p>
            <a:pPr>
              <a:lnSpc>
                <a:spcPct val="150000"/>
              </a:lnSpc>
            </a:pPr>
            <a:endParaRPr lang="en-US" sz="1600" u="sng" dirty="0">
              <a:latin typeface="Courier New" panose="02070309020205020404" pitchFamily="49" charset="0"/>
              <a:cs typeface="Courier New" panose="02070309020205020404" pitchFamily="49" charset="0"/>
            </a:endParaRPr>
          </a:p>
          <a:p>
            <a:pPr>
              <a:lnSpc>
                <a:spcPct val="150000"/>
              </a:lnSpc>
            </a:pPr>
            <a:r>
              <a:rPr lang="en-US" sz="1600" u="sng" dirty="0">
                <a:latin typeface="Courier New" panose="02070309020205020404" pitchFamily="49" charset="0"/>
                <a:cs typeface="Courier New" panose="02070309020205020404" pitchFamily="49" charset="0"/>
              </a:rPr>
              <a:t>Adding a column using columns:</a:t>
            </a:r>
          </a:p>
          <a:p>
            <a:pPr>
              <a:lnSpc>
                <a:spcPct val="150000"/>
              </a:lnSpc>
            </a:pPr>
            <a:r>
              <a:rPr lang="en-US" sz="1600" dirty="0">
                <a:latin typeface="Courier New" panose="02070309020205020404" pitchFamily="49" charset="0"/>
                <a:cs typeface="Courier New" panose="02070309020205020404" pitchFamily="49" charset="0"/>
              </a:rPr>
              <a:t>   one  two  three  four</a:t>
            </a:r>
          </a:p>
          <a:p>
            <a:pPr>
              <a:lnSpc>
                <a:spcPct val="150000"/>
              </a:lnSpc>
            </a:pPr>
            <a:r>
              <a:rPr lang="en-US" sz="1600" dirty="0">
                <a:latin typeface="Courier New" panose="02070309020205020404" pitchFamily="49" charset="0"/>
                <a:cs typeface="Courier New" panose="02070309020205020404" pitchFamily="49" charset="0"/>
              </a:rPr>
              <a:t>a  1.0    1   10.0  11.0</a:t>
            </a:r>
          </a:p>
          <a:p>
            <a:pPr>
              <a:lnSpc>
                <a:spcPct val="150000"/>
              </a:lnSpc>
            </a:pPr>
            <a:r>
              <a:rPr lang="en-US" sz="1600" dirty="0">
                <a:latin typeface="Courier New" panose="02070309020205020404" pitchFamily="49" charset="0"/>
                <a:cs typeface="Courier New" panose="02070309020205020404" pitchFamily="49" charset="0"/>
              </a:rPr>
              <a:t>b  2.0    2   20.0  22.0</a:t>
            </a:r>
          </a:p>
          <a:p>
            <a:pPr>
              <a:lnSpc>
                <a:spcPct val="150000"/>
              </a:lnSpc>
            </a:pPr>
            <a:r>
              <a:rPr lang="en-US" sz="1600" dirty="0">
                <a:latin typeface="Courier New" panose="02070309020205020404" pitchFamily="49" charset="0"/>
                <a:cs typeface="Courier New" panose="02070309020205020404" pitchFamily="49" charset="0"/>
              </a:rPr>
              <a:t>c  3.0    3   30.0  33.0</a:t>
            </a:r>
          </a:p>
          <a:p>
            <a:pPr>
              <a:lnSpc>
                <a:spcPct val="150000"/>
              </a:lnSpc>
            </a:pPr>
            <a:r>
              <a:rPr lang="en-US" sz="1600" dirty="0">
                <a:latin typeface="Courier New" panose="02070309020205020404" pitchFamily="49" charset="0"/>
                <a:cs typeface="Courier New" panose="02070309020205020404" pitchFamily="49" charset="0"/>
              </a:rPr>
              <a:t>d  </a:t>
            </a:r>
            <a:r>
              <a:rPr lang="en-US" sz="1600" dirty="0" err="1">
                <a:latin typeface="Courier New" panose="02070309020205020404" pitchFamily="49" charset="0"/>
                <a:cs typeface="Courier New" panose="02070309020205020404" pitchFamily="49" charset="0"/>
              </a:rPr>
              <a:t>NaN</a:t>
            </a:r>
            <a:r>
              <a:rPr lang="en-US" sz="1600" dirty="0">
                <a:latin typeface="Courier New" panose="02070309020205020404" pitchFamily="49" charset="0"/>
                <a:cs typeface="Courier New" panose="02070309020205020404" pitchFamily="49" charset="0"/>
              </a:rPr>
              <a:t>    4    </a:t>
            </a:r>
            <a:r>
              <a:rPr lang="en-US" sz="1600" dirty="0" err="1">
                <a:latin typeface="Courier New" panose="02070309020205020404" pitchFamily="49" charset="0"/>
                <a:cs typeface="Courier New" panose="02070309020205020404" pitchFamily="49" charset="0"/>
              </a:rPr>
              <a:t>NaN</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NaN</a:t>
            </a:r>
            <a:endParaRPr lang="en-US"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74924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909" y="133523"/>
            <a:ext cx="10515600" cy="1085678"/>
          </a:xfrm>
        </p:spPr>
        <p:txBody>
          <a:bodyPr/>
          <a:lstStyle/>
          <a:p>
            <a:r>
              <a:rPr lang="en-US" b="1" dirty="0"/>
              <a:t>More Examples: Column Deletion</a:t>
            </a:r>
          </a:p>
        </p:txBody>
      </p:sp>
      <p:sp>
        <p:nvSpPr>
          <p:cNvPr id="4" name="Rectangle 3"/>
          <p:cNvSpPr/>
          <p:nvPr/>
        </p:nvSpPr>
        <p:spPr>
          <a:xfrm>
            <a:off x="145473" y="1459085"/>
            <a:ext cx="8388927" cy="5016758"/>
          </a:xfrm>
          <a:prstGeom prst="rect">
            <a:avLst/>
          </a:prstGeom>
          <a:solidFill>
            <a:schemeClr val="accent4">
              <a:lumMod val="20000"/>
              <a:lumOff val="80000"/>
            </a:schemeClr>
          </a:solidFill>
          <a:ln>
            <a:solidFill>
              <a:schemeClr val="accent1"/>
            </a:solidFill>
          </a:ln>
        </p:spPr>
        <p:txBody>
          <a:bodyPr wrap="square">
            <a:spAutoFit/>
          </a:bodyPr>
          <a:lstStyle/>
          <a:p>
            <a:r>
              <a:rPr lang="pt-BR" sz="1600" b="1" dirty="0">
                <a:solidFill>
                  <a:srgbClr val="00B050"/>
                </a:solidFill>
                <a:latin typeface="Courier New" panose="02070309020205020404" pitchFamily="49" charset="0"/>
                <a:cs typeface="Courier New" panose="02070309020205020404" pitchFamily="49" charset="0"/>
              </a:rPr>
              <a:t># Using the previous DataFrame, we will delete a column</a:t>
            </a:r>
          </a:p>
          <a:p>
            <a:r>
              <a:rPr lang="pt-BR" sz="1600" b="1" dirty="0">
                <a:solidFill>
                  <a:srgbClr val="00B050"/>
                </a:solidFill>
                <a:latin typeface="Courier New" panose="02070309020205020404" pitchFamily="49" charset="0"/>
                <a:cs typeface="Courier New" panose="02070309020205020404" pitchFamily="49" charset="0"/>
              </a:rPr>
              <a:t># using del function</a:t>
            </a:r>
          </a:p>
          <a:p>
            <a:r>
              <a:rPr lang="pt-BR" sz="1600" b="1" dirty="0">
                <a:solidFill>
                  <a:srgbClr val="FF9900"/>
                </a:solidFill>
                <a:latin typeface="Courier New" panose="02070309020205020404" pitchFamily="49" charset="0"/>
                <a:cs typeface="Courier New" panose="02070309020205020404" pitchFamily="49" charset="0"/>
              </a:rPr>
              <a:t>import</a:t>
            </a:r>
            <a:r>
              <a:rPr lang="pt-BR" sz="1600" b="1" dirty="0">
                <a:latin typeface="Courier New" panose="02070309020205020404" pitchFamily="49" charset="0"/>
                <a:cs typeface="Courier New" panose="02070309020205020404" pitchFamily="49" charset="0"/>
              </a:rPr>
              <a:t> pandas </a:t>
            </a:r>
            <a:r>
              <a:rPr lang="pt-BR" sz="1600" b="1" dirty="0">
                <a:solidFill>
                  <a:srgbClr val="FF9900"/>
                </a:solidFill>
                <a:latin typeface="Courier New" panose="02070309020205020404" pitchFamily="49" charset="0"/>
                <a:cs typeface="Courier New" panose="02070309020205020404" pitchFamily="49" charset="0"/>
              </a:rPr>
              <a:t>as</a:t>
            </a:r>
            <a:r>
              <a:rPr lang="pt-BR" sz="1600" b="1" dirty="0">
                <a:latin typeface="Courier New" panose="02070309020205020404" pitchFamily="49" charset="0"/>
                <a:cs typeface="Courier New" panose="02070309020205020404" pitchFamily="49" charset="0"/>
              </a:rPr>
              <a:t> pd</a:t>
            </a:r>
          </a:p>
          <a:p>
            <a:r>
              <a:rPr lang="pt-BR" sz="1600" b="1" dirty="0">
                <a:latin typeface="Courier New" panose="02070309020205020404" pitchFamily="49" charset="0"/>
                <a:cs typeface="Courier New" panose="02070309020205020404" pitchFamily="49" charset="0"/>
              </a:rPr>
              <a:t>d = {</a:t>
            </a:r>
            <a:r>
              <a:rPr lang="pt-BR" sz="1600" b="1" dirty="0">
                <a:solidFill>
                  <a:srgbClr val="718C00"/>
                </a:solidFill>
                <a:latin typeface="Courier New" panose="02070309020205020404" pitchFamily="49" charset="0"/>
                <a:cs typeface="Courier New" panose="02070309020205020404" pitchFamily="49" charset="0"/>
              </a:rPr>
              <a:t>'one'</a:t>
            </a:r>
            <a:r>
              <a:rPr lang="pt-BR" sz="1600" b="1" dirty="0">
                <a:latin typeface="Courier New" panose="02070309020205020404" pitchFamily="49" charset="0"/>
                <a:cs typeface="Courier New" panose="02070309020205020404" pitchFamily="49" charset="0"/>
              </a:rPr>
              <a:t>   : pd.Series([1, 2, 3],    index=[</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'two'</a:t>
            </a:r>
            <a:r>
              <a:rPr lang="pt-BR" sz="1600" b="1" dirty="0">
                <a:latin typeface="Courier New" panose="02070309020205020404" pitchFamily="49" charset="0"/>
                <a:cs typeface="Courier New" panose="02070309020205020404" pitchFamily="49" charset="0"/>
              </a:rPr>
              <a:t>   : pd.Series([1, 2, 3, 4], index=[</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'd'</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'three'</a:t>
            </a:r>
            <a:r>
              <a:rPr lang="pt-BR" sz="1600" b="1" dirty="0">
                <a:latin typeface="Courier New" panose="02070309020205020404" pitchFamily="49" charset="0"/>
                <a:cs typeface="Courier New" panose="02070309020205020404" pitchFamily="49" charset="0"/>
              </a:rPr>
              <a:t> : pd.Series([10,20,30],   index=[</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'c'</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    }</a:t>
            </a:r>
          </a:p>
          <a:p>
            <a:r>
              <a:rPr lang="pt-BR" sz="1600" b="1" dirty="0">
                <a:latin typeface="Courier New" panose="02070309020205020404" pitchFamily="49" charset="0"/>
                <a:cs typeface="Courier New" panose="02070309020205020404" pitchFamily="49" charset="0"/>
              </a:rPr>
              <a:t>df = pd.DataFrame(d)</a:t>
            </a:r>
          </a:p>
          <a:p>
            <a:r>
              <a:rPr lang="en-US" sz="1600" b="1" dirty="0">
                <a:latin typeface="Courier New" panose="02070309020205020404" pitchFamily="49" charset="0"/>
                <a:cs typeface="Courier New" panose="02070309020205020404" pitchFamily="49" charset="0"/>
              </a:rPr>
              <a:t>print ("Our </a:t>
            </a:r>
            <a:r>
              <a:rPr lang="en-US" sz="1600" b="1" dirty="0" err="1">
                <a:latin typeface="Courier New" panose="02070309020205020404" pitchFamily="49" charset="0"/>
                <a:cs typeface="Courier New" panose="02070309020205020404" pitchFamily="49" charset="0"/>
              </a:rPr>
              <a:t>dataframe</a:t>
            </a:r>
            <a:r>
              <a:rPr lang="en-US" sz="1600" b="1" dirty="0">
                <a:latin typeface="Courier New" panose="02070309020205020404" pitchFamily="49" charset="0"/>
                <a:cs typeface="Courier New" panose="02070309020205020404" pitchFamily="49" charset="0"/>
              </a:rPr>
              <a:t> is:")</a:t>
            </a:r>
          </a:p>
          <a:p>
            <a:r>
              <a:rPr lang="pt-BR" sz="1600" b="1" dirty="0">
                <a:latin typeface="Courier New" panose="02070309020205020404" pitchFamily="49" charset="0"/>
                <a:cs typeface="Courier New" panose="02070309020205020404" pitchFamily="49" charset="0"/>
              </a:rPr>
              <a:t>print(df)</a:t>
            </a:r>
          </a:p>
          <a:p>
            <a:endParaRPr lang="en-US" sz="1600" b="1" dirty="0">
              <a:solidFill>
                <a:srgbClr val="00B050"/>
              </a:solidFill>
              <a:latin typeface="Courier New" panose="02070309020205020404" pitchFamily="49" charset="0"/>
              <a:cs typeface="Courier New" panose="02070309020205020404" pitchFamily="49" charset="0"/>
            </a:endParaRPr>
          </a:p>
          <a:p>
            <a:r>
              <a:rPr lang="en-US" sz="1600" b="1" dirty="0">
                <a:solidFill>
                  <a:srgbClr val="00B050"/>
                </a:solidFill>
                <a:latin typeface="Courier New" panose="02070309020205020404" pitchFamily="49" charset="0"/>
                <a:cs typeface="Courier New" panose="02070309020205020404" pitchFamily="49" charset="0"/>
              </a:rPr>
              <a:t># using del function</a:t>
            </a:r>
          </a:p>
          <a:p>
            <a:r>
              <a:rPr lang="en-US" sz="1600" b="1" dirty="0">
                <a:latin typeface="Courier New" panose="02070309020205020404" pitchFamily="49" charset="0"/>
                <a:cs typeface="Courier New" panose="02070309020205020404" pitchFamily="49" charset="0"/>
              </a:rPr>
              <a:t>print("Deleting the first column using DEL function:")</a:t>
            </a:r>
          </a:p>
          <a:p>
            <a:r>
              <a:rPr lang="en-US" sz="1600" b="1" dirty="0">
                <a:latin typeface="Courier New" panose="02070309020205020404" pitchFamily="49" charset="0"/>
                <a:cs typeface="Courier New" panose="02070309020205020404" pitchFamily="49" charset="0"/>
              </a:rPr>
              <a:t>del </a:t>
            </a:r>
            <a:r>
              <a:rPr lang="en-US" sz="1600" b="1" dirty="0" err="1">
                <a:latin typeface="Courier New" panose="02070309020205020404" pitchFamily="49" charset="0"/>
                <a:cs typeface="Courier New" panose="02070309020205020404" pitchFamily="49" charset="0"/>
              </a:rPr>
              <a:t>df</a:t>
            </a:r>
            <a:r>
              <a:rPr lang="en-US" sz="1600" b="1" dirty="0">
                <a:latin typeface="Courier New" panose="02070309020205020404" pitchFamily="49" charset="0"/>
                <a:cs typeface="Courier New" panose="02070309020205020404" pitchFamily="49" charset="0"/>
              </a:rPr>
              <a:t>[</a:t>
            </a:r>
            <a:r>
              <a:rPr lang="en-US" sz="1600" b="1" dirty="0">
                <a:solidFill>
                  <a:srgbClr val="718C00"/>
                </a:solidFill>
                <a:latin typeface="Courier New" panose="02070309020205020404" pitchFamily="49" charset="0"/>
                <a:cs typeface="Courier New" panose="02070309020205020404" pitchFamily="49" charset="0"/>
              </a:rPr>
              <a:t>'one'</a:t>
            </a:r>
            <a:r>
              <a:rPr lang="en-US"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print(df)</a:t>
            </a:r>
          </a:p>
          <a:p>
            <a:endParaRPr lang="en-US" sz="1600" b="1" dirty="0">
              <a:solidFill>
                <a:srgbClr val="00B050"/>
              </a:solidFill>
              <a:latin typeface="Courier New" panose="02070309020205020404" pitchFamily="49" charset="0"/>
              <a:cs typeface="Courier New" panose="02070309020205020404" pitchFamily="49" charset="0"/>
            </a:endParaRPr>
          </a:p>
          <a:p>
            <a:r>
              <a:rPr lang="en-US" sz="1600" b="1" dirty="0">
                <a:solidFill>
                  <a:srgbClr val="00B050"/>
                </a:solidFill>
                <a:latin typeface="Courier New" panose="02070309020205020404" pitchFamily="49" charset="0"/>
                <a:cs typeface="Courier New" panose="02070309020205020404" pitchFamily="49" charset="0"/>
              </a:rPr>
              <a:t># using pop function</a:t>
            </a:r>
          </a:p>
          <a:p>
            <a:r>
              <a:rPr lang="en-US" sz="1600" b="1" dirty="0">
                <a:latin typeface="Courier New" panose="02070309020205020404" pitchFamily="49" charset="0"/>
                <a:cs typeface="Courier New" panose="02070309020205020404" pitchFamily="49" charset="0"/>
              </a:rPr>
              <a:t>print("Deleting another column using POP function:")</a:t>
            </a:r>
          </a:p>
          <a:p>
            <a:r>
              <a:rPr lang="en-US" sz="1600" b="1" dirty="0" err="1">
                <a:latin typeface="Courier New" panose="02070309020205020404" pitchFamily="49" charset="0"/>
                <a:cs typeface="Courier New" panose="02070309020205020404" pitchFamily="49" charset="0"/>
              </a:rPr>
              <a:t>df.pop</a:t>
            </a:r>
            <a:r>
              <a:rPr lang="en-US" sz="1600" b="1" dirty="0">
                <a:latin typeface="Courier New" panose="02070309020205020404" pitchFamily="49" charset="0"/>
                <a:cs typeface="Courier New" panose="02070309020205020404" pitchFamily="49" charset="0"/>
              </a:rPr>
              <a:t>(</a:t>
            </a:r>
            <a:r>
              <a:rPr lang="en-US" sz="1600" b="1" dirty="0">
                <a:solidFill>
                  <a:srgbClr val="718C00"/>
                </a:solidFill>
                <a:latin typeface="Courier New" panose="02070309020205020404" pitchFamily="49" charset="0"/>
                <a:cs typeface="Courier New" panose="02070309020205020404" pitchFamily="49" charset="0"/>
              </a:rPr>
              <a:t>'two'</a:t>
            </a:r>
            <a:r>
              <a:rPr lang="en-US"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print(df)</a:t>
            </a:r>
          </a:p>
        </p:txBody>
      </p:sp>
      <p:sp>
        <p:nvSpPr>
          <p:cNvPr id="5" name="Rectangle 4"/>
          <p:cNvSpPr/>
          <p:nvPr/>
        </p:nvSpPr>
        <p:spPr>
          <a:xfrm>
            <a:off x="8719127" y="2029206"/>
            <a:ext cx="3373582" cy="4678204"/>
          </a:xfrm>
          <a:prstGeom prst="rect">
            <a:avLst/>
          </a:prstGeom>
          <a:solidFill>
            <a:schemeClr val="accent3">
              <a:lumMod val="20000"/>
              <a:lumOff val="80000"/>
            </a:schemeClr>
          </a:solidFill>
          <a:ln>
            <a:solidFill>
              <a:schemeClr val="accent1"/>
            </a:solidFill>
          </a:ln>
        </p:spPr>
        <p:txBody>
          <a:bodyPr wrap="square" tIns="0" rIns="0" bIns="0">
            <a:spAutoFit/>
          </a:bodyPr>
          <a:lstStyle/>
          <a:p>
            <a:r>
              <a:rPr lang="en-US" sz="1600" u="sng" dirty="0">
                <a:latin typeface="Courier New" panose="02070309020205020404" pitchFamily="49" charset="0"/>
                <a:cs typeface="Courier New" panose="02070309020205020404" pitchFamily="49" charset="0"/>
              </a:rPr>
              <a:t>Our </a:t>
            </a:r>
            <a:r>
              <a:rPr lang="en-US" sz="1600" u="sng" dirty="0" err="1">
                <a:latin typeface="Courier New" panose="02070309020205020404" pitchFamily="49" charset="0"/>
                <a:cs typeface="Courier New" panose="02070309020205020404" pitchFamily="49" charset="0"/>
              </a:rPr>
              <a:t>dataframe</a:t>
            </a:r>
            <a:r>
              <a:rPr lang="en-US" sz="1600" u="sng" dirty="0">
                <a:latin typeface="Courier New" panose="02070309020205020404" pitchFamily="49" charset="0"/>
                <a:cs typeface="Courier New" panose="02070309020205020404" pitchFamily="49" charset="0"/>
              </a:rPr>
              <a:t> is:</a:t>
            </a:r>
          </a:p>
          <a:p>
            <a:r>
              <a:rPr lang="en-US" sz="1600" dirty="0">
                <a:latin typeface="Courier New" panose="02070309020205020404" pitchFamily="49" charset="0"/>
                <a:cs typeface="Courier New" panose="02070309020205020404" pitchFamily="49" charset="0"/>
              </a:rPr>
              <a:t>   one  two  three</a:t>
            </a:r>
          </a:p>
          <a:p>
            <a:r>
              <a:rPr lang="en-US" sz="1600" dirty="0">
                <a:latin typeface="Courier New" panose="02070309020205020404" pitchFamily="49" charset="0"/>
                <a:cs typeface="Courier New" panose="02070309020205020404" pitchFamily="49" charset="0"/>
              </a:rPr>
              <a:t>a  1.0    1   10.0</a:t>
            </a:r>
          </a:p>
          <a:p>
            <a:r>
              <a:rPr lang="en-US" sz="1600" dirty="0">
                <a:latin typeface="Courier New" panose="02070309020205020404" pitchFamily="49" charset="0"/>
                <a:cs typeface="Courier New" panose="02070309020205020404" pitchFamily="49" charset="0"/>
              </a:rPr>
              <a:t>b  2.0    2   20.0</a:t>
            </a:r>
          </a:p>
          <a:p>
            <a:r>
              <a:rPr lang="en-US" sz="1600" dirty="0">
                <a:latin typeface="Courier New" panose="02070309020205020404" pitchFamily="49" charset="0"/>
                <a:cs typeface="Courier New" panose="02070309020205020404" pitchFamily="49" charset="0"/>
              </a:rPr>
              <a:t>c  3.0    3   30.0</a:t>
            </a:r>
          </a:p>
          <a:p>
            <a:r>
              <a:rPr lang="en-US" sz="1600" dirty="0">
                <a:latin typeface="Courier New" panose="02070309020205020404" pitchFamily="49" charset="0"/>
                <a:cs typeface="Courier New" panose="02070309020205020404" pitchFamily="49" charset="0"/>
              </a:rPr>
              <a:t>d  </a:t>
            </a:r>
            <a:r>
              <a:rPr lang="en-US" sz="1600" dirty="0" err="1">
                <a:latin typeface="Courier New" panose="02070309020205020404" pitchFamily="49" charset="0"/>
                <a:cs typeface="Courier New" panose="02070309020205020404" pitchFamily="49" charset="0"/>
              </a:rPr>
              <a:t>NaN</a:t>
            </a:r>
            <a:r>
              <a:rPr lang="en-US" sz="1600" dirty="0">
                <a:latin typeface="Courier New" panose="02070309020205020404" pitchFamily="49" charset="0"/>
                <a:cs typeface="Courier New" panose="02070309020205020404" pitchFamily="49" charset="0"/>
              </a:rPr>
              <a:t>    4    </a:t>
            </a:r>
            <a:r>
              <a:rPr lang="en-US" sz="1600" dirty="0" err="1">
                <a:latin typeface="Courier New" panose="02070309020205020404" pitchFamily="49" charset="0"/>
                <a:cs typeface="Courier New" panose="02070309020205020404" pitchFamily="49" charset="0"/>
              </a:rPr>
              <a:t>NaN</a:t>
            </a:r>
            <a:endParaRPr lang="en-US" sz="1600" dirty="0">
              <a:latin typeface="Courier New" panose="02070309020205020404" pitchFamily="49" charset="0"/>
              <a:cs typeface="Courier New" panose="02070309020205020404" pitchFamily="49" charset="0"/>
            </a:endParaRPr>
          </a:p>
          <a:p>
            <a:endParaRPr lang="en-US" sz="1600" dirty="0">
              <a:latin typeface="Courier New" panose="02070309020205020404" pitchFamily="49" charset="0"/>
              <a:cs typeface="Courier New" panose="02070309020205020404" pitchFamily="49" charset="0"/>
            </a:endParaRPr>
          </a:p>
          <a:p>
            <a:r>
              <a:rPr lang="en-US" sz="1600" u="sng" dirty="0">
                <a:latin typeface="Courier New" panose="02070309020205020404" pitchFamily="49" charset="0"/>
                <a:cs typeface="Courier New" panose="02070309020205020404" pitchFamily="49" charset="0"/>
              </a:rPr>
              <a:t>Deleting the first column:</a:t>
            </a:r>
          </a:p>
          <a:p>
            <a:r>
              <a:rPr lang="en-US" sz="1600" dirty="0">
                <a:latin typeface="Courier New" panose="02070309020205020404" pitchFamily="49" charset="0"/>
                <a:cs typeface="Courier New" panose="02070309020205020404" pitchFamily="49" charset="0"/>
              </a:rPr>
              <a:t>    two  three</a:t>
            </a:r>
          </a:p>
          <a:p>
            <a:r>
              <a:rPr lang="en-US" sz="1600" dirty="0">
                <a:latin typeface="Courier New" panose="02070309020205020404" pitchFamily="49" charset="0"/>
                <a:cs typeface="Courier New" panose="02070309020205020404" pitchFamily="49" charset="0"/>
              </a:rPr>
              <a:t>a    1   10.0</a:t>
            </a:r>
          </a:p>
          <a:p>
            <a:r>
              <a:rPr lang="en-US" sz="1600" dirty="0">
                <a:latin typeface="Courier New" panose="02070309020205020404" pitchFamily="49" charset="0"/>
                <a:cs typeface="Courier New" panose="02070309020205020404" pitchFamily="49" charset="0"/>
              </a:rPr>
              <a:t>b    2   20.0</a:t>
            </a:r>
          </a:p>
          <a:p>
            <a:r>
              <a:rPr lang="en-US" sz="1600" dirty="0">
                <a:latin typeface="Courier New" panose="02070309020205020404" pitchFamily="49" charset="0"/>
                <a:cs typeface="Courier New" panose="02070309020205020404" pitchFamily="49" charset="0"/>
              </a:rPr>
              <a:t>c    3   30.0</a:t>
            </a:r>
          </a:p>
          <a:p>
            <a:r>
              <a:rPr lang="en-US" sz="1600" dirty="0">
                <a:latin typeface="Courier New" panose="02070309020205020404" pitchFamily="49" charset="0"/>
                <a:cs typeface="Courier New" panose="02070309020205020404" pitchFamily="49" charset="0"/>
              </a:rPr>
              <a:t>d    4    </a:t>
            </a:r>
            <a:r>
              <a:rPr lang="en-US" sz="1600" dirty="0" err="1">
                <a:latin typeface="Courier New" panose="02070309020205020404" pitchFamily="49" charset="0"/>
                <a:cs typeface="Courier New" panose="02070309020205020404" pitchFamily="49" charset="0"/>
              </a:rPr>
              <a:t>NaN</a:t>
            </a:r>
            <a:endParaRPr lang="en-US" sz="1600" dirty="0">
              <a:latin typeface="Courier New" panose="02070309020205020404" pitchFamily="49" charset="0"/>
              <a:cs typeface="Courier New" panose="02070309020205020404" pitchFamily="49" charset="0"/>
            </a:endParaRPr>
          </a:p>
          <a:p>
            <a:endParaRPr lang="en-US" sz="1600" dirty="0">
              <a:latin typeface="Courier New" panose="02070309020205020404" pitchFamily="49" charset="0"/>
              <a:cs typeface="Courier New" panose="02070309020205020404" pitchFamily="49" charset="0"/>
            </a:endParaRPr>
          </a:p>
          <a:p>
            <a:r>
              <a:rPr lang="en-US" sz="1600" u="sng" dirty="0">
                <a:latin typeface="Courier New" panose="02070309020205020404" pitchFamily="49" charset="0"/>
                <a:cs typeface="Courier New" panose="02070309020205020404" pitchFamily="49" charset="0"/>
              </a:rPr>
              <a:t>Deleting another column:</a:t>
            </a:r>
          </a:p>
          <a:p>
            <a:r>
              <a:rPr lang="en-US" sz="1600" dirty="0">
                <a:latin typeface="Courier New" panose="02070309020205020404" pitchFamily="49" charset="0"/>
                <a:cs typeface="Courier New" panose="02070309020205020404" pitchFamily="49" charset="0"/>
              </a:rPr>
              <a:t>a   10.0</a:t>
            </a:r>
          </a:p>
          <a:p>
            <a:r>
              <a:rPr lang="en-US" sz="1600" dirty="0">
                <a:latin typeface="Courier New" panose="02070309020205020404" pitchFamily="49" charset="0"/>
                <a:cs typeface="Courier New" panose="02070309020205020404" pitchFamily="49" charset="0"/>
              </a:rPr>
              <a:t>b   20.0</a:t>
            </a:r>
          </a:p>
          <a:p>
            <a:r>
              <a:rPr lang="en-US" sz="1600" dirty="0">
                <a:latin typeface="Courier New" panose="02070309020205020404" pitchFamily="49" charset="0"/>
                <a:cs typeface="Courier New" panose="02070309020205020404" pitchFamily="49" charset="0"/>
              </a:rPr>
              <a:t>c   30.0</a:t>
            </a:r>
          </a:p>
          <a:p>
            <a:r>
              <a:rPr lang="en-US" sz="1600" dirty="0">
                <a:latin typeface="Courier New" panose="02070309020205020404" pitchFamily="49" charset="0"/>
                <a:cs typeface="Courier New" panose="02070309020205020404" pitchFamily="49" charset="0"/>
              </a:rPr>
              <a:t>d    </a:t>
            </a:r>
            <a:r>
              <a:rPr lang="en-US" sz="1600" dirty="0" err="1">
                <a:latin typeface="Courier New" panose="02070309020205020404" pitchFamily="49" charset="0"/>
                <a:cs typeface="Courier New" panose="02070309020205020404" pitchFamily="49" charset="0"/>
              </a:rPr>
              <a:t>NaN</a:t>
            </a:r>
            <a:endParaRPr lang="en-US"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758419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Examples: </a:t>
            </a:r>
            <a:r>
              <a:rPr lang="en-US" b="1" dirty="0">
                <a:solidFill>
                  <a:srgbClr val="FF0000"/>
                </a:solidFill>
              </a:rPr>
              <a:t>Slicing</a:t>
            </a:r>
            <a:r>
              <a:rPr lang="en-US" b="1" dirty="0"/>
              <a:t> in </a:t>
            </a:r>
            <a:r>
              <a:rPr lang="en-US" b="1" dirty="0" err="1"/>
              <a:t>DataFrames</a:t>
            </a:r>
            <a:endParaRPr lang="en-US" b="1" dirty="0"/>
          </a:p>
        </p:txBody>
      </p:sp>
      <p:sp>
        <p:nvSpPr>
          <p:cNvPr id="4" name="Rectangle 3"/>
          <p:cNvSpPr/>
          <p:nvPr/>
        </p:nvSpPr>
        <p:spPr>
          <a:xfrm>
            <a:off x="764309" y="1843318"/>
            <a:ext cx="8601364" cy="1754326"/>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b="1"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b="1" dirty="0">
                <a:latin typeface="Courier New" panose="02070309020205020404" pitchFamily="49" charset="0"/>
                <a:cs typeface="Courier New" panose="02070309020205020404" pitchFamily="49" charset="0"/>
              </a:rPr>
              <a:t> pd</a:t>
            </a:r>
          </a:p>
          <a:p>
            <a:r>
              <a:rPr lang="pt-BR" b="1" dirty="0">
                <a:latin typeface="Courier New" panose="02070309020205020404" pitchFamily="49" charset="0"/>
                <a:cs typeface="Courier New" panose="02070309020205020404" pitchFamily="49" charset="0"/>
              </a:rPr>
              <a:t>d = {</a:t>
            </a:r>
            <a:r>
              <a:rPr lang="pt-BR" sz="1600" b="1" dirty="0">
                <a:solidFill>
                  <a:srgbClr val="718C00"/>
                </a:solidFill>
                <a:latin typeface="Courier New" panose="02070309020205020404" pitchFamily="49" charset="0"/>
                <a:cs typeface="Courier New" panose="02070309020205020404" pitchFamily="49" charset="0"/>
              </a:rPr>
              <a:t>'one'</a:t>
            </a:r>
            <a:r>
              <a:rPr lang="pt-BR" b="1" dirty="0">
                <a:latin typeface="Courier New" panose="02070309020205020404" pitchFamily="49" charset="0"/>
                <a:cs typeface="Courier New" panose="02070309020205020404" pitchFamily="49" charset="0"/>
              </a:rPr>
              <a:t> : pd.Series([1, 2, 3],    index=[</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a:t>
            </a:r>
          </a:p>
          <a:p>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'two'</a:t>
            </a:r>
            <a:r>
              <a:rPr lang="pt-BR" b="1" dirty="0">
                <a:latin typeface="Courier New" panose="02070309020205020404" pitchFamily="49" charset="0"/>
                <a:cs typeface="Courier New" panose="02070309020205020404" pitchFamily="49" charset="0"/>
              </a:rPr>
              <a:t> : pd.Series([1, 2, 3, 4], index=[</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'd'</a:t>
            </a:r>
            <a:r>
              <a:rPr lang="pt-BR" b="1" dirty="0">
                <a:latin typeface="Courier New" panose="02070309020205020404" pitchFamily="49" charset="0"/>
                <a:cs typeface="Courier New" panose="02070309020205020404" pitchFamily="49" charset="0"/>
              </a:rPr>
              <a:t>])</a:t>
            </a:r>
          </a:p>
          <a:p>
            <a:r>
              <a:rPr lang="pt-BR" b="1" dirty="0">
                <a:latin typeface="Courier New" panose="02070309020205020404" pitchFamily="49" charset="0"/>
                <a:cs typeface="Courier New" panose="02070309020205020404" pitchFamily="49" charset="0"/>
              </a:rPr>
              <a:t>    }</a:t>
            </a:r>
          </a:p>
          <a:p>
            <a:r>
              <a:rPr lang="pt-BR" b="1" dirty="0">
                <a:latin typeface="Courier New" panose="02070309020205020404" pitchFamily="49" charset="0"/>
                <a:cs typeface="Courier New" panose="02070309020205020404" pitchFamily="49" charset="0"/>
              </a:rPr>
              <a:t>df = pd.DataFrame(d)</a:t>
            </a:r>
          </a:p>
          <a:p>
            <a:r>
              <a:rPr lang="pt-BR" b="1" dirty="0">
                <a:latin typeface="Courier New" panose="02070309020205020404" pitchFamily="49" charset="0"/>
                <a:cs typeface="Courier New" panose="02070309020205020404" pitchFamily="49" charset="0"/>
              </a:rPr>
              <a:t>print(df[2:4])</a:t>
            </a:r>
            <a:endParaRPr lang="en-US" b="1" dirty="0">
              <a:latin typeface="Courier New" panose="02070309020205020404" pitchFamily="49" charset="0"/>
              <a:cs typeface="Courier New" panose="02070309020205020404" pitchFamily="49" charset="0"/>
            </a:endParaRPr>
          </a:p>
        </p:txBody>
      </p:sp>
      <p:sp>
        <p:nvSpPr>
          <p:cNvPr id="5" name="Rectangle 4"/>
          <p:cNvSpPr/>
          <p:nvPr/>
        </p:nvSpPr>
        <p:spPr>
          <a:xfrm>
            <a:off x="764309" y="4443002"/>
            <a:ext cx="2194230" cy="1246495"/>
          </a:xfrm>
          <a:prstGeom prst="rect">
            <a:avLst/>
          </a:prstGeom>
          <a:solidFill>
            <a:schemeClr val="accent3">
              <a:lumMod val="20000"/>
              <a:lumOff val="80000"/>
            </a:schemeClr>
          </a:solidFill>
          <a:ln>
            <a:solidFill>
              <a:schemeClr val="accent1"/>
            </a:solidFill>
          </a:ln>
        </p:spPr>
        <p:txBody>
          <a:bodyPr wrap="square" tIns="0" rIns="0" bIns="0">
            <a:spAutoFit/>
          </a:bodyPr>
          <a:lstStyle/>
          <a:p>
            <a:pPr>
              <a:lnSpc>
                <a:spcPct val="150000"/>
              </a:lnSpc>
            </a:pPr>
            <a:r>
              <a:rPr lang="en-US" b="1" dirty="0">
                <a:latin typeface="Courier New" panose="02070309020205020404" pitchFamily="49" charset="0"/>
                <a:cs typeface="Courier New" panose="02070309020205020404" pitchFamily="49" charset="0"/>
              </a:rPr>
              <a:t>   one    two</a:t>
            </a:r>
          </a:p>
          <a:p>
            <a:pPr>
              <a:lnSpc>
                <a:spcPct val="150000"/>
              </a:lnSpc>
            </a:pPr>
            <a:r>
              <a:rPr lang="en-US" b="1" dirty="0">
                <a:latin typeface="Courier New" panose="02070309020205020404" pitchFamily="49" charset="0"/>
                <a:cs typeface="Courier New" panose="02070309020205020404" pitchFamily="49" charset="0"/>
              </a:rPr>
              <a:t>c  3.0    3</a:t>
            </a:r>
          </a:p>
          <a:p>
            <a:pPr>
              <a:lnSpc>
                <a:spcPct val="150000"/>
              </a:lnSpc>
            </a:pPr>
            <a:r>
              <a:rPr lang="en-US" b="1" dirty="0">
                <a:latin typeface="Courier New" panose="02070309020205020404" pitchFamily="49" charset="0"/>
                <a:cs typeface="Courier New" panose="02070309020205020404" pitchFamily="49" charset="0"/>
              </a:rPr>
              <a:t>d  </a:t>
            </a:r>
            <a:r>
              <a:rPr lang="en-US" b="1" dirty="0" err="1">
                <a:latin typeface="Courier New" panose="02070309020205020404" pitchFamily="49" charset="0"/>
                <a:cs typeface="Courier New" panose="02070309020205020404" pitchFamily="49" charset="0"/>
              </a:rPr>
              <a:t>NaN</a:t>
            </a:r>
            <a:r>
              <a:rPr lang="en-US" b="1" dirty="0">
                <a:latin typeface="Courier New" panose="02070309020205020404" pitchFamily="49" charset="0"/>
                <a:cs typeface="Courier New" panose="02070309020205020404" pitchFamily="49" charset="0"/>
              </a:rPr>
              <a:t>    4</a:t>
            </a:r>
          </a:p>
        </p:txBody>
      </p:sp>
    </p:spTree>
    <p:extLst>
      <p:ext uri="{BB962C8B-B14F-4D97-AF65-F5344CB8AC3E}">
        <p14:creationId xmlns:p14="http://schemas.microsoft.com/office/powerpoint/2010/main" val="1228931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Examples: </a:t>
            </a:r>
            <a:r>
              <a:rPr lang="en-US" b="1" dirty="0">
                <a:solidFill>
                  <a:srgbClr val="FF0000"/>
                </a:solidFill>
              </a:rPr>
              <a:t>Addition</a:t>
            </a:r>
            <a:r>
              <a:rPr lang="en-US" b="1" dirty="0"/>
              <a:t> of rows</a:t>
            </a:r>
          </a:p>
        </p:txBody>
      </p:sp>
      <p:sp>
        <p:nvSpPr>
          <p:cNvPr id="4" name="Rectangle 3"/>
          <p:cNvSpPr/>
          <p:nvPr/>
        </p:nvSpPr>
        <p:spPr>
          <a:xfrm>
            <a:off x="293255" y="1483099"/>
            <a:ext cx="7927110" cy="2554545"/>
          </a:xfrm>
          <a:prstGeom prst="rect">
            <a:avLst/>
          </a:prstGeom>
          <a:solidFill>
            <a:schemeClr val="accent4">
              <a:lumMod val="20000"/>
              <a:lumOff val="80000"/>
            </a:schemeClr>
          </a:solidFill>
          <a:ln>
            <a:solidFill>
              <a:schemeClr val="accent1"/>
            </a:solidFill>
          </a:ln>
        </p:spPr>
        <p:txBody>
          <a:bodyPr wrap="square">
            <a:spAutoFit/>
          </a:bodyPr>
          <a:lstStyle/>
          <a:p>
            <a:r>
              <a:rPr lang="pt-BR" sz="1600" b="1" dirty="0">
                <a:solidFill>
                  <a:srgbClr val="FF9900"/>
                </a:solidFill>
                <a:latin typeface="Courier New" panose="02070309020205020404" pitchFamily="49" charset="0"/>
                <a:cs typeface="Courier New" panose="02070309020205020404" pitchFamily="49" charset="0"/>
              </a:rPr>
              <a:t>import</a:t>
            </a:r>
            <a:r>
              <a:rPr lang="pt-BR" sz="1600" b="1" dirty="0">
                <a:latin typeface="Courier New" panose="02070309020205020404" pitchFamily="49" charset="0"/>
                <a:cs typeface="Courier New" panose="02070309020205020404" pitchFamily="49" charset="0"/>
              </a:rPr>
              <a:t> pandas </a:t>
            </a:r>
            <a:r>
              <a:rPr lang="pt-BR" sz="1600" b="1" dirty="0">
                <a:solidFill>
                  <a:srgbClr val="FF9900"/>
                </a:solidFill>
                <a:latin typeface="Courier New" panose="02070309020205020404" pitchFamily="49" charset="0"/>
                <a:cs typeface="Courier New" panose="02070309020205020404" pitchFamily="49" charset="0"/>
              </a:rPr>
              <a:t>as</a:t>
            </a:r>
            <a:r>
              <a:rPr lang="pt-BR" sz="1600" b="1" dirty="0">
                <a:latin typeface="Courier New" panose="02070309020205020404" pitchFamily="49" charset="0"/>
                <a:cs typeface="Courier New" panose="02070309020205020404" pitchFamily="49" charset="0"/>
              </a:rPr>
              <a:t> pd</a:t>
            </a:r>
          </a:p>
          <a:p>
            <a:r>
              <a:rPr lang="pt-BR" sz="1600" b="1" dirty="0">
                <a:latin typeface="Courier New" panose="02070309020205020404" pitchFamily="49" charset="0"/>
                <a:cs typeface="Courier New" panose="02070309020205020404" pitchFamily="49" charset="0"/>
              </a:rPr>
              <a:t>d = {</a:t>
            </a:r>
            <a:r>
              <a:rPr lang="pt-BR" sz="1600" b="1" dirty="0">
                <a:solidFill>
                  <a:srgbClr val="718C00"/>
                </a:solidFill>
                <a:latin typeface="Courier New" panose="02070309020205020404" pitchFamily="49" charset="0"/>
                <a:cs typeface="Courier New" panose="02070309020205020404" pitchFamily="49" charset="0"/>
              </a:rPr>
              <a:t>'one'</a:t>
            </a:r>
            <a:r>
              <a:rPr lang="pt-BR" sz="1600" b="1" dirty="0">
                <a:latin typeface="Courier New" panose="02070309020205020404" pitchFamily="49" charset="0"/>
                <a:cs typeface="Courier New" panose="02070309020205020404" pitchFamily="49" charset="0"/>
              </a:rPr>
              <a:t> : pd.Series([1, 2, 3],    index=[</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'two'</a:t>
            </a:r>
            <a:r>
              <a:rPr lang="pt-BR" sz="1600" b="1" dirty="0">
                <a:latin typeface="Courier New" panose="02070309020205020404" pitchFamily="49" charset="0"/>
                <a:cs typeface="Courier New" panose="02070309020205020404" pitchFamily="49" charset="0"/>
              </a:rPr>
              <a:t> : pd.Series([1, 2, 3, 4], index=[</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sz="1600"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'd'</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    }</a:t>
            </a:r>
          </a:p>
          <a:p>
            <a:r>
              <a:rPr lang="pt-BR" sz="1600" b="1" dirty="0">
                <a:latin typeface="Courier New" panose="02070309020205020404" pitchFamily="49" charset="0"/>
                <a:cs typeface="Courier New" panose="02070309020205020404" pitchFamily="49" charset="0"/>
              </a:rPr>
              <a:t>df = pd.DataFrame(d)</a:t>
            </a:r>
          </a:p>
          <a:p>
            <a:r>
              <a:rPr lang="pt-BR" sz="1600" b="1" dirty="0">
                <a:latin typeface="Courier New" panose="02070309020205020404" pitchFamily="49" charset="0"/>
                <a:cs typeface="Courier New" panose="02070309020205020404" pitchFamily="49" charset="0"/>
              </a:rPr>
              <a:t>print(df)</a:t>
            </a:r>
          </a:p>
          <a:p>
            <a:endParaRPr lang="pt-BR" sz="1600" b="1" dirty="0">
              <a:latin typeface="Courier New" panose="02070309020205020404" pitchFamily="49" charset="0"/>
              <a:cs typeface="Courier New" panose="02070309020205020404" pitchFamily="49" charset="0"/>
            </a:endParaRPr>
          </a:p>
          <a:p>
            <a:r>
              <a:rPr lang="pt-BR" sz="1600" b="1" dirty="0">
                <a:latin typeface="Courier New" panose="02070309020205020404" pitchFamily="49" charset="0"/>
                <a:cs typeface="Courier New" panose="02070309020205020404" pitchFamily="49" charset="0"/>
              </a:rPr>
              <a:t>df2 = pd.DataFrame([[5,6], [7,8]], columns = [</a:t>
            </a:r>
            <a:r>
              <a:rPr lang="pt-BR" sz="1600" b="1" dirty="0">
                <a:solidFill>
                  <a:srgbClr val="718C00"/>
                </a:solidFill>
                <a:latin typeface="Courier New" panose="02070309020205020404" pitchFamily="49" charset="0"/>
                <a:cs typeface="Courier New" panose="02070309020205020404" pitchFamily="49" charset="0"/>
              </a:rPr>
              <a:t>'a'</a:t>
            </a:r>
            <a:r>
              <a:rPr lang="pt-BR" sz="1600"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sz="1600" b="1" dirty="0">
                <a:latin typeface="Courier New" panose="02070309020205020404" pitchFamily="49" charset="0"/>
                <a:cs typeface="Courier New" panose="02070309020205020404" pitchFamily="49" charset="0"/>
              </a:rPr>
              <a:t>])</a:t>
            </a:r>
          </a:p>
          <a:p>
            <a:r>
              <a:rPr lang="pt-BR" sz="1600" b="1" dirty="0">
                <a:latin typeface="Courier New" panose="02070309020205020404" pitchFamily="49" charset="0"/>
                <a:cs typeface="Courier New" panose="02070309020205020404" pitchFamily="49" charset="0"/>
              </a:rPr>
              <a:t>df = df.append(df2 )</a:t>
            </a:r>
          </a:p>
          <a:p>
            <a:r>
              <a:rPr lang="pt-BR" sz="1600" b="1" dirty="0">
                <a:latin typeface="Courier New" panose="02070309020205020404" pitchFamily="49" charset="0"/>
                <a:cs typeface="Courier New" panose="02070309020205020404" pitchFamily="49" charset="0"/>
              </a:rPr>
              <a:t>print(df)</a:t>
            </a:r>
          </a:p>
        </p:txBody>
      </p:sp>
      <p:sp>
        <p:nvSpPr>
          <p:cNvPr id="5" name="Rectangle 4"/>
          <p:cNvSpPr/>
          <p:nvPr/>
        </p:nvSpPr>
        <p:spPr>
          <a:xfrm>
            <a:off x="8610599" y="1483099"/>
            <a:ext cx="2981037" cy="4801314"/>
          </a:xfrm>
          <a:prstGeom prst="rect">
            <a:avLst/>
          </a:prstGeom>
          <a:solidFill>
            <a:schemeClr val="accent3">
              <a:lumMod val="20000"/>
              <a:lumOff val="80000"/>
            </a:schemeClr>
          </a:solidFill>
          <a:ln>
            <a:solidFill>
              <a:schemeClr val="accent1"/>
            </a:solidFill>
          </a:ln>
        </p:spPr>
        <p:txBody>
          <a:bodyPr wrap="square" tIns="0" rIns="0" bIns="0">
            <a:spAutoFit/>
          </a:bodyPr>
          <a:lstStyle/>
          <a:p>
            <a:pPr>
              <a:lnSpc>
                <a:spcPct val="150000"/>
              </a:lnSpc>
            </a:pPr>
            <a:r>
              <a:rPr lang="en-US" sz="1600" b="1" dirty="0">
                <a:latin typeface="Courier New" panose="02070309020205020404" pitchFamily="49" charset="0"/>
                <a:cs typeface="Courier New" panose="02070309020205020404" pitchFamily="49" charset="0"/>
              </a:rPr>
              <a:t>   one   two</a:t>
            </a:r>
          </a:p>
          <a:p>
            <a:pPr>
              <a:lnSpc>
                <a:spcPct val="150000"/>
              </a:lnSpc>
            </a:pPr>
            <a:r>
              <a:rPr lang="en-US" sz="1600" b="1" dirty="0">
                <a:latin typeface="Courier New" panose="02070309020205020404" pitchFamily="49" charset="0"/>
                <a:cs typeface="Courier New" panose="02070309020205020404" pitchFamily="49" charset="0"/>
              </a:rPr>
              <a:t>a  1.0    1</a:t>
            </a:r>
          </a:p>
          <a:p>
            <a:pPr>
              <a:lnSpc>
                <a:spcPct val="150000"/>
              </a:lnSpc>
            </a:pPr>
            <a:r>
              <a:rPr lang="en-US" sz="1600" b="1" dirty="0">
                <a:latin typeface="Courier New" panose="02070309020205020404" pitchFamily="49" charset="0"/>
                <a:cs typeface="Courier New" panose="02070309020205020404" pitchFamily="49" charset="0"/>
              </a:rPr>
              <a:t>b  2.0    2</a:t>
            </a:r>
          </a:p>
          <a:p>
            <a:pPr>
              <a:lnSpc>
                <a:spcPct val="150000"/>
              </a:lnSpc>
            </a:pPr>
            <a:r>
              <a:rPr lang="en-US" sz="1600" b="1" dirty="0">
                <a:latin typeface="Courier New" panose="02070309020205020404" pitchFamily="49" charset="0"/>
                <a:cs typeface="Courier New" panose="02070309020205020404" pitchFamily="49" charset="0"/>
              </a:rPr>
              <a:t>c  3.0    3</a:t>
            </a:r>
          </a:p>
          <a:p>
            <a:pPr>
              <a:lnSpc>
                <a:spcPct val="150000"/>
              </a:lnSpc>
            </a:pPr>
            <a:r>
              <a:rPr lang="en-US" sz="1600" b="1" dirty="0">
                <a:latin typeface="Courier New" panose="02070309020205020404" pitchFamily="49" charset="0"/>
                <a:cs typeface="Courier New" panose="02070309020205020404" pitchFamily="49" charset="0"/>
              </a:rPr>
              <a:t>d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4</a:t>
            </a:r>
          </a:p>
          <a:p>
            <a:pPr>
              <a:lnSpc>
                <a:spcPct val="150000"/>
              </a:lnSpc>
            </a:pPr>
            <a:endParaRPr lang="en-US" sz="1600" b="1" dirty="0">
              <a:latin typeface="Courier New" panose="02070309020205020404" pitchFamily="49" charset="0"/>
              <a:cs typeface="Courier New" panose="02070309020205020404" pitchFamily="49" charset="0"/>
            </a:endParaRPr>
          </a:p>
          <a:p>
            <a:pPr>
              <a:lnSpc>
                <a:spcPct val="150000"/>
              </a:lnSpc>
            </a:pPr>
            <a:r>
              <a:rPr lang="en-US" sz="1600" b="1" dirty="0">
                <a:latin typeface="Courier New" panose="02070309020205020404" pitchFamily="49" charset="0"/>
                <a:cs typeface="Courier New" panose="02070309020205020404" pitchFamily="49" charset="0"/>
              </a:rPr>
              <a:t>   one  two    a    b</a:t>
            </a:r>
          </a:p>
          <a:p>
            <a:pPr>
              <a:lnSpc>
                <a:spcPct val="150000"/>
              </a:lnSpc>
            </a:pPr>
            <a:r>
              <a:rPr lang="en-US" sz="1600" b="1" dirty="0">
                <a:latin typeface="Courier New" panose="02070309020205020404" pitchFamily="49" charset="0"/>
                <a:cs typeface="Courier New" panose="02070309020205020404" pitchFamily="49" charset="0"/>
              </a:rPr>
              <a:t>a  1.0  1.0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pPr>
              <a:lnSpc>
                <a:spcPct val="150000"/>
              </a:lnSpc>
            </a:pPr>
            <a:r>
              <a:rPr lang="en-US" sz="1600" b="1" dirty="0">
                <a:latin typeface="Courier New" panose="02070309020205020404" pitchFamily="49" charset="0"/>
                <a:cs typeface="Courier New" panose="02070309020205020404" pitchFamily="49" charset="0"/>
              </a:rPr>
              <a:t>b  2.0  2.0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pPr>
              <a:lnSpc>
                <a:spcPct val="150000"/>
              </a:lnSpc>
            </a:pPr>
            <a:r>
              <a:rPr lang="en-US" sz="1600" b="1" dirty="0">
                <a:latin typeface="Courier New" panose="02070309020205020404" pitchFamily="49" charset="0"/>
                <a:cs typeface="Courier New" panose="02070309020205020404" pitchFamily="49" charset="0"/>
              </a:rPr>
              <a:t>c  3.0  3.0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pPr>
              <a:lnSpc>
                <a:spcPct val="150000"/>
              </a:lnSpc>
            </a:pPr>
            <a:r>
              <a:rPr lang="en-US" sz="1600" b="1" dirty="0">
                <a:latin typeface="Courier New" panose="02070309020205020404" pitchFamily="49" charset="0"/>
                <a:cs typeface="Courier New" panose="02070309020205020404" pitchFamily="49" charset="0"/>
              </a:rPr>
              <a:t>d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4.0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pPr>
              <a:lnSpc>
                <a:spcPct val="150000"/>
              </a:lnSpc>
            </a:pPr>
            <a:r>
              <a:rPr lang="en-US" sz="1600" b="1" dirty="0">
                <a:latin typeface="Courier New" panose="02070309020205020404" pitchFamily="49" charset="0"/>
                <a:cs typeface="Courier New" panose="02070309020205020404" pitchFamily="49" charset="0"/>
              </a:rPr>
              <a:t>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5.0  6.0</a:t>
            </a:r>
          </a:p>
          <a:p>
            <a:pPr>
              <a:lnSpc>
                <a:spcPct val="150000"/>
              </a:lnSpc>
            </a:pPr>
            <a:r>
              <a:rPr lang="en-US" sz="1600" b="1" dirty="0">
                <a:latin typeface="Courier New" panose="02070309020205020404" pitchFamily="49" charset="0"/>
                <a:cs typeface="Courier New" panose="02070309020205020404" pitchFamily="49" charset="0"/>
              </a:rPr>
              <a:t>1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7.0  8.0</a:t>
            </a:r>
          </a:p>
        </p:txBody>
      </p:sp>
    </p:spTree>
    <p:extLst>
      <p:ext uri="{BB962C8B-B14F-4D97-AF65-F5344CB8AC3E}">
        <p14:creationId xmlns:p14="http://schemas.microsoft.com/office/powerpoint/2010/main" val="635150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Examples: </a:t>
            </a:r>
            <a:r>
              <a:rPr lang="en-US" b="1" dirty="0">
                <a:solidFill>
                  <a:srgbClr val="FF0000"/>
                </a:solidFill>
              </a:rPr>
              <a:t>Deletion</a:t>
            </a:r>
            <a:r>
              <a:rPr lang="en-US" b="1" dirty="0"/>
              <a:t> of rows</a:t>
            </a:r>
          </a:p>
        </p:txBody>
      </p:sp>
      <p:sp>
        <p:nvSpPr>
          <p:cNvPr id="4" name="Rectangle 3"/>
          <p:cNvSpPr/>
          <p:nvPr/>
        </p:nvSpPr>
        <p:spPr>
          <a:xfrm>
            <a:off x="265545" y="1511242"/>
            <a:ext cx="8037946" cy="3693319"/>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b="1"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b="1" dirty="0">
                <a:latin typeface="Courier New" panose="02070309020205020404" pitchFamily="49" charset="0"/>
                <a:cs typeface="Courier New" panose="02070309020205020404" pitchFamily="49" charset="0"/>
              </a:rPr>
              <a:t> pd</a:t>
            </a:r>
          </a:p>
          <a:p>
            <a:r>
              <a:rPr lang="pt-BR" b="1" dirty="0">
                <a:latin typeface="Courier New" panose="02070309020205020404" pitchFamily="49" charset="0"/>
                <a:cs typeface="Courier New" panose="02070309020205020404" pitchFamily="49" charset="0"/>
              </a:rPr>
              <a:t>d = {</a:t>
            </a:r>
            <a:r>
              <a:rPr lang="pt-BR" sz="1600" b="1" dirty="0">
                <a:solidFill>
                  <a:srgbClr val="718C00"/>
                </a:solidFill>
                <a:latin typeface="Courier New" panose="02070309020205020404" pitchFamily="49" charset="0"/>
                <a:cs typeface="Courier New" panose="02070309020205020404" pitchFamily="49" charset="0"/>
              </a:rPr>
              <a:t>'one'</a:t>
            </a:r>
            <a:r>
              <a:rPr lang="pt-BR" b="1" dirty="0">
                <a:latin typeface="Courier New" panose="02070309020205020404" pitchFamily="49" charset="0"/>
                <a:cs typeface="Courier New" panose="02070309020205020404" pitchFamily="49" charset="0"/>
              </a:rPr>
              <a:t>:pd.Series([1, 2, 3],    index=[</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a:t>
            </a:r>
          </a:p>
          <a:p>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'two'</a:t>
            </a:r>
            <a:r>
              <a:rPr lang="pt-BR" b="1" dirty="0">
                <a:latin typeface="Courier New" panose="02070309020205020404" pitchFamily="49" charset="0"/>
                <a:cs typeface="Courier New" panose="02070309020205020404" pitchFamily="49" charset="0"/>
              </a:rPr>
              <a:t>:pd.Series([1, 2, 3, 4], index=[</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a:t>
            </a:r>
            <a:r>
              <a:rPr lang="pt-BR" sz="1600" b="1" dirty="0">
                <a:solidFill>
                  <a:srgbClr val="718C00"/>
                </a:solidFill>
                <a:latin typeface="Courier New" panose="02070309020205020404" pitchFamily="49" charset="0"/>
                <a:cs typeface="Courier New" panose="02070309020205020404" pitchFamily="49" charset="0"/>
              </a:rPr>
              <a:t>'d'</a:t>
            </a:r>
            <a:r>
              <a:rPr lang="pt-BR" b="1" dirty="0">
                <a:latin typeface="Courier New" panose="02070309020205020404" pitchFamily="49" charset="0"/>
                <a:cs typeface="Courier New" panose="02070309020205020404" pitchFamily="49" charset="0"/>
              </a:rPr>
              <a:t>])</a:t>
            </a:r>
          </a:p>
          <a:p>
            <a:r>
              <a:rPr lang="pt-BR" b="1" dirty="0">
                <a:latin typeface="Courier New" panose="02070309020205020404" pitchFamily="49" charset="0"/>
                <a:cs typeface="Courier New" panose="02070309020205020404" pitchFamily="49" charset="0"/>
              </a:rPr>
              <a:t>    }</a:t>
            </a:r>
          </a:p>
          <a:p>
            <a:r>
              <a:rPr lang="pt-BR" b="1" dirty="0">
                <a:latin typeface="Courier New" panose="02070309020205020404" pitchFamily="49" charset="0"/>
                <a:cs typeface="Courier New" panose="02070309020205020404" pitchFamily="49" charset="0"/>
              </a:rPr>
              <a:t>df = pd.DataFrame(d)</a:t>
            </a:r>
          </a:p>
          <a:p>
            <a:r>
              <a:rPr lang="pt-BR" b="1" dirty="0">
                <a:latin typeface="Courier New" panose="02070309020205020404" pitchFamily="49" charset="0"/>
                <a:cs typeface="Courier New" panose="02070309020205020404" pitchFamily="49" charset="0"/>
              </a:rPr>
              <a:t>print(df)</a:t>
            </a:r>
          </a:p>
          <a:p>
            <a:endParaRPr lang="pt-BR" b="1" dirty="0">
              <a:latin typeface="Courier New" panose="02070309020205020404" pitchFamily="49" charset="0"/>
              <a:cs typeface="Courier New" panose="02070309020205020404" pitchFamily="49" charset="0"/>
            </a:endParaRPr>
          </a:p>
          <a:p>
            <a:r>
              <a:rPr lang="pt-BR" b="1" dirty="0">
                <a:latin typeface="Courier New" panose="02070309020205020404" pitchFamily="49" charset="0"/>
                <a:cs typeface="Courier New" panose="02070309020205020404" pitchFamily="49" charset="0"/>
              </a:rPr>
              <a:t>df2 = pd.DataFrame([[5,6], [7,8]], columns = [</a:t>
            </a:r>
            <a:r>
              <a:rPr lang="pt-BR" sz="1600"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a:t>
            </a:r>
          </a:p>
          <a:p>
            <a:r>
              <a:rPr lang="pt-BR" b="1" dirty="0">
                <a:latin typeface="Courier New" panose="02070309020205020404" pitchFamily="49" charset="0"/>
                <a:cs typeface="Courier New" panose="02070309020205020404" pitchFamily="49" charset="0"/>
              </a:rPr>
              <a:t>df = df.append(df2 )</a:t>
            </a:r>
          </a:p>
          <a:p>
            <a:r>
              <a:rPr lang="pt-BR" b="1" dirty="0">
                <a:latin typeface="Courier New" panose="02070309020205020404" pitchFamily="49" charset="0"/>
                <a:cs typeface="Courier New" panose="02070309020205020404" pitchFamily="49" charset="0"/>
              </a:rPr>
              <a:t>print(df)</a:t>
            </a:r>
          </a:p>
          <a:p>
            <a:endParaRPr lang="pt-BR" b="1" dirty="0">
              <a:latin typeface="Courier New" panose="02070309020205020404" pitchFamily="49" charset="0"/>
              <a:cs typeface="Courier New" panose="02070309020205020404" pitchFamily="49" charset="0"/>
            </a:endParaRPr>
          </a:p>
          <a:p>
            <a:r>
              <a:rPr lang="pt-BR" b="1" dirty="0">
                <a:latin typeface="Courier New" panose="02070309020205020404" pitchFamily="49" charset="0"/>
                <a:cs typeface="Courier New" panose="02070309020205020404" pitchFamily="49" charset="0"/>
              </a:rPr>
              <a:t>df = df.drop(0)</a:t>
            </a:r>
          </a:p>
          <a:p>
            <a:r>
              <a:rPr lang="pt-BR" b="1" dirty="0">
                <a:latin typeface="Courier New" panose="02070309020205020404" pitchFamily="49" charset="0"/>
                <a:cs typeface="Courier New" panose="02070309020205020404" pitchFamily="49" charset="0"/>
              </a:rPr>
              <a:t>print(df)</a:t>
            </a:r>
          </a:p>
        </p:txBody>
      </p:sp>
      <p:sp>
        <p:nvSpPr>
          <p:cNvPr id="5" name="Rectangle 4"/>
          <p:cNvSpPr/>
          <p:nvPr/>
        </p:nvSpPr>
        <p:spPr>
          <a:xfrm>
            <a:off x="8610599" y="1483099"/>
            <a:ext cx="2981037" cy="4924425"/>
          </a:xfrm>
          <a:prstGeom prst="rect">
            <a:avLst/>
          </a:prstGeom>
          <a:solidFill>
            <a:schemeClr val="accent3">
              <a:lumMod val="20000"/>
              <a:lumOff val="80000"/>
            </a:schemeClr>
          </a:solidFill>
          <a:ln>
            <a:solidFill>
              <a:schemeClr val="accent1"/>
            </a:solidFill>
          </a:ln>
        </p:spPr>
        <p:txBody>
          <a:bodyPr wrap="square" tIns="0" rIns="0" bIns="0">
            <a:spAutoFit/>
          </a:bodyPr>
          <a:lstStyle/>
          <a:p>
            <a:r>
              <a:rPr lang="en-US" sz="1600" b="1" dirty="0">
                <a:latin typeface="Courier New" panose="02070309020205020404" pitchFamily="49" charset="0"/>
                <a:cs typeface="Courier New" panose="02070309020205020404" pitchFamily="49" charset="0"/>
              </a:rPr>
              <a:t>   one  two</a:t>
            </a:r>
          </a:p>
          <a:p>
            <a:r>
              <a:rPr lang="en-US" sz="1600" b="1" dirty="0">
                <a:latin typeface="Courier New" panose="02070309020205020404" pitchFamily="49" charset="0"/>
                <a:cs typeface="Courier New" panose="02070309020205020404" pitchFamily="49" charset="0"/>
              </a:rPr>
              <a:t>a  1.0    1</a:t>
            </a:r>
          </a:p>
          <a:p>
            <a:r>
              <a:rPr lang="en-US" sz="1600" b="1" dirty="0">
                <a:latin typeface="Courier New" panose="02070309020205020404" pitchFamily="49" charset="0"/>
                <a:cs typeface="Courier New" panose="02070309020205020404" pitchFamily="49" charset="0"/>
              </a:rPr>
              <a:t>b  2.0    2</a:t>
            </a:r>
          </a:p>
          <a:p>
            <a:r>
              <a:rPr lang="en-US" sz="1600" b="1" dirty="0">
                <a:latin typeface="Courier New" panose="02070309020205020404" pitchFamily="49" charset="0"/>
                <a:cs typeface="Courier New" panose="02070309020205020404" pitchFamily="49" charset="0"/>
              </a:rPr>
              <a:t>c  3.0    3</a:t>
            </a:r>
          </a:p>
          <a:p>
            <a:r>
              <a:rPr lang="en-US" sz="1600" b="1" dirty="0">
                <a:latin typeface="Courier New" panose="02070309020205020404" pitchFamily="49" charset="0"/>
                <a:cs typeface="Courier New" panose="02070309020205020404" pitchFamily="49" charset="0"/>
              </a:rPr>
              <a:t>d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4</a:t>
            </a:r>
          </a:p>
          <a:p>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one  two    a    b</a:t>
            </a:r>
          </a:p>
          <a:p>
            <a:r>
              <a:rPr lang="en-US" sz="1600" b="1" dirty="0">
                <a:latin typeface="Courier New" panose="02070309020205020404" pitchFamily="49" charset="0"/>
                <a:cs typeface="Courier New" panose="02070309020205020404" pitchFamily="49" charset="0"/>
              </a:rPr>
              <a:t>a  1.0  1.0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b  2.0  2.0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c  3.0  3.0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d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4.0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5.0  6.0</a:t>
            </a:r>
          </a:p>
          <a:p>
            <a:pPr marL="342900" indent="-342900">
              <a:buAutoNum type="arabicPlain"/>
            </a:pP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7.0  8.0</a:t>
            </a:r>
          </a:p>
          <a:p>
            <a:pPr marL="342900" indent="-342900">
              <a:buAutoNum type="arabicPlain"/>
            </a:pP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   one  two    a    b</a:t>
            </a:r>
          </a:p>
          <a:p>
            <a:r>
              <a:rPr lang="en-US" sz="1600" b="1" dirty="0">
                <a:latin typeface="Courier New" panose="02070309020205020404" pitchFamily="49" charset="0"/>
                <a:cs typeface="Courier New" panose="02070309020205020404" pitchFamily="49" charset="0"/>
              </a:rPr>
              <a:t>a  1.0  1.0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b  2.0  2.0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c  3.0  3.0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d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4.0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endParaRPr lang="en-US" sz="1600" b="1"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1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NaN</a:t>
            </a:r>
            <a:r>
              <a:rPr lang="en-US" sz="1600" b="1" dirty="0">
                <a:latin typeface="Courier New" panose="02070309020205020404" pitchFamily="49" charset="0"/>
                <a:cs typeface="Courier New" panose="02070309020205020404" pitchFamily="49" charset="0"/>
              </a:rPr>
              <a:t>  7.0  8.0</a:t>
            </a:r>
          </a:p>
        </p:txBody>
      </p:sp>
    </p:spTree>
    <p:extLst>
      <p:ext uri="{BB962C8B-B14F-4D97-AF65-F5344CB8AC3E}">
        <p14:creationId xmlns:p14="http://schemas.microsoft.com/office/powerpoint/2010/main" val="1252852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57" y="221434"/>
            <a:ext cx="10515600" cy="1325563"/>
          </a:xfrm>
        </p:spPr>
        <p:txBody>
          <a:bodyPr/>
          <a:lstStyle/>
          <a:p>
            <a:r>
              <a:rPr lang="en-US" b="1" dirty="0"/>
              <a:t>More Examples: </a:t>
            </a:r>
            <a:r>
              <a:rPr lang="en-US" b="1" dirty="0" err="1">
                <a:solidFill>
                  <a:srgbClr val="FF0000"/>
                </a:solidFill>
              </a:rPr>
              <a:t>Reindexing</a:t>
            </a:r>
            <a:endParaRPr lang="en-US" b="1" dirty="0">
              <a:solidFill>
                <a:srgbClr val="FF0000"/>
              </a:solidFill>
            </a:endParaRPr>
          </a:p>
        </p:txBody>
      </p:sp>
      <p:sp>
        <p:nvSpPr>
          <p:cNvPr id="4" name="Rectangle 3"/>
          <p:cNvSpPr/>
          <p:nvPr/>
        </p:nvSpPr>
        <p:spPr>
          <a:xfrm>
            <a:off x="261258" y="1526451"/>
            <a:ext cx="7276011" cy="5016758"/>
          </a:xfrm>
          <a:prstGeom prst="rect">
            <a:avLst/>
          </a:prstGeom>
          <a:solidFill>
            <a:schemeClr val="accent4">
              <a:lumMod val="20000"/>
              <a:lumOff val="80000"/>
            </a:schemeClr>
          </a:solidFill>
          <a:ln>
            <a:solidFill>
              <a:schemeClr val="accent1"/>
            </a:solidFill>
          </a:ln>
        </p:spPr>
        <p:txBody>
          <a:bodyPr wrap="square">
            <a:spAutoFit/>
          </a:bodyPr>
          <a:lstStyle/>
          <a:p>
            <a:r>
              <a:rPr lang="pt-BR" sz="1600" b="1" dirty="0">
                <a:solidFill>
                  <a:srgbClr val="FF9900"/>
                </a:solidFill>
                <a:latin typeface="Courier New" panose="02070309020205020404" pitchFamily="49" charset="0"/>
                <a:cs typeface="Courier New" panose="02070309020205020404" pitchFamily="49" charset="0"/>
              </a:rPr>
              <a:t>import</a:t>
            </a:r>
            <a:r>
              <a:rPr lang="pt-BR" sz="1600" b="1" dirty="0">
                <a:latin typeface="Courier New" panose="02070309020205020404" pitchFamily="49" charset="0"/>
                <a:cs typeface="Courier New" panose="02070309020205020404" pitchFamily="49" charset="0"/>
              </a:rPr>
              <a:t> pandas </a:t>
            </a:r>
            <a:r>
              <a:rPr lang="pt-BR" sz="1600" b="1" dirty="0">
                <a:solidFill>
                  <a:srgbClr val="FF9900"/>
                </a:solidFill>
                <a:latin typeface="Courier New" panose="02070309020205020404" pitchFamily="49" charset="0"/>
                <a:cs typeface="Courier New" panose="02070309020205020404" pitchFamily="49" charset="0"/>
              </a:rPr>
              <a:t>as</a:t>
            </a:r>
            <a:r>
              <a:rPr lang="pt-BR" sz="1600" b="1" dirty="0">
                <a:latin typeface="Courier New" panose="02070309020205020404" pitchFamily="49" charset="0"/>
                <a:cs typeface="Courier New" panose="02070309020205020404" pitchFamily="49" charset="0"/>
              </a:rPr>
              <a:t> pd</a:t>
            </a:r>
          </a:p>
          <a:p>
            <a:r>
              <a:rPr lang="pt-BR" sz="1600" b="1" dirty="0">
                <a:solidFill>
                  <a:srgbClr val="00B050"/>
                </a:solidFill>
                <a:latin typeface="Courier New" panose="02070309020205020404" pitchFamily="49" charset="0"/>
                <a:cs typeface="Courier New" panose="02070309020205020404" pitchFamily="49" charset="0"/>
              </a:rPr>
              <a:t># Creating the first dataframe</a:t>
            </a:r>
          </a:p>
          <a:p>
            <a:r>
              <a:rPr lang="pt-BR" sz="1600" b="1" dirty="0">
                <a:latin typeface="Courier New" panose="02070309020205020404" pitchFamily="49" charset="0"/>
                <a:cs typeface="Courier New" panose="02070309020205020404" pitchFamily="49" charset="0"/>
              </a:rPr>
              <a:t>df1 = pd.DataFrame({"A":[1, 5, 3, 4, 2],</a:t>
            </a:r>
          </a:p>
          <a:p>
            <a:r>
              <a:rPr lang="pt-BR" sz="1600" b="1" dirty="0">
                <a:latin typeface="Courier New" panose="02070309020205020404" pitchFamily="49" charset="0"/>
                <a:cs typeface="Courier New" panose="02070309020205020404" pitchFamily="49" charset="0"/>
              </a:rPr>
              <a:t>		     "B":[3, 2, 4, 3, 4],</a:t>
            </a:r>
          </a:p>
          <a:p>
            <a:r>
              <a:rPr lang="pt-BR" sz="1600" b="1" dirty="0">
                <a:latin typeface="Courier New" panose="02070309020205020404" pitchFamily="49" charset="0"/>
                <a:cs typeface="Courier New" panose="02070309020205020404" pitchFamily="49" charset="0"/>
              </a:rPr>
              <a:t>		     "C":[2, 2, 7, 3, 4],</a:t>
            </a:r>
          </a:p>
          <a:p>
            <a:r>
              <a:rPr lang="pt-BR" sz="1600" b="1" dirty="0">
                <a:latin typeface="Courier New" panose="02070309020205020404" pitchFamily="49" charset="0"/>
                <a:cs typeface="Courier New" panose="02070309020205020404" pitchFamily="49" charset="0"/>
              </a:rPr>
              <a:t>		     "D":[4, 3, 6, 12, 7]},</a:t>
            </a:r>
          </a:p>
          <a:p>
            <a:r>
              <a:rPr lang="pt-BR" sz="1600" b="1" dirty="0">
                <a:latin typeface="Courier New" panose="02070309020205020404" pitchFamily="49" charset="0"/>
                <a:cs typeface="Courier New" panose="02070309020205020404" pitchFamily="49" charset="0"/>
              </a:rPr>
              <a:t>		     index =["A1", "A2", "A3", "A4", "A5"])</a:t>
            </a:r>
          </a:p>
          <a:p>
            <a:endParaRPr lang="pt-BR" sz="1600" b="1" dirty="0">
              <a:latin typeface="Courier New" panose="02070309020205020404" pitchFamily="49" charset="0"/>
              <a:cs typeface="Courier New" panose="02070309020205020404" pitchFamily="49" charset="0"/>
            </a:endParaRPr>
          </a:p>
          <a:p>
            <a:r>
              <a:rPr lang="pt-BR" sz="1600" b="1" dirty="0">
                <a:solidFill>
                  <a:srgbClr val="00B050"/>
                </a:solidFill>
                <a:latin typeface="Courier New" panose="02070309020205020404" pitchFamily="49" charset="0"/>
                <a:cs typeface="Courier New" panose="02070309020205020404" pitchFamily="49" charset="0"/>
              </a:rPr>
              <a:t># Creating the second dataframe</a:t>
            </a:r>
          </a:p>
          <a:p>
            <a:r>
              <a:rPr lang="pt-BR" sz="1600" b="1" dirty="0">
                <a:latin typeface="Courier New" panose="02070309020205020404" pitchFamily="49" charset="0"/>
                <a:cs typeface="Courier New" panose="02070309020205020404" pitchFamily="49" charset="0"/>
              </a:rPr>
              <a:t>df2 = pd.DataFrame({"A":[10, 11, 7, 8, 5],</a:t>
            </a:r>
          </a:p>
          <a:p>
            <a:r>
              <a:rPr lang="pt-BR" sz="1600" b="1" dirty="0">
                <a:latin typeface="Courier New" panose="02070309020205020404" pitchFamily="49" charset="0"/>
                <a:cs typeface="Courier New" panose="02070309020205020404" pitchFamily="49" charset="0"/>
              </a:rPr>
              <a:t>		     "B":[21, 5, 32, 4, 6],</a:t>
            </a:r>
          </a:p>
          <a:p>
            <a:r>
              <a:rPr lang="pt-BR" sz="1600" b="1" dirty="0">
                <a:latin typeface="Courier New" panose="02070309020205020404" pitchFamily="49" charset="0"/>
                <a:cs typeface="Courier New" panose="02070309020205020404" pitchFamily="49" charset="0"/>
              </a:rPr>
              <a:t>		     "C":[11, 21, 23, 7, 9],</a:t>
            </a:r>
          </a:p>
          <a:p>
            <a:r>
              <a:rPr lang="pt-BR" sz="1600" b="1" dirty="0">
                <a:latin typeface="Courier New" panose="02070309020205020404" pitchFamily="49" charset="0"/>
                <a:cs typeface="Courier New" panose="02070309020205020404" pitchFamily="49" charset="0"/>
              </a:rPr>
              <a:t>		     "D":[1, 5, 3, 8, 6]},</a:t>
            </a:r>
          </a:p>
          <a:p>
            <a:r>
              <a:rPr lang="pt-BR" sz="1600" b="1" dirty="0">
                <a:latin typeface="Courier New" panose="02070309020205020404" pitchFamily="49" charset="0"/>
                <a:cs typeface="Courier New" panose="02070309020205020404" pitchFamily="49" charset="0"/>
              </a:rPr>
              <a:t>		     index =["A1", "A3", "A4", "A7", "A8"])</a:t>
            </a:r>
          </a:p>
          <a:p>
            <a:endParaRPr lang="pt-BR" sz="1600" b="1" dirty="0">
              <a:latin typeface="Courier New" panose="02070309020205020404" pitchFamily="49" charset="0"/>
              <a:cs typeface="Courier New" panose="02070309020205020404" pitchFamily="49" charset="0"/>
            </a:endParaRPr>
          </a:p>
          <a:p>
            <a:r>
              <a:rPr lang="pt-BR" sz="1600" b="1" dirty="0">
                <a:solidFill>
                  <a:srgbClr val="00B050"/>
                </a:solidFill>
                <a:latin typeface="Courier New" panose="02070309020205020404" pitchFamily="49" charset="0"/>
                <a:cs typeface="Courier New" panose="02070309020205020404" pitchFamily="49" charset="0"/>
              </a:rPr>
              <a:t># Print the first dataframe</a:t>
            </a:r>
          </a:p>
          <a:p>
            <a:r>
              <a:rPr lang="pt-BR" sz="1600" b="1" dirty="0">
                <a:latin typeface="Courier New" panose="02070309020205020404" pitchFamily="49" charset="0"/>
                <a:cs typeface="Courier New" panose="02070309020205020404" pitchFamily="49" charset="0"/>
              </a:rPr>
              <a:t>print(df1)</a:t>
            </a:r>
          </a:p>
          <a:p>
            <a:r>
              <a:rPr lang="pt-BR" sz="1600" b="1" dirty="0">
                <a:latin typeface="Courier New" panose="02070309020205020404" pitchFamily="49" charset="0"/>
                <a:cs typeface="Courier New" panose="02070309020205020404" pitchFamily="49" charset="0"/>
              </a:rPr>
              <a:t>print(df2)</a:t>
            </a:r>
          </a:p>
          <a:p>
            <a:r>
              <a:rPr lang="pt-BR" sz="1600" b="1" dirty="0">
                <a:solidFill>
                  <a:srgbClr val="00B050"/>
                </a:solidFill>
                <a:latin typeface="Courier New" panose="02070309020205020404" pitchFamily="49" charset="0"/>
                <a:cs typeface="Courier New" panose="02070309020205020404" pitchFamily="49" charset="0"/>
              </a:rPr>
              <a:t># find matching indexes</a:t>
            </a:r>
          </a:p>
          <a:p>
            <a:r>
              <a:rPr lang="pt-BR" sz="1600" b="1" dirty="0">
                <a:latin typeface="Courier New" panose="02070309020205020404" pitchFamily="49" charset="0"/>
                <a:cs typeface="Courier New" panose="02070309020205020404" pitchFamily="49" charset="0"/>
              </a:rPr>
              <a:t>df1.reindex_like(df2)</a:t>
            </a:r>
          </a:p>
        </p:txBody>
      </p:sp>
      <p:sp>
        <p:nvSpPr>
          <p:cNvPr id="3" name="Rectangle 2"/>
          <p:cNvSpPr/>
          <p:nvPr/>
        </p:nvSpPr>
        <p:spPr>
          <a:xfrm>
            <a:off x="7903030" y="615474"/>
            <a:ext cx="4288970" cy="1938992"/>
          </a:xfrm>
          <a:prstGeom prst="rect">
            <a:avLst/>
          </a:prstGeom>
        </p:spPr>
        <p:txBody>
          <a:bodyPr wrap="square">
            <a:spAutoFit/>
          </a:bodyPr>
          <a:lstStyle/>
          <a:p>
            <a:pPr marL="342900" indent="-342900">
              <a:buFont typeface="Arial" panose="020B0604020202020204" pitchFamily="34" charset="0"/>
              <a:buChar char="•"/>
            </a:pPr>
            <a:r>
              <a:rPr lang="en-US" sz="2000" dirty="0"/>
              <a:t>Pandas </a:t>
            </a:r>
            <a:r>
              <a:rPr lang="en-US" sz="2000" b="1" dirty="0" err="1">
                <a:latin typeface="Courier New" panose="02070309020205020404" pitchFamily="49" charset="0"/>
                <a:cs typeface="Courier New" panose="02070309020205020404" pitchFamily="49" charset="0"/>
              </a:rPr>
              <a:t>dataframe.reindex_like</a:t>
            </a:r>
            <a:r>
              <a:rPr lang="en-US" sz="2000" b="1" dirty="0">
                <a:latin typeface="Courier New" panose="02070309020205020404" pitchFamily="49" charset="0"/>
                <a:cs typeface="Courier New" panose="02070309020205020404" pitchFamily="49" charset="0"/>
              </a:rPr>
              <a:t>() </a:t>
            </a:r>
            <a:r>
              <a:rPr lang="en-US" sz="2000" dirty="0"/>
              <a:t>function return an object with matching indices to myself.</a:t>
            </a:r>
          </a:p>
          <a:p>
            <a:pPr marL="342900" indent="-342900">
              <a:buFont typeface="Arial" panose="020B0604020202020204" pitchFamily="34" charset="0"/>
              <a:buChar char="•"/>
            </a:pPr>
            <a:r>
              <a:rPr lang="en-US" sz="2000" dirty="0"/>
              <a:t>Any non-matching indexes are filled with </a:t>
            </a:r>
            <a:r>
              <a:rPr lang="en-US" sz="2000" dirty="0" err="1"/>
              <a:t>NaN</a:t>
            </a:r>
            <a:r>
              <a:rPr lang="en-US" sz="2000" dirty="0"/>
              <a:t> values.</a:t>
            </a:r>
          </a:p>
        </p:txBody>
      </p:sp>
      <p:pic>
        <p:nvPicPr>
          <p:cNvPr id="5" name="Picture 4"/>
          <p:cNvPicPr>
            <a:picLocks noChangeAspect="1"/>
          </p:cNvPicPr>
          <p:nvPr/>
        </p:nvPicPr>
        <p:blipFill>
          <a:blip r:embed="rId2"/>
          <a:stretch>
            <a:fillRect/>
          </a:stretch>
        </p:blipFill>
        <p:spPr>
          <a:xfrm>
            <a:off x="7776482" y="2948506"/>
            <a:ext cx="4064217" cy="2851403"/>
          </a:xfrm>
          <a:prstGeom prst="rect">
            <a:avLst/>
          </a:prstGeom>
        </p:spPr>
      </p:pic>
    </p:spTree>
    <p:extLst>
      <p:ext uri="{BB962C8B-B14F-4D97-AF65-F5344CB8AC3E}">
        <p14:creationId xmlns:p14="http://schemas.microsoft.com/office/powerpoint/2010/main" val="3347549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More Examples:</a:t>
            </a:r>
            <a:br>
              <a:rPr lang="en-US" b="1" dirty="0"/>
            </a:br>
            <a:r>
              <a:rPr lang="en-US" b="1" dirty="0">
                <a:solidFill>
                  <a:srgbClr val="FF0000"/>
                </a:solidFill>
              </a:rPr>
              <a:t>Concatenating</a:t>
            </a:r>
            <a:r>
              <a:rPr lang="en-US" b="1" dirty="0"/>
              <a:t> Objects (Data Frames)</a:t>
            </a:r>
          </a:p>
        </p:txBody>
      </p:sp>
      <p:sp>
        <p:nvSpPr>
          <p:cNvPr id="4" name="Rectangle 3"/>
          <p:cNvSpPr/>
          <p:nvPr/>
        </p:nvSpPr>
        <p:spPr>
          <a:xfrm>
            <a:off x="606334" y="2371638"/>
            <a:ext cx="10979331" cy="1477328"/>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b="1"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b="1" dirty="0">
                <a:latin typeface="Courier New" panose="02070309020205020404" pitchFamily="49" charset="0"/>
                <a:cs typeface="Courier New" panose="02070309020205020404" pitchFamily="49" charset="0"/>
              </a:rPr>
              <a:t> pd</a:t>
            </a:r>
          </a:p>
          <a:p>
            <a:r>
              <a:rPr lang="pt-BR" b="1" dirty="0">
                <a:latin typeface="Courier New" panose="02070309020205020404" pitchFamily="49" charset="0"/>
                <a:cs typeface="Courier New" panose="02070309020205020404" pitchFamily="49" charset="0"/>
              </a:rPr>
              <a:t>df1 = pd.DataFrame({</a:t>
            </a:r>
            <a:r>
              <a:rPr lang="pt-BR" b="1" dirty="0">
                <a:solidFill>
                  <a:srgbClr val="718C00"/>
                </a:solidFill>
                <a:latin typeface="Courier New" panose="02070309020205020404" pitchFamily="49" charset="0"/>
                <a:cs typeface="Courier New" panose="02070309020205020404" pitchFamily="49" charset="0"/>
              </a:rPr>
              <a:t>'Name'</a:t>
            </a:r>
            <a:r>
              <a:rPr lang="pt-BR" b="1" dirty="0">
                <a:latin typeface="Courier New" panose="02070309020205020404" pitchFamily="49" charset="0"/>
                <a:cs typeface="Courier New" panose="02070309020205020404" pitchFamily="49" charset="0"/>
              </a:rPr>
              <a:t>:[</a:t>
            </a:r>
            <a:r>
              <a:rPr lang="pt-BR" b="1" dirty="0">
                <a:solidFill>
                  <a:srgbClr val="718C00"/>
                </a:solidFill>
                <a:latin typeface="Courier New" panose="02070309020205020404" pitchFamily="49" charset="0"/>
                <a:cs typeface="Courier New" panose="02070309020205020404" pitchFamily="49" charset="0"/>
              </a:rPr>
              <a:t>'A'</a:t>
            </a:r>
            <a:r>
              <a:rPr lang="pt-BR" b="1" dirty="0">
                <a:latin typeface="Courier New" panose="02070309020205020404" pitchFamily="49" charset="0"/>
                <a:cs typeface="Courier New" panose="02070309020205020404" pitchFamily="49" charset="0"/>
              </a:rPr>
              <a:t>,</a:t>
            </a:r>
            <a:r>
              <a:rPr lang="pt-BR"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 </a:t>
            </a:r>
            <a:r>
              <a:rPr lang="pt-BR" b="1" dirty="0">
                <a:solidFill>
                  <a:srgbClr val="718C00"/>
                </a:solidFill>
                <a:latin typeface="Courier New" panose="02070309020205020404" pitchFamily="49" charset="0"/>
                <a:cs typeface="Courier New" panose="02070309020205020404" pitchFamily="49" charset="0"/>
              </a:rPr>
              <a:t>'SSN'</a:t>
            </a:r>
            <a:r>
              <a:rPr lang="pt-BR" b="1" dirty="0">
                <a:latin typeface="Courier New" panose="02070309020205020404" pitchFamily="49" charset="0"/>
                <a:cs typeface="Courier New" panose="02070309020205020404" pitchFamily="49" charset="0"/>
              </a:rPr>
              <a:t>:[10,20], </a:t>
            </a:r>
            <a:r>
              <a:rPr lang="pt-BR" b="1" dirty="0">
                <a:solidFill>
                  <a:srgbClr val="718C00"/>
                </a:solidFill>
                <a:latin typeface="Courier New" panose="02070309020205020404" pitchFamily="49" charset="0"/>
                <a:cs typeface="Courier New" panose="02070309020205020404" pitchFamily="49" charset="0"/>
              </a:rPr>
              <a:t>'marks'</a:t>
            </a:r>
            <a:r>
              <a:rPr lang="pt-BR" b="1" dirty="0">
                <a:latin typeface="Courier New" panose="02070309020205020404" pitchFamily="49" charset="0"/>
                <a:cs typeface="Courier New" panose="02070309020205020404" pitchFamily="49" charset="0"/>
              </a:rPr>
              <a:t>:[90, 95] })</a:t>
            </a:r>
          </a:p>
          <a:p>
            <a:r>
              <a:rPr lang="pt-BR" b="1" dirty="0">
                <a:latin typeface="Courier New" panose="02070309020205020404" pitchFamily="49" charset="0"/>
                <a:cs typeface="Courier New" panose="02070309020205020404" pitchFamily="49" charset="0"/>
              </a:rPr>
              <a:t>df2 = pd.DataFrame({</a:t>
            </a:r>
            <a:r>
              <a:rPr lang="pt-BR" b="1" dirty="0">
                <a:solidFill>
                  <a:srgbClr val="718C00"/>
                </a:solidFill>
                <a:latin typeface="Courier New" panose="02070309020205020404" pitchFamily="49" charset="0"/>
                <a:cs typeface="Courier New" panose="02070309020205020404" pitchFamily="49" charset="0"/>
              </a:rPr>
              <a:t>'Name'</a:t>
            </a:r>
            <a:r>
              <a:rPr lang="pt-BR" b="1" dirty="0">
                <a:latin typeface="Courier New" panose="02070309020205020404" pitchFamily="49" charset="0"/>
                <a:cs typeface="Courier New" panose="02070309020205020404" pitchFamily="49" charset="0"/>
              </a:rPr>
              <a:t>:[</a:t>
            </a:r>
            <a:r>
              <a:rPr lang="pt-BR" b="1" dirty="0">
                <a:solidFill>
                  <a:srgbClr val="718C00"/>
                </a:solidFill>
                <a:latin typeface="Courier New" panose="02070309020205020404" pitchFamily="49" charset="0"/>
                <a:cs typeface="Courier New" panose="02070309020205020404" pitchFamily="49" charset="0"/>
              </a:rPr>
              <a:t>'B'</a:t>
            </a:r>
            <a:r>
              <a:rPr lang="pt-BR" b="1" dirty="0">
                <a:latin typeface="Courier New" panose="02070309020205020404" pitchFamily="49" charset="0"/>
                <a:cs typeface="Courier New" panose="02070309020205020404" pitchFamily="49" charset="0"/>
              </a:rPr>
              <a:t>,</a:t>
            </a:r>
            <a:r>
              <a:rPr lang="pt-BR" b="1" dirty="0">
                <a:solidFill>
                  <a:srgbClr val="718C00"/>
                </a:solidFill>
                <a:latin typeface="Courier New" panose="02070309020205020404" pitchFamily="49" charset="0"/>
                <a:cs typeface="Courier New" panose="02070309020205020404" pitchFamily="49" charset="0"/>
              </a:rPr>
              <a:t>'C'</a:t>
            </a:r>
            <a:r>
              <a:rPr lang="pt-BR" b="1" dirty="0">
                <a:latin typeface="Courier New" panose="02070309020205020404" pitchFamily="49" charset="0"/>
                <a:cs typeface="Courier New" panose="02070309020205020404" pitchFamily="49" charset="0"/>
              </a:rPr>
              <a:t>], </a:t>
            </a:r>
            <a:r>
              <a:rPr lang="pt-BR" b="1" dirty="0">
                <a:solidFill>
                  <a:srgbClr val="718C00"/>
                </a:solidFill>
                <a:latin typeface="Courier New" panose="02070309020205020404" pitchFamily="49" charset="0"/>
                <a:cs typeface="Courier New" panose="02070309020205020404" pitchFamily="49" charset="0"/>
              </a:rPr>
              <a:t>'SSN'</a:t>
            </a:r>
            <a:r>
              <a:rPr lang="pt-BR" b="1" dirty="0">
                <a:latin typeface="Courier New" panose="02070309020205020404" pitchFamily="49" charset="0"/>
                <a:cs typeface="Courier New" panose="02070309020205020404" pitchFamily="49" charset="0"/>
              </a:rPr>
              <a:t>:[25,30], </a:t>
            </a:r>
            <a:r>
              <a:rPr lang="pt-BR" b="1" dirty="0">
                <a:solidFill>
                  <a:srgbClr val="718C00"/>
                </a:solidFill>
                <a:latin typeface="Courier New" panose="02070309020205020404" pitchFamily="49" charset="0"/>
                <a:cs typeface="Courier New" panose="02070309020205020404" pitchFamily="49" charset="0"/>
              </a:rPr>
              <a:t>'marks'</a:t>
            </a:r>
            <a:r>
              <a:rPr lang="pt-BR" b="1" dirty="0">
                <a:latin typeface="Courier New" panose="02070309020205020404" pitchFamily="49" charset="0"/>
                <a:cs typeface="Courier New" panose="02070309020205020404" pitchFamily="49" charset="0"/>
              </a:rPr>
              <a:t>:[80, 97] })</a:t>
            </a:r>
          </a:p>
          <a:p>
            <a:r>
              <a:rPr lang="pt-BR" b="1" dirty="0">
                <a:latin typeface="Courier New" panose="02070309020205020404" pitchFamily="49" charset="0"/>
                <a:cs typeface="Courier New" panose="02070309020205020404" pitchFamily="49" charset="0"/>
              </a:rPr>
              <a:t>df3 = pd.concat([df1, df2])</a:t>
            </a:r>
          </a:p>
          <a:p>
            <a:r>
              <a:rPr lang="pt-BR" b="1" dirty="0">
                <a:latin typeface="Courier New" panose="02070309020205020404" pitchFamily="49" charset="0"/>
                <a:cs typeface="Courier New" panose="02070309020205020404" pitchFamily="49" charset="0"/>
              </a:rPr>
              <a:t>df3</a:t>
            </a:r>
          </a:p>
        </p:txBody>
      </p:sp>
    </p:spTree>
    <p:extLst>
      <p:ext uri="{BB962C8B-B14F-4D97-AF65-F5344CB8AC3E}">
        <p14:creationId xmlns:p14="http://schemas.microsoft.com/office/powerpoint/2010/main" val="23008958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821"/>
            <a:ext cx="10515600" cy="1325563"/>
          </a:xfrm>
        </p:spPr>
        <p:txBody>
          <a:bodyPr/>
          <a:lstStyle/>
          <a:p>
            <a:r>
              <a:rPr lang="en-US" b="1" dirty="0"/>
              <a:t>Handling categorical data</a:t>
            </a:r>
          </a:p>
        </p:txBody>
      </p:sp>
      <p:sp>
        <p:nvSpPr>
          <p:cNvPr id="3" name="Content Placeholder 2"/>
          <p:cNvSpPr>
            <a:spLocks noGrp="1"/>
          </p:cNvSpPr>
          <p:nvPr>
            <p:ph idx="1"/>
          </p:nvPr>
        </p:nvSpPr>
        <p:spPr>
          <a:xfrm>
            <a:off x="838200" y="1611086"/>
            <a:ext cx="10515600" cy="4565877"/>
          </a:xfrm>
        </p:spPr>
        <p:txBody>
          <a:bodyPr>
            <a:normAutofit/>
          </a:bodyPr>
          <a:lstStyle/>
          <a:p>
            <a:pPr>
              <a:lnSpc>
                <a:spcPct val="100000"/>
              </a:lnSpc>
              <a:spcBef>
                <a:spcPts val="600"/>
              </a:spcBef>
              <a:spcAft>
                <a:spcPts val="600"/>
              </a:spcAft>
            </a:pPr>
            <a:r>
              <a:rPr lang="en-US" sz="2000" dirty="0"/>
              <a:t>There are many data that are repetitive for example gender , country , and codes are always repetitive .</a:t>
            </a:r>
          </a:p>
          <a:p>
            <a:pPr>
              <a:lnSpc>
                <a:spcPct val="100000"/>
              </a:lnSpc>
              <a:spcBef>
                <a:spcPts val="600"/>
              </a:spcBef>
              <a:spcAft>
                <a:spcPts val="600"/>
              </a:spcAft>
            </a:pPr>
            <a:r>
              <a:rPr lang="en-US" sz="2000" dirty="0"/>
              <a:t>Categorical variables can take on only a limited</a:t>
            </a:r>
          </a:p>
          <a:p>
            <a:pPr>
              <a:lnSpc>
                <a:spcPct val="100000"/>
              </a:lnSpc>
              <a:spcBef>
                <a:spcPts val="600"/>
              </a:spcBef>
              <a:spcAft>
                <a:spcPts val="600"/>
              </a:spcAft>
            </a:pPr>
            <a:r>
              <a:rPr lang="en-US" sz="2000" dirty="0"/>
              <a:t>The categorical data type is useful in the following cases −</a:t>
            </a:r>
          </a:p>
          <a:p>
            <a:pPr>
              <a:lnSpc>
                <a:spcPct val="100000"/>
              </a:lnSpc>
              <a:spcBef>
                <a:spcPts val="600"/>
              </a:spcBef>
              <a:spcAft>
                <a:spcPts val="600"/>
              </a:spcAft>
            </a:pPr>
            <a:r>
              <a:rPr lang="en-US" sz="2000" dirty="0"/>
              <a:t>A string variable consisting of only a few different values. Converting such a string variable to a categorical variable will save some memory.</a:t>
            </a:r>
          </a:p>
          <a:p>
            <a:pPr>
              <a:lnSpc>
                <a:spcPct val="100000"/>
              </a:lnSpc>
              <a:spcBef>
                <a:spcPts val="600"/>
              </a:spcBef>
              <a:spcAft>
                <a:spcPts val="600"/>
              </a:spcAft>
            </a:pPr>
            <a:r>
              <a:rPr lang="en-US" sz="2000" dirty="0"/>
              <a:t>The lexical order of a variable is not the same as the logical order (“one”, “two”, “three”). </a:t>
            </a:r>
          </a:p>
          <a:p>
            <a:pPr lvl="1">
              <a:lnSpc>
                <a:spcPct val="100000"/>
              </a:lnSpc>
              <a:spcBef>
                <a:spcPts val="600"/>
              </a:spcBef>
              <a:spcAft>
                <a:spcPts val="600"/>
              </a:spcAft>
            </a:pPr>
            <a:r>
              <a:rPr lang="en-US" sz="2000" dirty="0"/>
              <a:t>By converting to a categorical and specifying an order on the categories, sorting and min/max will use the logical order instead of the lexical order.</a:t>
            </a:r>
          </a:p>
          <a:p>
            <a:pPr>
              <a:lnSpc>
                <a:spcPct val="100000"/>
              </a:lnSpc>
              <a:spcBef>
                <a:spcPts val="600"/>
              </a:spcBef>
              <a:spcAft>
                <a:spcPts val="600"/>
              </a:spcAft>
            </a:pPr>
            <a:r>
              <a:rPr lang="en-US" sz="2000" dirty="0"/>
              <a:t>As a signal to other python libraries that this column should be treated as a categorical variable (e.g. to use suitable statistical methods or plot types).</a:t>
            </a:r>
          </a:p>
        </p:txBody>
      </p:sp>
    </p:spTree>
    <p:extLst>
      <p:ext uri="{BB962C8B-B14F-4D97-AF65-F5344CB8AC3E}">
        <p14:creationId xmlns:p14="http://schemas.microsoft.com/office/powerpoint/2010/main" val="23688133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4" name="Rectangle 3"/>
          <p:cNvSpPr/>
          <p:nvPr/>
        </p:nvSpPr>
        <p:spPr>
          <a:xfrm>
            <a:off x="606334" y="2371638"/>
            <a:ext cx="10979331" cy="923330"/>
          </a:xfrm>
          <a:prstGeom prst="rect">
            <a:avLst/>
          </a:prstGeom>
          <a:solidFill>
            <a:schemeClr val="accent4">
              <a:lumMod val="20000"/>
              <a:lumOff val="80000"/>
            </a:schemeClr>
          </a:solidFill>
          <a:ln>
            <a:solidFill>
              <a:schemeClr val="accent1"/>
            </a:solidFill>
          </a:ln>
        </p:spPr>
        <p:txBody>
          <a:bodyPr wrap="square">
            <a:spAutoFit/>
          </a:bodyPr>
          <a:lstStyle/>
          <a:p>
            <a:r>
              <a:rPr lang="pt-BR" b="1" dirty="0">
                <a:solidFill>
                  <a:srgbClr val="FF9900"/>
                </a:solidFill>
                <a:latin typeface="Courier New" panose="02070309020205020404" pitchFamily="49" charset="0"/>
                <a:cs typeface="Courier New" panose="02070309020205020404" pitchFamily="49" charset="0"/>
              </a:rPr>
              <a:t>import</a:t>
            </a:r>
            <a:r>
              <a:rPr lang="pt-BR" dirty="0">
                <a:latin typeface="Courier New" panose="02070309020205020404" pitchFamily="49" charset="0"/>
                <a:cs typeface="Courier New" panose="02070309020205020404" pitchFamily="49" charset="0"/>
              </a:rPr>
              <a:t> pandas </a:t>
            </a:r>
            <a:r>
              <a:rPr lang="pt-BR" b="1" dirty="0">
                <a:solidFill>
                  <a:srgbClr val="FF9900"/>
                </a:solidFill>
                <a:latin typeface="Courier New" panose="02070309020205020404" pitchFamily="49" charset="0"/>
                <a:cs typeface="Courier New" panose="02070309020205020404" pitchFamily="49" charset="0"/>
              </a:rPr>
              <a:t>as</a:t>
            </a:r>
            <a:r>
              <a:rPr lang="pt-BR" dirty="0">
                <a:latin typeface="Courier New" panose="02070309020205020404" pitchFamily="49" charset="0"/>
                <a:cs typeface="Courier New" panose="02070309020205020404" pitchFamily="49" charset="0"/>
              </a:rPr>
              <a:t> pd</a:t>
            </a:r>
          </a:p>
          <a:p>
            <a:r>
              <a:rPr lang="pt-BR" dirty="0">
                <a:latin typeface="Courier New" panose="02070309020205020404" pitchFamily="49" charset="0"/>
                <a:cs typeface="Courier New" panose="02070309020205020404" pitchFamily="49" charset="0"/>
              </a:rPr>
              <a:t>cat = pd.Categorical([</a:t>
            </a:r>
            <a:r>
              <a:rPr lang="pt-BR" sz="1600" b="1" dirty="0">
                <a:solidFill>
                  <a:srgbClr val="718C00"/>
                </a:solidFill>
                <a:latin typeface="Courier New" panose="02070309020205020404" pitchFamily="49" charset="0"/>
                <a:cs typeface="Courier New" panose="02070309020205020404" pitchFamily="49" charset="0"/>
              </a:rPr>
              <a:t>'a'</a:t>
            </a:r>
            <a:r>
              <a:rPr lang="pt-BR"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'a'</a:t>
            </a:r>
            <a:r>
              <a:rPr lang="pt-BR"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'b'</a:t>
            </a:r>
            <a:r>
              <a:rPr lang="pt-BR" dirty="0">
                <a:latin typeface="Courier New" panose="02070309020205020404" pitchFamily="49" charset="0"/>
                <a:cs typeface="Courier New" panose="02070309020205020404" pitchFamily="49" charset="0"/>
              </a:rPr>
              <a:t>, </a:t>
            </a:r>
            <a:r>
              <a:rPr lang="pt-BR" sz="1600" b="1" dirty="0">
                <a:solidFill>
                  <a:srgbClr val="718C00"/>
                </a:solidFill>
                <a:latin typeface="Courier New" panose="02070309020205020404" pitchFamily="49" charset="0"/>
                <a:cs typeface="Courier New" panose="02070309020205020404" pitchFamily="49" charset="0"/>
              </a:rPr>
              <a:t>'c'</a:t>
            </a:r>
            <a:r>
              <a:rPr lang="pt-BR" dirty="0">
                <a:latin typeface="Courier New" panose="02070309020205020404" pitchFamily="49" charset="0"/>
                <a:cs typeface="Courier New" panose="02070309020205020404" pitchFamily="49" charset="0"/>
              </a:rPr>
              <a:t>])</a:t>
            </a:r>
          </a:p>
          <a:p>
            <a:r>
              <a:rPr lang="pt-BR" dirty="0">
                <a:latin typeface="Courier New" panose="02070309020205020404" pitchFamily="49" charset="0"/>
                <a:cs typeface="Courier New" panose="02070309020205020404" pitchFamily="49" charset="0"/>
              </a:rPr>
              <a:t>print(cat)</a:t>
            </a:r>
          </a:p>
        </p:txBody>
      </p:sp>
      <p:sp>
        <p:nvSpPr>
          <p:cNvPr id="5" name="Rectangle 4"/>
          <p:cNvSpPr/>
          <p:nvPr/>
        </p:nvSpPr>
        <p:spPr>
          <a:xfrm>
            <a:off x="606333" y="4082872"/>
            <a:ext cx="10979331" cy="1754326"/>
          </a:xfrm>
          <a:prstGeom prst="rect">
            <a:avLst/>
          </a:prstGeom>
          <a:solidFill>
            <a:schemeClr val="accent4">
              <a:lumMod val="20000"/>
              <a:lumOff val="80000"/>
            </a:schemeClr>
          </a:solidFill>
          <a:ln>
            <a:solidFill>
              <a:schemeClr val="accent1"/>
            </a:solidFill>
          </a:ln>
        </p:spPr>
        <p:txBody>
          <a:bodyPr wrap="square">
            <a:spAutoFit/>
          </a:bodyPr>
          <a:lstStyle/>
          <a:p>
            <a:r>
              <a:rPr lang="en-US" b="1" dirty="0">
                <a:solidFill>
                  <a:srgbClr val="FF9900"/>
                </a:solidFill>
                <a:latin typeface="Courier New" panose="02070309020205020404" pitchFamily="49" charset="0"/>
                <a:cs typeface="Courier New" panose="02070309020205020404" pitchFamily="49" charset="0"/>
              </a:rPr>
              <a:t>import</a:t>
            </a:r>
            <a:r>
              <a:rPr lang="en-US" dirty="0">
                <a:latin typeface="Courier New" panose="02070309020205020404" pitchFamily="49" charset="0"/>
                <a:cs typeface="Courier New" panose="02070309020205020404" pitchFamily="49" charset="0"/>
              </a:rPr>
              <a:t> pandas </a:t>
            </a:r>
            <a:r>
              <a:rPr lang="en-US" b="1" dirty="0">
                <a:solidFill>
                  <a:srgbClr val="FF9900"/>
                </a:solidFill>
                <a:latin typeface="Courier New" panose="02070309020205020404" pitchFamily="49" charset="0"/>
                <a:cs typeface="Courier New" panose="02070309020205020404" pitchFamily="49" charset="0"/>
              </a:rPr>
              <a:t>as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pd</a:t>
            </a:r>
            <a:endParaRPr lang="en-US" dirty="0">
              <a:latin typeface="Courier New" panose="02070309020205020404" pitchFamily="49" charset="0"/>
              <a:cs typeface="Courier New" panose="02070309020205020404" pitchFamily="49" charset="0"/>
            </a:endParaRPr>
          </a:p>
          <a:p>
            <a:r>
              <a:rPr lang="en-US" b="1" dirty="0">
                <a:solidFill>
                  <a:srgbClr val="FF9900"/>
                </a:solidFill>
                <a:latin typeface="Courier New" panose="02070309020205020404" pitchFamily="49" charset="0"/>
                <a:cs typeface="Courier New" panose="02070309020205020404" pitchFamily="49" charset="0"/>
              </a:rPr>
              <a:t>import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numpy</a:t>
            </a:r>
            <a:r>
              <a:rPr lang="en-US" dirty="0">
                <a:latin typeface="Courier New" panose="02070309020205020404" pitchFamily="49" charset="0"/>
                <a:cs typeface="Courier New" panose="02070309020205020404" pitchFamily="49" charset="0"/>
              </a:rPr>
              <a:t> </a:t>
            </a:r>
            <a:r>
              <a:rPr lang="en-US" b="1" dirty="0">
                <a:solidFill>
                  <a:srgbClr val="FF9900"/>
                </a:solidFill>
                <a:latin typeface="Courier New" panose="02070309020205020404" pitchFamily="49" charset="0"/>
                <a:cs typeface="Courier New" panose="02070309020205020404" pitchFamily="49" charset="0"/>
              </a:rPr>
              <a:t>as</a:t>
            </a:r>
            <a:r>
              <a:rPr lang="en-US" dirty="0">
                <a:latin typeface="Courier New" panose="02070309020205020404" pitchFamily="49" charset="0"/>
                <a:cs typeface="Courier New" panose="02070309020205020404" pitchFamily="49" charset="0"/>
              </a:rPr>
              <a:t> np</a:t>
            </a:r>
          </a:p>
          <a:p>
            <a:r>
              <a:rPr lang="en-US" dirty="0">
                <a:latin typeface="Courier New" panose="02070309020205020404" pitchFamily="49" charset="0"/>
                <a:cs typeface="Courier New" panose="02070309020205020404" pitchFamily="49" charset="0"/>
              </a:rPr>
              <a:t>cat = </a:t>
            </a:r>
            <a:r>
              <a:rPr lang="en-US" dirty="0" err="1">
                <a:latin typeface="Courier New" panose="02070309020205020404" pitchFamily="49" charset="0"/>
                <a:cs typeface="Courier New" panose="02070309020205020404" pitchFamily="49" charset="0"/>
              </a:rPr>
              <a:t>pd.Categorical</a:t>
            </a:r>
            <a:r>
              <a:rPr lang="en-US" dirty="0">
                <a:latin typeface="Courier New" panose="02070309020205020404" pitchFamily="49" charset="0"/>
                <a:cs typeface="Courier New" panose="02070309020205020404" pitchFamily="49" charset="0"/>
              </a:rPr>
              <a:t>([</a:t>
            </a:r>
            <a:r>
              <a:rPr lang="en-US" sz="1600" b="1" dirty="0">
                <a:solidFill>
                  <a:srgbClr val="718C00"/>
                </a:solidFill>
                <a:latin typeface="Courier New" panose="02070309020205020404" pitchFamily="49" charset="0"/>
                <a:cs typeface="Courier New" panose="02070309020205020404" pitchFamily="49" charset="0"/>
              </a:rPr>
              <a:t>"a"</a:t>
            </a:r>
            <a:r>
              <a:rPr lang="en-US" dirty="0">
                <a:latin typeface="Courier New" panose="02070309020205020404" pitchFamily="49" charset="0"/>
                <a:cs typeface="Courier New" panose="02070309020205020404" pitchFamily="49" charset="0"/>
              </a:rPr>
              <a:t>, </a:t>
            </a:r>
            <a:r>
              <a:rPr lang="en-US" sz="1600" b="1" dirty="0">
                <a:solidFill>
                  <a:srgbClr val="718C00"/>
                </a:solidFill>
                <a:latin typeface="Courier New" panose="02070309020205020404" pitchFamily="49" charset="0"/>
                <a:cs typeface="Courier New" panose="02070309020205020404" pitchFamily="49" charset="0"/>
              </a:rPr>
              <a:t>"c"</a:t>
            </a:r>
            <a:r>
              <a:rPr lang="en-US" dirty="0">
                <a:latin typeface="Courier New" panose="02070309020205020404" pitchFamily="49" charset="0"/>
                <a:cs typeface="Courier New" panose="02070309020205020404" pitchFamily="49" charset="0"/>
              </a:rPr>
              <a:t>, </a:t>
            </a:r>
            <a:r>
              <a:rPr lang="en-US" sz="1600" b="1" dirty="0">
                <a:solidFill>
                  <a:srgbClr val="718C00"/>
                </a:solidFill>
                <a:latin typeface="Courier New" panose="02070309020205020404" pitchFamily="49" charset="0"/>
                <a:cs typeface="Courier New" panose="02070309020205020404" pitchFamily="49" charset="0"/>
              </a:rPr>
              <a:t>"c"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np.nan</a:t>
            </a:r>
            <a:r>
              <a:rPr lang="en-US" dirty="0">
                <a:latin typeface="Courier New" panose="02070309020205020404" pitchFamily="49" charset="0"/>
                <a:cs typeface="Courier New" panose="02070309020205020404" pitchFamily="49" charset="0"/>
              </a:rPr>
              <a:t>], categories=[</a:t>
            </a:r>
            <a:r>
              <a:rPr lang="en-US" sz="1600" b="1" dirty="0">
                <a:solidFill>
                  <a:srgbClr val="718C00"/>
                </a:solidFill>
                <a:latin typeface="Courier New" panose="02070309020205020404" pitchFamily="49" charset="0"/>
                <a:cs typeface="Courier New" panose="02070309020205020404" pitchFamily="49" charset="0"/>
              </a:rPr>
              <a:t>"b"</a:t>
            </a:r>
            <a:r>
              <a:rPr lang="en-US" dirty="0">
                <a:latin typeface="Courier New" panose="02070309020205020404" pitchFamily="49" charset="0"/>
                <a:cs typeface="Courier New" panose="02070309020205020404" pitchFamily="49" charset="0"/>
              </a:rPr>
              <a:t>, </a:t>
            </a:r>
            <a:r>
              <a:rPr lang="en-US" sz="1600" b="1" dirty="0">
                <a:solidFill>
                  <a:srgbClr val="718C00"/>
                </a:solidFill>
                <a:latin typeface="Courier New" panose="02070309020205020404" pitchFamily="49" charset="0"/>
                <a:cs typeface="Courier New" panose="02070309020205020404" pitchFamily="49" charset="0"/>
              </a:rPr>
              <a:t>"a"</a:t>
            </a:r>
            <a:r>
              <a:rPr lang="en-US" dirty="0">
                <a:latin typeface="Courier New" panose="02070309020205020404" pitchFamily="49" charset="0"/>
                <a:cs typeface="Courier New" panose="02070309020205020404" pitchFamily="49" charset="0"/>
              </a:rPr>
              <a:t>, </a:t>
            </a:r>
            <a:r>
              <a:rPr lang="en-US" sz="1600" b="1" dirty="0">
                <a:solidFill>
                  <a:srgbClr val="718C00"/>
                </a:solidFill>
                <a:latin typeface="Courier New" panose="02070309020205020404" pitchFamily="49" charset="0"/>
                <a:cs typeface="Courier New" panose="02070309020205020404" pitchFamily="49" charset="0"/>
              </a:rPr>
              <a:t>"c"</a:t>
            </a:r>
            <a:r>
              <a:rPr lang="en-US" dirty="0">
                <a:latin typeface="Courier New" panose="02070309020205020404" pitchFamily="49" charset="0"/>
                <a:cs typeface="Courier New" panose="02070309020205020404" pitchFamily="49" charset="0"/>
              </a:rPr>
              <a:t>])</a:t>
            </a:r>
          </a:p>
          <a:p>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pd.DataFrame</a:t>
            </a:r>
            <a:r>
              <a:rPr lang="en-US" dirty="0">
                <a:latin typeface="Courier New" panose="02070309020205020404" pitchFamily="49" charset="0"/>
                <a:cs typeface="Courier New" panose="02070309020205020404" pitchFamily="49" charset="0"/>
              </a:rPr>
              <a:t>({</a:t>
            </a:r>
            <a:r>
              <a:rPr lang="en-US" sz="1600" b="1" dirty="0">
                <a:solidFill>
                  <a:srgbClr val="718C00"/>
                </a:solidFill>
                <a:latin typeface="Courier New" panose="02070309020205020404" pitchFamily="49" charset="0"/>
                <a:cs typeface="Courier New" panose="02070309020205020404" pitchFamily="49" charset="0"/>
              </a:rPr>
              <a:t>"cat"</a:t>
            </a:r>
            <a:r>
              <a:rPr lang="en-US" dirty="0">
                <a:latin typeface="Courier New" panose="02070309020205020404" pitchFamily="49" charset="0"/>
                <a:cs typeface="Courier New" panose="02070309020205020404" pitchFamily="49" charset="0"/>
              </a:rPr>
              <a:t>: cat, </a:t>
            </a:r>
            <a:r>
              <a:rPr lang="en-US" sz="1600" b="1" dirty="0">
                <a:solidFill>
                  <a:srgbClr val="718C00"/>
                </a:solidFill>
                <a:latin typeface="Courier New" panose="02070309020205020404" pitchFamily="49" charset="0"/>
                <a:cs typeface="Courier New" panose="02070309020205020404" pitchFamily="49" charset="0"/>
              </a:rPr>
              <a:t>"s"</a:t>
            </a:r>
            <a:r>
              <a:rPr lang="en-US" dirty="0">
                <a:latin typeface="Courier New" panose="02070309020205020404" pitchFamily="49" charset="0"/>
                <a:cs typeface="Courier New" panose="02070309020205020404" pitchFamily="49" charset="0"/>
              </a:rPr>
              <a:t>:[</a:t>
            </a:r>
            <a:r>
              <a:rPr lang="en-US" sz="1600" b="1" dirty="0">
                <a:solidFill>
                  <a:srgbClr val="718C00"/>
                </a:solidFill>
                <a:latin typeface="Courier New" panose="02070309020205020404" pitchFamily="49" charset="0"/>
                <a:cs typeface="Courier New" panose="02070309020205020404" pitchFamily="49" charset="0"/>
              </a:rPr>
              <a:t>"a"</a:t>
            </a:r>
            <a:r>
              <a:rPr lang="en-US" dirty="0">
                <a:latin typeface="Courier New" panose="02070309020205020404" pitchFamily="49" charset="0"/>
                <a:cs typeface="Courier New" panose="02070309020205020404" pitchFamily="49" charset="0"/>
              </a:rPr>
              <a:t>, </a:t>
            </a:r>
            <a:r>
              <a:rPr lang="en-US" sz="1600" b="1" dirty="0">
                <a:solidFill>
                  <a:srgbClr val="718C00"/>
                </a:solidFill>
                <a:latin typeface="Courier New" panose="02070309020205020404" pitchFamily="49" charset="0"/>
                <a:cs typeface="Courier New" panose="02070309020205020404" pitchFamily="49" charset="0"/>
              </a:rPr>
              <a:t>"c"</a:t>
            </a:r>
            <a:r>
              <a:rPr lang="en-US" dirty="0">
                <a:latin typeface="Courier New" panose="02070309020205020404" pitchFamily="49" charset="0"/>
                <a:cs typeface="Courier New" panose="02070309020205020404" pitchFamily="49" charset="0"/>
              </a:rPr>
              <a:t>, </a:t>
            </a:r>
            <a:r>
              <a:rPr lang="en-US" sz="1600" b="1" dirty="0">
                <a:solidFill>
                  <a:srgbClr val="718C00"/>
                </a:solidFill>
                <a:latin typeface="Courier New" panose="02070309020205020404" pitchFamily="49" charset="0"/>
                <a:cs typeface="Courier New" panose="02070309020205020404" pitchFamily="49" charset="0"/>
              </a:rPr>
              <a:t>"c"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np.nan</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df.describe</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a:t>
            </a:r>
            <a:r>
              <a:rPr lang="en-US" sz="1600" b="1" dirty="0">
                <a:solidFill>
                  <a:srgbClr val="718C00"/>
                </a:solidFill>
                <a:latin typeface="Courier New" panose="02070309020205020404" pitchFamily="49" charset="0"/>
                <a:cs typeface="Courier New" panose="02070309020205020404" pitchFamily="49" charset="0"/>
              </a:rPr>
              <a:t>"cat"</a:t>
            </a:r>
            <a:r>
              <a:rPr lang="en-US" dirty="0">
                <a:latin typeface="Courier New" panose="02070309020205020404" pitchFamily="49" charset="0"/>
                <a:cs typeface="Courier New" panose="02070309020205020404" pitchFamily="49" charset="0"/>
              </a:rPr>
              <a:t>].describe())</a:t>
            </a:r>
            <a:endParaRPr lang="pt-B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155166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9872"/>
            <a:ext cx="10515600" cy="1325563"/>
          </a:xfrm>
        </p:spPr>
        <p:txBody>
          <a:bodyPr/>
          <a:lstStyle/>
          <a:p>
            <a:r>
              <a:rPr lang="en-US" dirty="0"/>
              <a:t>Reading data from a SQL database</a:t>
            </a:r>
          </a:p>
        </p:txBody>
      </p:sp>
      <p:sp>
        <p:nvSpPr>
          <p:cNvPr id="3" name="Content Placeholder 2"/>
          <p:cNvSpPr>
            <a:spLocks noGrp="1"/>
          </p:cNvSpPr>
          <p:nvPr>
            <p:ph idx="1"/>
          </p:nvPr>
        </p:nvSpPr>
        <p:spPr>
          <a:xfrm>
            <a:off x="838200" y="1443210"/>
            <a:ext cx="10515600" cy="3899971"/>
          </a:xfrm>
        </p:spPr>
        <p:txBody>
          <a:bodyPr>
            <a:normAutofit/>
          </a:bodyPr>
          <a:lstStyle/>
          <a:p>
            <a:r>
              <a:rPr lang="en-US" sz="2000" dirty="0"/>
              <a:t>f you’re working with data from a SQL database you need to first establish a connection using an appropriate Python library, then pass a query to pandas. Here we'll use SQLite to demonstrate.</a:t>
            </a:r>
          </a:p>
          <a:p>
            <a:r>
              <a:rPr lang="en-US" sz="2000" dirty="0"/>
              <a:t>First, we need pysqlite3 installed, so run this command in your terminal:</a:t>
            </a:r>
          </a:p>
          <a:p>
            <a:pPr lvl="1"/>
            <a:r>
              <a:rPr lang="en-US" sz="1600" dirty="0"/>
              <a:t>pip install pysqlite3</a:t>
            </a:r>
          </a:p>
          <a:p>
            <a:pPr lvl="1"/>
            <a:r>
              <a:rPr lang="en-US" sz="1600" dirty="0"/>
              <a:t>Or run this cell if you're in a notebook: !pip install pysqlite3</a:t>
            </a:r>
          </a:p>
          <a:p>
            <a:r>
              <a:rPr lang="en-US" sz="2000" dirty="0"/>
              <a:t>sqlite3 is used to create a connection to a database which we can then use to generate a </a:t>
            </a:r>
            <a:r>
              <a:rPr lang="en-US" sz="2000" dirty="0" err="1"/>
              <a:t>DataFrame</a:t>
            </a:r>
            <a:r>
              <a:rPr lang="en-US" sz="2000" dirty="0"/>
              <a:t> through a SELECT query.</a:t>
            </a:r>
          </a:p>
          <a:p>
            <a:pPr lvl="1"/>
            <a:r>
              <a:rPr lang="en-US" sz="1600" dirty="0"/>
              <a:t>So first we'll make a connection to a SQLite database file:</a:t>
            </a:r>
          </a:p>
          <a:p>
            <a:pPr lvl="1"/>
            <a:endParaRPr lang="en-US" sz="1600" dirty="0"/>
          </a:p>
          <a:p>
            <a:pPr lvl="1"/>
            <a:endParaRPr lang="en-US" sz="1600" dirty="0"/>
          </a:p>
          <a:p>
            <a:pPr lvl="1"/>
            <a:r>
              <a:rPr lang="en-US" sz="1600" dirty="0"/>
              <a:t>In this SQLite database we have a table called purchases, and our index is in a column called "index".</a:t>
            </a:r>
          </a:p>
          <a:p>
            <a:pPr lvl="1"/>
            <a:r>
              <a:rPr lang="en-US" sz="1600" dirty="0"/>
              <a:t>By passing a SELECT query and our con, we can read from the purchases table:</a:t>
            </a:r>
          </a:p>
          <a:p>
            <a:pPr lvl="1"/>
            <a:endParaRPr lang="en-US" sz="1600" dirty="0"/>
          </a:p>
        </p:txBody>
      </p:sp>
      <p:sp>
        <p:nvSpPr>
          <p:cNvPr id="6" name="Rectangle 5"/>
          <p:cNvSpPr/>
          <p:nvPr/>
        </p:nvSpPr>
        <p:spPr>
          <a:xfrm>
            <a:off x="6599104" y="3800819"/>
            <a:ext cx="5376230" cy="646331"/>
          </a:xfrm>
          <a:prstGeom prst="rect">
            <a:avLst/>
          </a:prstGeom>
          <a:solidFill>
            <a:schemeClr val="accent4">
              <a:lumMod val="20000"/>
              <a:lumOff val="80000"/>
            </a:schemeClr>
          </a:solidFill>
          <a:ln>
            <a:solidFill>
              <a:schemeClr val="accent1"/>
            </a:solidFill>
          </a:ln>
        </p:spPr>
        <p:txBody>
          <a:bodyPr wrap="square">
            <a:spAutoFit/>
          </a:bodyPr>
          <a:lstStyle/>
          <a:p>
            <a:r>
              <a:rPr lang="it-IT" b="1" dirty="0">
                <a:solidFill>
                  <a:srgbClr val="8959A8"/>
                </a:solidFill>
                <a:latin typeface="Courier New" panose="02070309020205020404" pitchFamily="49" charset="0"/>
                <a:cs typeface="Courier New" panose="02070309020205020404" pitchFamily="49" charset="0"/>
              </a:rPr>
              <a:t>import</a:t>
            </a:r>
            <a:r>
              <a:rPr lang="it-IT" b="1" dirty="0">
                <a:solidFill>
                  <a:srgbClr val="4D4D4C"/>
                </a:solidFill>
                <a:latin typeface="Courier New" panose="02070309020205020404" pitchFamily="49" charset="0"/>
                <a:cs typeface="Courier New" panose="02070309020205020404" pitchFamily="49" charset="0"/>
              </a:rPr>
              <a:t> sqlite3 </a:t>
            </a:r>
          </a:p>
          <a:p>
            <a:r>
              <a:rPr lang="it-IT" b="1" dirty="0">
                <a:solidFill>
                  <a:srgbClr val="4D4D4C"/>
                </a:solidFill>
                <a:latin typeface="Courier New" panose="02070309020205020404" pitchFamily="49" charset="0"/>
                <a:cs typeface="Courier New" panose="02070309020205020404" pitchFamily="49" charset="0"/>
              </a:rPr>
              <a:t>con </a:t>
            </a:r>
            <a:r>
              <a:rPr lang="it-IT" b="1" dirty="0">
                <a:solidFill>
                  <a:srgbClr val="3E999F"/>
                </a:solidFill>
                <a:latin typeface="Courier New" panose="02070309020205020404" pitchFamily="49" charset="0"/>
                <a:cs typeface="Courier New" panose="02070309020205020404" pitchFamily="49" charset="0"/>
              </a:rPr>
              <a:t>=</a:t>
            </a:r>
            <a:r>
              <a:rPr lang="it-IT" b="1" dirty="0">
                <a:solidFill>
                  <a:srgbClr val="4D4D4C"/>
                </a:solidFill>
                <a:latin typeface="Courier New" panose="02070309020205020404" pitchFamily="49" charset="0"/>
                <a:cs typeface="Courier New" panose="02070309020205020404" pitchFamily="49" charset="0"/>
              </a:rPr>
              <a:t> sqlite3.</a:t>
            </a:r>
            <a:r>
              <a:rPr lang="it-IT" b="1" dirty="0">
                <a:solidFill>
                  <a:srgbClr val="4271AE"/>
                </a:solidFill>
                <a:latin typeface="Courier New" panose="02070309020205020404" pitchFamily="49" charset="0"/>
                <a:cs typeface="Courier New" panose="02070309020205020404" pitchFamily="49" charset="0"/>
              </a:rPr>
              <a:t>connect</a:t>
            </a:r>
            <a:r>
              <a:rPr lang="it-IT" b="1" dirty="0">
                <a:solidFill>
                  <a:srgbClr val="4D4D4C"/>
                </a:solidFill>
                <a:latin typeface="Courier New" panose="02070309020205020404" pitchFamily="49" charset="0"/>
                <a:cs typeface="Courier New" panose="02070309020205020404" pitchFamily="49" charset="0"/>
              </a:rPr>
              <a:t>(</a:t>
            </a:r>
            <a:r>
              <a:rPr lang="it-IT" b="1" dirty="0">
                <a:solidFill>
                  <a:srgbClr val="718C00"/>
                </a:solidFill>
                <a:latin typeface="Courier New" panose="02070309020205020404" pitchFamily="49" charset="0"/>
                <a:cs typeface="Courier New" panose="02070309020205020404" pitchFamily="49" charset="0"/>
              </a:rPr>
              <a:t>"database.db"</a:t>
            </a:r>
            <a:r>
              <a:rPr lang="it-IT" b="1" dirty="0">
                <a:solidFill>
                  <a:srgbClr val="4D4D4C"/>
                </a:solidFill>
                <a:latin typeface="Courier New" panose="02070309020205020404" pitchFamily="49" charset="0"/>
                <a:cs typeface="Courier New" panose="02070309020205020404" pitchFamily="49" charset="0"/>
              </a:rPr>
              <a:t>)</a:t>
            </a:r>
            <a:endParaRPr lang="it-IT" b="1" i="0" dirty="0">
              <a:solidFill>
                <a:srgbClr val="4D4D4C"/>
              </a:solidFill>
              <a:effectLst/>
              <a:latin typeface="Courier New" panose="02070309020205020404" pitchFamily="49" charset="0"/>
              <a:cs typeface="Courier New" panose="02070309020205020404" pitchFamily="49" charset="0"/>
            </a:endParaRPr>
          </a:p>
        </p:txBody>
      </p:sp>
      <p:sp>
        <p:nvSpPr>
          <p:cNvPr id="8" name="Rectangle 7"/>
          <p:cNvSpPr/>
          <p:nvPr/>
        </p:nvSpPr>
        <p:spPr>
          <a:xfrm>
            <a:off x="4197426" y="5343181"/>
            <a:ext cx="7777908" cy="369332"/>
          </a:xfrm>
          <a:prstGeom prst="rect">
            <a:avLst/>
          </a:prstGeom>
          <a:solidFill>
            <a:schemeClr val="accent4">
              <a:lumMod val="20000"/>
              <a:lumOff val="80000"/>
            </a:schemeClr>
          </a:solidFill>
          <a:ln>
            <a:solidFill>
              <a:schemeClr val="accent1"/>
            </a:solidFill>
          </a:ln>
        </p:spPr>
        <p:txBody>
          <a:bodyPr wrap="square">
            <a:spAutoFit/>
          </a:bodyPr>
          <a:lstStyle/>
          <a:p>
            <a:r>
              <a:rPr lang="en-US" b="1" dirty="0" err="1">
                <a:solidFill>
                  <a:srgbClr val="4D4D4C"/>
                </a:solidFill>
                <a:latin typeface="Courier New" panose="02070309020205020404" pitchFamily="49" charset="0"/>
                <a:cs typeface="Courier New" panose="02070309020205020404" pitchFamily="49" charset="0"/>
              </a:rPr>
              <a:t>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4D4D4C"/>
                </a:solidFill>
                <a:latin typeface="Courier New" panose="02070309020205020404" pitchFamily="49" charset="0"/>
                <a:cs typeface="Courier New" panose="02070309020205020404" pitchFamily="49" charset="0"/>
              </a:rPr>
              <a:t>pd.</a:t>
            </a:r>
            <a:r>
              <a:rPr lang="en-US" b="1" dirty="0" err="1">
                <a:solidFill>
                  <a:srgbClr val="4271AE"/>
                </a:solidFill>
                <a:latin typeface="Courier New" panose="02070309020205020404" pitchFamily="49" charset="0"/>
                <a:cs typeface="Courier New" panose="02070309020205020404" pitchFamily="49" charset="0"/>
              </a:rPr>
              <a:t>read_sql_query</a:t>
            </a:r>
            <a:r>
              <a:rPr lang="en-US" b="1" dirty="0">
                <a:solidFill>
                  <a:srgbClr val="4D4D4C"/>
                </a:solidFill>
                <a:latin typeface="Courier New" panose="02070309020205020404" pitchFamily="49" charset="0"/>
                <a:cs typeface="Courier New" panose="02070309020205020404" pitchFamily="49" charset="0"/>
              </a:rPr>
              <a:t>(</a:t>
            </a:r>
            <a:r>
              <a:rPr lang="en-US" b="1" dirty="0">
                <a:solidFill>
                  <a:srgbClr val="718C00"/>
                </a:solidFill>
                <a:latin typeface="Courier New" panose="02070309020205020404" pitchFamily="49" charset="0"/>
                <a:cs typeface="Courier New" panose="02070309020205020404" pitchFamily="49" charset="0"/>
              </a:rPr>
              <a:t>"SELECT * FROM purchases"</a:t>
            </a:r>
            <a:r>
              <a:rPr lang="en-US" b="1" dirty="0">
                <a:solidFill>
                  <a:srgbClr val="4D4D4C"/>
                </a:solidFill>
                <a:latin typeface="Courier New" panose="02070309020205020404" pitchFamily="49" charset="0"/>
                <a:cs typeface="Courier New" panose="02070309020205020404" pitchFamily="49" charset="0"/>
              </a:rPr>
              <a:t>, con) </a:t>
            </a:r>
          </a:p>
        </p:txBody>
      </p:sp>
    </p:spTree>
    <p:extLst>
      <p:ext uri="{BB962C8B-B14F-4D97-AF65-F5344CB8AC3E}">
        <p14:creationId xmlns:p14="http://schemas.microsoft.com/office/powerpoint/2010/main" val="18807914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4865"/>
          </a:xfrm>
        </p:spPr>
        <p:txBody>
          <a:bodyPr/>
          <a:lstStyle/>
          <a:p>
            <a:r>
              <a:rPr lang="en-US" dirty="0"/>
              <a:t>Reading data from a SQL database</a:t>
            </a:r>
          </a:p>
        </p:txBody>
      </p:sp>
      <p:sp>
        <p:nvSpPr>
          <p:cNvPr id="3" name="Content Placeholder 2"/>
          <p:cNvSpPr>
            <a:spLocks noGrp="1"/>
          </p:cNvSpPr>
          <p:nvPr>
            <p:ph idx="1"/>
          </p:nvPr>
        </p:nvSpPr>
        <p:spPr>
          <a:xfrm>
            <a:off x="838200" y="1443210"/>
            <a:ext cx="10515600" cy="3690650"/>
          </a:xfrm>
        </p:spPr>
        <p:txBody>
          <a:bodyPr>
            <a:normAutofit fontScale="92500"/>
          </a:bodyPr>
          <a:lstStyle/>
          <a:p>
            <a:r>
              <a:rPr lang="en-US" sz="2000" dirty="0"/>
              <a:t>In this SQLite database we have a table called purchases, and our index is in a column called "index".</a:t>
            </a:r>
          </a:p>
          <a:p>
            <a:r>
              <a:rPr lang="en-US" sz="2000" dirty="0"/>
              <a:t>By passing a SELECT query and our con, we can read from the purchases table:</a:t>
            </a:r>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Just like with CSVs, we could pass </a:t>
            </a:r>
            <a:r>
              <a:rPr lang="en-US" sz="2000" dirty="0" err="1"/>
              <a:t>index_col</a:t>
            </a:r>
            <a:r>
              <a:rPr lang="en-US" sz="2000" dirty="0"/>
              <a:t>='index', but we can also set an index after-the-fact:</a:t>
            </a:r>
          </a:p>
          <a:p>
            <a:pPr lvl="1"/>
            <a:r>
              <a:rPr lang="en-US" sz="1600" dirty="0"/>
              <a:t>In fact, we could use </a:t>
            </a:r>
            <a:r>
              <a:rPr lang="en-US" sz="1600" dirty="0" err="1"/>
              <a:t>set_index</a:t>
            </a:r>
            <a:r>
              <a:rPr lang="en-US" sz="1600" dirty="0"/>
              <a:t>() on any </a:t>
            </a:r>
            <a:r>
              <a:rPr lang="en-US" sz="1600" dirty="0" err="1"/>
              <a:t>DataFrame</a:t>
            </a:r>
            <a:r>
              <a:rPr lang="en-US" sz="1600" dirty="0"/>
              <a:t> using any column at any time. Indexing Series and </a:t>
            </a:r>
            <a:r>
              <a:rPr lang="en-US" sz="1600" dirty="0" err="1"/>
              <a:t>DataFrames</a:t>
            </a:r>
            <a:r>
              <a:rPr lang="en-US" sz="1600" dirty="0"/>
              <a:t> is a very common task, and the different ways of doing it is worth remembering. </a:t>
            </a:r>
          </a:p>
          <a:p>
            <a:pPr lvl="1"/>
            <a:endParaRPr lang="en-US" sz="1600" dirty="0"/>
          </a:p>
        </p:txBody>
      </p:sp>
      <p:sp>
        <p:nvSpPr>
          <p:cNvPr id="8" name="Rectangle 7"/>
          <p:cNvSpPr/>
          <p:nvPr/>
        </p:nvSpPr>
        <p:spPr>
          <a:xfrm>
            <a:off x="1123720" y="2264685"/>
            <a:ext cx="7777908" cy="369332"/>
          </a:xfrm>
          <a:prstGeom prst="rect">
            <a:avLst/>
          </a:prstGeom>
          <a:solidFill>
            <a:schemeClr val="accent4">
              <a:lumMod val="20000"/>
              <a:lumOff val="80000"/>
            </a:schemeClr>
          </a:solidFill>
          <a:ln>
            <a:solidFill>
              <a:schemeClr val="accent1"/>
            </a:solidFill>
          </a:ln>
        </p:spPr>
        <p:txBody>
          <a:bodyPr wrap="square">
            <a:spAutoFit/>
          </a:bodyPr>
          <a:lstStyle/>
          <a:p>
            <a:r>
              <a:rPr lang="en-US" b="1" dirty="0" err="1">
                <a:solidFill>
                  <a:srgbClr val="4D4D4C"/>
                </a:solidFill>
                <a:latin typeface="Courier New" panose="02070309020205020404" pitchFamily="49" charset="0"/>
                <a:cs typeface="Courier New" panose="02070309020205020404" pitchFamily="49" charset="0"/>
              </a:rPr>
              <a:t>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4D4D4C"/>
                </a:solidFill>
                <a:latin typeface="Courier New" panose="02070309020205020404" pitchFamily="49" charset="0"/>
                <a:cs typeface="Courier New" panose="02070309020205020404" pitchFamily="49" charset="0"/>
              </a:rPr>
              <a:t>pd.</a:t>
            </a:r>
            <a:r>
              <a:rPr lang="en-US" b="1" dirty="0" err="1">
                <a:solidFill>
                  <a:srgbClr val="4271AE"/>
                </a:solidFill>
                <a:latin typeface="Courier New" panose="02070309020205020404" pitchFamily="49" charset="0"/>
                <a:cs typeface="Courier New" panose="02070309020205020404" pitchFamily="49" charset="0"/>
              </a:rPr>
              <a:t>read_sql_query</a:t>
            </a:r>
            <a:r>
              <a:rPr lang="en-US" b="1" dirty="0">
                <a:solidFill>
                  <a:srgbClr val="4D4D4C"/>
                </a:solidFill>
                <a:latin typeface="Courier New" panose="02070309020205020404" pitchFamily="49" charset="0"/>
                <a:cs typeface="Courier New" panose="02070309020205020404" pitchFamily="49" charset="0"/>
              </a:rPr>
              <a:t>(</a:t>
            </a:r>
            <a:r>
              <a:rPr lang="en-US" b="1" dirty="0">
                <a:solidFill>
                  <a:srgbClr val="718C00"/>
                </a:solidFill>
                <a:latin typeface="Courier New" panose="02070309020205020404" pitchFamily="49" charset="0"/>
                <a:cs typeface="Courier New" panose="02070309020205020404" pitchFamily="49" charset="0"/>
              </a:rPr>
              <a:t>"SELECT * FROM purchases"</a:t>
            </a:r>
            <a:r>
              <a:rPr lang="en-US" b="1" dirty="0">
                <a:solidFill>
                  <a:srgbClr val="4D4D4C"/>
                </a:solidFill>
                <a:latin typeface="Courier New" panose="02070309020205020404" pitchFamily="49" charset="0"/>
                <a:cs typeface="Courier New" panose="02070309020205020404" pitchFamily="49" charset="0"/>
              </a:rPr>
              <a:t>, con) </a:t>
            </a:r>
          </a:p>
        </p:txBody>
      </p:sp>
      <p:pic>
        <p:nvPicPr>
          <p:cNvPr id="4" name="Picture 3"/>
          <p:cNvPicPr>
            <a:picLocks noChangeAspect="1"/>
          </p:cNvPicPr>
          <p:nvPr/>
        </p:nvPicPr>
        <p:blipFill>
          <a:blip r:embed="rId2"/>
          <a:stretch>
            <a:fillRect/>
          </a:stretch>
        </p:blipFill>
        <p:spPr>
          <a:xfrm>
            <a:off x="8982482" y="2243149"/>
            <a:ext cx="2794550" cy="1491569"/>
          </a:xfrm>
          <a:prstGeom prst="rect">
            <a:avLst/>
          </a:prstGeom>
        </p:spPr>
      </p:pic>
      <p:sp>
        <p:nvSpPr>
          <p:cNvPr id="7" name="Rectangle 6"/>
          <p:cNvSpPr/>
          <p:nvPr/>
        </p:nvSpPr>
        <p:spPr>
          <a:xfrm>
            <a:off x="4979623" y="5151734"/>
            <a:ext cx="3768980"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err="1">
                <a:solidFill>
                  <a:srgbClr val="4D4D4C"/>
                </a:solidFill>
                <a:latin typeface="Courier New" panose="02070309020205020404" pitchFamily="49" charset="0"/>
                <a:cs typeface="Courier New" panose="02070309020205020404" pitchFamily="49" charset="0"/>
              </a:rPr>
              <a:t>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4D4D4C"/>
                </a:solidFill>
                <a:latin typeface="Courier New" panose="02070309020205020404" pitchFamily="49" charset="0"/>
                <a:cs typeface="Courier New" panose="02070309020205020404" pitchFamily="49" charset="0"/>
              </a:rPr>
              <a:t>df.</a:t>
            </a:r>
            <a:r>
              <a:rPr lang="en-US" b="1" dirty="0" err="1">
                <a:solidFill>
                  <a:srgbClr val="4271AE"/>
                </a:solidFill>
                <a:latin typeface="Courier New" panose="02070309020205020404" pitchFamily="49" charset="0"/>
                <a:cs typeface="Courier New" panose="02070309020205020404" pitchFamily="49" charset="0"/>
              </a:rPr>
              <a:t>set_index</a:t>
            </a:r>
            <a:r>
              <a:rPr lang="en-US" b="1" dirty="0">
                <a:solidFill>
                  <a:srgbClr val="4D4D4C"/>
                </a:solidFill>
                <a:latin typeface="Courier New" panose="02070309020205020404" pitchFamily="49" charset="0"/>
                <a:cs typeface="Courier New" panose="02070309020205020404" pitchFamily="49" charset="0"/>
              </a:rPr>
              <a:t>(</a:t>
            </a:r>
            <a:r>
              <a:rPr lang="en-US" b="1" dirty="0">
                <a:solidFill>
                  <a:srgbClr val="718C00"/>
                </a:solidFill>
                <a:latin typeface="Courier New" panose="02070309020205020404" pitchFamily="49" charset="0"/>
                <a:cs typeface="Courier New" panose="02070309020205020404" pitchFamily="49" charset="0"/>
              </a:rPr>
              <a:t>'index'</a:t>
            </a:r>
            <a:r>
              <a:rPr lang="en-US" b="1" dirty="0">
                <a:solidFill>
                  <a:srgbClr val="4D4D4C"/>
                </a:solidFill>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pic>
        <p:nvPicPr>
          <p:cNvPr id="9" name="Picture 8"/>
          <p:cNvPicPr>
            <a:picLocks noChangeAspect="1"/>
          </p:cNvPicPr>
          <p:nvPr/>
        </p:nvPicPr>
        <p:blipFill>
          <a:blip r:embed="rId3"/>
          <a:stretch>
            <a:fillRect/>
          </a:stretch>
        </p:blipFill>
        <p:spPr>
          <a:xfrm>
            <a:off x="9214076" y="4912085"/>
            <a:ext cx="2331362" cy="1735759"/>
          </a:xfrm>
          <a:prstGeom prst="rect">
            <a:avLst/>
          </a:prstGeom>
        </p:spPr>
      </p:pic>
    </p:spTree>
    <p:extLst>
      <p:ext uri="{BB962C8B-B14F-4D97-AF65-F5344CB8AC3E}">
        <p14:creationId xmlns:p14="http://schemas.microsoft.com/office/powerpoint/2010/main" val="20078916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r>
              <a:rPr lang="en-US" dirty="0"/>
              <a:t>pandas documentation</a:t>
            </a:r>
          </a:p>
          <a:p>
            <a:pPr lvl="1"/>
            <a:r>
              <a:rPr lang="en-US" sz="2000" dirty="0">
                <a:hlinkClick r:id="rId2"/>
              </a:rPr>
              <a:t>https://pandas.pydata.org/pandas-docs/stable/index.html</a:t>
            </a:r>
            <a:r>
              <a:rPr lang="en-US" sz="2000" dirty="0"/>
              <a:t> </a:t>
            </a:r>
          </a:p>
          <a:p>
            <a:r>
              <a:rPr lang="en-US" sz="2400" dirty="0"/>
              <a:t>pandas: Input/output</a:t>
            </a:r>
          </a:p>
          <a:p>
            <a:pPr lvl="1"/>
            <a:r>
              <a:rPr lang="en-US" sz="2000" dirty="0">
                <a:hlinkClick r:id="rId3"/>
              </a:rPr>
              <a:t>https://pandas.pydata.org/pandas-docs/stable/reference/io.html</a:t>
            </a:r>
            <a:r>
              <a:rPr lang="en-US" sz="2000" dirty="0"/>
              <a:t> </a:t>
            </a:r>
          </a:p>
          <a:p>
            <a:r>
              <a:rPr lang="en-US" sz="2400" dirty="0"/>
              <a:t>pandas: </a:t>
            </a:r>
            <a:r>
              <a:rPr lang="en-US" sz="2400" dirty="0" err="1"/>
              <a:t>DataFrame</a:t>
            </a:r>
            <a:endParaRPr lang="en-US" sz="2400" dirty="0"/>
          </a:p>
          <a:p>
            <a:pPr lvl="1"/>
            <a:r>
              <a:rPr lang="en-US" sz="2000" dirty="0">
                <a:hlinkClick r:id="rId4"/>
              </a:rPr>
              <a:t>https://pandas.pydata.org/pandas-docs/stable/reference/frame.html</a:t>
            </a:r>
            <a:r>
              <a:rPr lang="en-US" sz="2000" dirty="0"/>
              <a:t> </a:t>
            </a:r>
          </a:p>
          <a:p>
            <a:r>
              <a:rPr lang="en-US" sz="2400" dirty="0"/>
              <a:t>pandas: Series</a:t>
            </a:r>
          </a:p>
          <a:p>
            <a:pPr lvl="1"/>
            <a:r>
              <a:rPr lang="en-US" sz="2000" dirty="0">
                <a:hlinkClick r:id="rId5"/>
              </a:rPr>
              <a:t>https://pandas.pydata.org/pandas-docs/stable/reference/series.html</a:t>
            </a:r>
            <a:r>
              <a:rPr lang="en-US" sz="2000" dirty="0"/>
              <a:t> </a:t>
            </a:r>
          </a:p>
          <a:p>
            <a:r>
              <a:rPr lang="en-US" sz="2400" dirty="0"/>
              <a:t>pandas: Plotting</a:t>
            </a:r>
          </a:p>
          <a:p>
            <a:pPr lvl="1"/>
            <a:r>
              <a:rPr lang="en-US" sz="2000" dirty="0">
                <a:hlinkClick r:id="rId6"/>
              </a:rPr>
              <a:t>https://pandas.pydata.org/pandas-docs/stable/reference/plotting.html</a:t>
            </a:r>
            <a:r>
              <a:rPr lang="en-US" sz="2000" dirty="0"/>
              <a:t> </a:t>
            </a:r>
          </a:p>
        </p:txBody>
      </p:sp>
    </p:spTree>
    <p:extLst>
      <p:ext uri="{BB962C8B-B14F-4D97-AF65-F5344CB8AC3E}">
        <p14:creationId xmlns:p14="http://schemas.microsoft.com/office/powerpoint/2010/main" val="365359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a:t>
            </a:r>
            <a:endParaRPr lang="en-US" dirty="0"/>
          </a:p>
        </p:txBody>
      </p:sp>
      <p:sp>
        <p:nvSpPr>
          <p:cNvPr id="3" name="Content Placeholder 2"/>
          <p:cNvSpPr>
            <a:spLocks noGrp="1"/>
          </p:cNvSpPr>
          <p:nvPr>
            <p:ph idx="1"/>
          </p:nvPr>
        </p:nvSpPr>
        <p:spPr>
          <a:xfrm>
            <a:off x="2152650" y="1825625"/>
            <a:ext cx="8132795" cy="4351338"/>
          </a:xfrm>
        </p:spPr>
        <p:txBody>
          <a:bodyPr/>
          <a:lstStyle/>
          <a:p>
            <a:r>
              <a:rPr lang="en-US" dirty="0"/>
              <a:t>A </a:t>
            </a:r>
            <a:r>
              <a:rPr lang="en-US" dirty="0" err="1"/>
              <a:t>DataFrame</a:t>
            </a:r>
            <a:r>
              <a:rPr lang="en-US" dirty="0"/>
              <a:t> is a tabular data structure comprised of rows and columns, akin to a spreadsheet or database table.</a:t>
            </a:r>
          </a:p>
          <a:p>
            <a:r>
              <a:rPr lang="en-US" dirty="0"/>
              <a:t>It can be treated as an ordered collection of  columns</a:t>
            </a:r>
          </a:p>
          <a:p>
            <a:pPr lvl="1"/>
            <a:r>
              <a:rPr lang="en-US" dirty="0"/>
              <a:t>Each column can be a different data type</a:t>
            </a:r>
          </a:p>
          <a:p>
            <a:pPr lvl="1"/>
            <a:r>
              <a:rPr lang="en-US" dirty="0"/>
              <a:t>Have both row and column indices</a:t>
            </a:r>
          </a:p>
          <a:p>
            <a:pPr lvl="1"/>
            <a:endParaRPr lang="en-US" dirty="0"/>
          </a:p>
          <a:p>
            <a:pPr lvl="1"/>
            <a:endParaRPr lang="en-US" dirty="0"/>
          </a:p>
        </p:txBody>
      </p:sp>
      <p:sp>
        <p:nvSpPr>
          <p:cNvPr id="4" name="Rectangle 3"/>
          <p:cNvSpPr/>
          <p:nvPr/>
        </p:nvSpPr>
        <p:spPr>
          <a:xfrm>
            <a:off x="2152651" y="3668060"/>
            <a:ext cx="8225639" cy="3046988"/>
          </a:xfrm>
          <a:prstGeom prst="rect">
            <a:avLst/>
          </a:prstGeom>
        </p:spPr>
        <p:txBody>
          <a:bodyPr wrap="square">
            <a:spAutoFit/>
          </a:bodyPr>
          <a:lstStyle/>
          <a:p>
            <a:r>
              <a:rPr lang="en-US" sz="1600" dirty="0">
                <a:solidFill>
                  <a:srgbClr val="000080"/>
                </a:solidFill>
              </a:rPr>
              <a:t>data = {'state': ['Ohio', 'Ohio', 'Ohio', 'Nevada', 'Nevada'],</a:t>
            </a:r>
          </a:p>
          <a:p>
            <a:r>
              <a:rPr lang="en-US" sz="1600" dirty="0">
                <a:solidFill>
                  <a:srgbClr val="000080"/>
                </a:solidFill>
              </a:rPr>
              <a:t>'year': [2000, 2001, 2002, 2001, 2002],</a:t>
            </a:r>
          </a:p>
          <a:p>
            <a:r>
              <a:rPr lang="en-US" sz="1600" dirty="0">
                <a:solidFill>
                  <a:srgbClr val="000080"/>
                </a:solidFill>
              </a:rPr>
              <a:t>'pop': [1.5, 1.7, 3.6, 2.4, 2.9]}</a:t>
            </a:r>
          </a:p>
          <a:p>
            <a:r>
              <a:rPr lang="en-US" sz="1600" dirty="0">
                <a:solidFill>
                  <a:srgbClr val="000080"/>
                </a:solidFill>
              </a:rPr>
              <a:t>frame = </a:t>
            </a:r>
            <a:r>
              <a:rPr lang="en-US" sz="1600" dirty="0" err="1">
                <a:solidFill>
                  <a:srgbClr val="000080"/>
                </a:solidFill>
              </a:rPr>
              <a:t>DataFrame</a:t>
            </a:r>
            <a:r>
              <a:rPr lang="en-US" sz="1600" dirty="0">
                <a:solidFill>
                  <a:srgbClr val="000080"/>
                </a:solidFill>
              </a:rPr>
              <a:t>(data)</a:t>
            </a:r>
          </a:p>
          <a:p>
            <a:r>
              <a:rPr lang="en-US" sz="1600" dirty="0">
                <a:solidFill>
                  <a:srgbClr val="000080"/>
                </a:solidFill>
              </a:rPr>
              <a:t>print(frame)</a:t>
            </a:r>
          </a:p>
          <a:p>
            <a:r>
              <a:rPr lang="en-US" sz="1600" dirty="0">
                <a:solidFill>
                  <a:srgbClr val="000080"/>
                </a:solidFill>
              </a:rPr>
              <a:t>#output</a:t>
            </a:r>
          </a:p>
          <a:p>
            <a:r>
              <a:rPr lang="en-US" sz="1600" dirty="0"/>
              <a:t>      state  year  pop</a:t>
            </a:r>
          </a:p>
          <a:p>
            <a:r>
              <a:rPr lang="en-US" sz="1600" dirty="0"/>
              <a:t>0    Ohio  2000  1.5</a:t>
            </a:r>
          </a:p>
          <a:p>
            <a:r>
              <a:rPr lang="en-US" sz="1600" dirty="0"/>
              <a:t>1    Ohio  2001  1.7</a:t>
            </a:r>
          </a:p>
          <a:p>
            <a:r>
              <a:rPr lang="en-US" sz="1600" dirty="0"/>
              <a:t>2    Ohio  2002  3.6</a:t>
            </a:r>
          </a:p>
          <a:p>
            <a:r>
              <a:rPr lang="en-US" sz="1600" dirty="0"/>
              <a:t>3  Nevada  2001  2.4</a:t>
            </a:r>
          </a:p>
          <a:p>
            <a:r>
              <a:rPr lang="en-US" sz="1600" dirty="0"/>
              <a:t>4  Nevada  2002  2.9</a:t>
            </a:r>
          </a:p>
        </p:txBody>
      </p:sp>
    </p:spTree>
    <p:extLst>
      <p:ext uri="{BB962C8B-B14F-4D97-AF65-F5344CB8AC3E}">
        <p14:creationId xmlns:p14="http://schemas.microsoft.com/office/powerpoint/2010/main" val="1927518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7"/>
            <a:ext cx="8157542" cy="1325563"/>
          </a:xfrm>
        </p:spPr>
        <p:txBody>
          <a:bodyPr>
            <a:normAutofit fontScale="90000"/>
          </a:bodyPr>
          <a:lstStyle/>
          <a:p>
            <a:r>
              <a:rPr lang="en-US" dirty="0" err="1"/>
              <a:t>DataFrame</a:t>
            </a:r>
            <a:r>
              <a:rPr lang="en-US" dirty="0"/>
              <a:t> – specifying columns and indices</a:t>
            </a:r>
          </a:p>
        </p:txBody>
      </p:sp>
      <p:sp>
        <p:nvSpPr>
          <p:cNvPr id="3" name="Content Placeholder 2"/>
          <p:cNvSpPr>
            <a:spLocks noGrp="1"/>
          </p:cNvSpPr>
          <p:nvPr>
            <p:ph idx="1"/>
          </p:nvPr>
        </p:nvSpPr>
        <p:spPr>
          <a:xfrm>
            <a:off x="2054840" y="1834478"/>
            <a:ext cx="7263053" cy="984511"/>
          </a:xfrm>
        </p:spPr>
        <p:txBody>
          <a:bodyPr>
            <a:normAutofit/>
          </a:bodyPr>
          <a:lstStyle/>
          <a:p>
            <a:r>
              <a:rPr lang="en-US" dirty="0"/>
              <a:t>Order of columns/rows can be specified. </a:t>
            </a:r>
          </a:p>
          <a:p>
            <a:r>
              <a:rPr lang="en-US" dirty="0"/>
              <a:t>Columns not in data will have </a:t>
            </a:r>
            <a:r>
              <a:rPr lang="en-US" dirty="0" err="1"/>
              <a:t>NaN</a:t>
            </a:r>
            <a:r>
              <a:rPr lang="en-US" dirty="0"/>
              <a:t>. </a:t>
            </a:r>
          </a:p>
        </p:txBody>
      </p:sp>
      <p:sp>
        <p:nvSpPr>
          <p:cNvPr id="4" name="Rectangle 3"/>
          <p:cNvSpPr/>
          <p:nvPr/>
        </p:nvSpPr>
        <p:spPr>
          <a:xfrm>
            <a:off x="2054839" y="2818988"/>
            <a:ext cx="8482532" cy="2308324"/>
          </a:xfrm>
          <a:prstGeom prst="rect">
            <a:avLst/>
          </a:prstGeom>
        </p:spPr>
        <p:txBody>
          <a:bodyPr wrap="square">
            <a:spAutoFit/>
          </a:bodyPr>
          <a:lstStyle/>
          <a:p>
            <a:r>
              <a:rPr lang="en-US" sz="1600" dirty="0">
                <a:solidFill>
                  <a:srgbClr val="4141A0"/>
                </a:solidFill>
              </a:rPr>
              <a:t>frame2 = </a:t>
            </a:r>
            <a:r>
              <a:rPr lang="en-US" sz="1600" dirty="0" err="1">
                <a:solidFill>
                  <a:srgbClr val="4141A0"/>
                </a:solidFill>
              </a:rPr>
              <a:t>DataFrame</a:t>
            </a:r>
            <a:r>
              <a:rPr lang="en-US" sz="1600" dirty="0">
                <a:solidFill>
                  <a:srgbClr val="4141A0"/>
                </a:solidFill>
              </a:rPr>
              <a:t>(data, columns=['year', 'state', 'pop', 'debt'], index=['A', 'B', 'C', 'D', 'E'])</a:t>
            </a:r>
          </a:p>
          <a:p>
            <a:endParaRPr lang="en-US" sz="1600" dirty="0"/>
          </a:p>
          <a:p>
            <a:r>
              <a:rPr lang="en-US" sz="1600" dirty="0">
                <a:solidFill>
                  <a:srgbClr val="000080"/>
                </a:solidFill>
              </a:rPr>
              <a:t>Print(frame2)</a:t>
            </a:r>
            <a:endParaRPr lang="en-US" sz="1600" dirty="0"/>
          </a:p>
          <a:p>
            <a:r>
              <a:rPr lang="it-IT" sz="1600" dirty="0"/>
              <a:t>     year   state  pop debt</a:t>
            </a:r>
          </a:p>
          <a:p>
            <a:r>
              <a:rPr lang="it-IT" sz="1600" dirty="0"/>
              <a:t>A  2000    Ohio  1.5  NaN</a:t>
            </a:r>
          </a:p>
          <a:p>
            <a:r>
              <a:rPr lang="it-IT" sz="1600" dirty="0"/>
              <a:t>B  2001    Ohio  1.7  NaN</a:t>
            </a:r>
          </a:p>
          <a:p>
            <a:r>
              <a:rPr lang="it-IT" sz="1600" dirty="0"/>
              <a:t>C  2002    Ohio  3.6  NaN</a:t>
            </a:r>
          </a:p>
          <a:p>
            <a:r>
              <a:rPr lang="it-IT" sz="1600" dirty="0"/>
              <a:t>D  2001  Nevada  2.4  NaN</a:t>
            </a:r>
          </a:p>
          <a:p>
            <a:r>
              <a:rPr lang="it-IT" sz="1600" dirty="0"/>
              <a:t>E  2002  Nevada  2.9  NaN</a:t>
            </a:r>
            <a:endParaRPr lang="en-US" sz="1600" dirty="0"/>
          </a:p>
        </p:txBody>
      </p:sp>
      <p:cxnSp>
        <p:nvCxnSpPr>
          <p:cNvPr id="7" name="Straight Arrow Connector 6"/>
          <p:cNvCxnSpPr/>
          <p:nvPr/>
        </p:nvCxnSpPr>
        <p:spPr>
          <a:xfrm flipH="1" flipV="1">
            <a:off x="4481804" y="3713585"/>
            <a:ext cx="1655496" cy="813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6113294" y="3139516"/>
            <a:ext cx="318608" cy="1161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113295" y="4300924"/>
            <a:ext cx="1269963" cy="369332"/>
          </a:xfrm>
          <a:prstGeom prst="rect">
            <a:avLst/>
          </a:prstGeom>
          <a:noFill/>
        </p:spPr>
        <p:txBody>
          <a:bodyPr wrap="none" rtlCol="0">
            <a:spAutoFit/>
          </a:bodyPr>
          <a:lstStyle/>
          <a:p>
            <a:r>
              <a:rPr lang="en-US" dirty="0"/>
              <a:t>Same order</a:t>
            </a:r>
          </a:p>
        </p:txBody>
      </p:sp>
      <p:cxnSp>
        <p:nvCxnSpPr>
          <p:cNvPr id="15" name="Straight Arrow Connector 14"/>
          <p:cNvCxnSpPr/>
          <p:nvPr/>
        </p:nvCxnSpPr>
        <p:spPr>
          <a:xfrm flipH="1" flipV="1">
            <a:off x="4481805" y="5101022"/>
            <a:ext cx="1426689" cy="395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812914" y="5277667"/>
            <a:ext cx="2018117" cy="369332"/>
          </a:xfrm>
          <a:prstGeom prst="rect">
            <a:avLst/>
          </a:prstGeom>
          <a:noFill/>
        </p:spPr>
        <p:txBody>
          <a:bodyPr wrap="none" rtlCol="0">
            <a:spAutoFit/>
          </a:bodyPr>
          <a:lstStyle/>
          <a:p>
            <a:r>
              <a:rPr lang="en-US" dirty="0"/>
              <a:t>Initialized with </a:t>
            </a:r>
            <a:r>
              <a:rPr lang="en-US" dirty="0" err="1"/>
              <a:t>NaN</a:t>
            </a:r>
            <a:endParaRPr lang="en-US" dirty="0"/>
          </a:p>
        </p:txBody>
      </p:sp>
    </p:spTree>
    <p:extLst>
      <p:ext uri="{BB962C8B-B14F-4D97-AF65-F5344CB8AC3E}">
        <p14:creationId xmlns:p14="http://schemas.microsoft.com/office/powerpoint/2010/main" val="40721252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a:t>
            </a:r>
            <a:r>
              <a:rPr lang="en-US" dirty="0"/>
              <a:t> – from nested </a:t>
            </a:r>
            <a:r>
              <a:rPr lang="en-US" dirty="0" err="1"/>
              <a:t>dict</a:t>
            </a:r>
            <a:r>
              <a:rPr lang="en-US" dirty="0"/>
              <a:t> of </a:t>
            </a:r>
            <a:r>
              <a:rPr lang="en-US" dirty="0" err="1"/>
              <a:t>dicts</a:t>
            </a:r>
            <a:endParaRPr lang="en-US" dirty="0"/>
          </a:p>
        </p:txBody>
      </p:sp>
      <p:sp>
        <p:nvSpPr>
          <p:cNvPr id="3" name="Content Placeholder 2"/>
          <p:cNvSpPr>
            <a:spLocks noGrp="1"/>
          </p:cNvSpPr>
          <p:nvPr>
            <p:ph idx="1"/>
          </p:nvPr>
        </p:nvSpPr>
        <p:spPr/>
        <p:txBody>
          <a:bodyPr/>
          <a:lstStyle/>
          <a:p>
            <a:r>
              <a:rPr lang="en-US" dirty="0"/>
              <a:t>Outer </a:t>
            </a:r>
            <a:r>
              <a:rPr lang="en-US" dirty="0" err="1"/>
              <a:t>dict</a:t>
            </a:r>
            <a:r>
              <a:rPr lang="en-US" dirty="0"/>
              <a:t> keys as columns and inner </a:t>
            </a:r>
            <a:r>
              <a:rPr lang="en-US" dirty="0" err="1"/>
              <a:t>dict</a:t>
            </a:r>
            <a:r>
              <a:rPr lang="en-US" dirty="0"/>
              <a:t> keys as row indices</a:t>
            </a:r>
          </a:p>
        </p:txBody>
      </p:sp>
      <p:sp>
        <p:nvSpPr>
          <p:cNvPr id="4" name="Rectangle 3"/>
          <p:cNvSpPr/>
          <p:nvPr/>
        </p:nvSpPr>
        <p:spPr>
          <a:xfrm>
            <a:off x="2152651" y="2329651"/>
            <a:ext cx="8122243" cy="2092881"/>
          </a:xfrm>
          <a:prstGeom prst="rect">
            <a:avLst/>
          </a:prstGeom>
        </p:spPr>
        <p:txBody>
          <a:bodyPr wrap="square">
            <a:spAutoFit/>
          </a:bodyPr>
          <a:lstStyle/>
          <a:p>
            <a:r>
              <a:rPr lang="en-US" sz="1600" dirty="0">
                <a:solidFill>
                  <a:srgbClr val="000080"/>
                </a:solidFill>
              </a:rPr>
              <a:t>pop = {'Nevada': {2001: 2.9, 2002: 2.9}, 'Ohio': {2002: 3.6, 2001: 1.7, 2000: 1.5}}</a:t>
            </a:r>
          </a:p>
          <a:p>
            <a:r>
              <a:rPr lang="en-US" sz="1600" dirty="0">
                <a:solidFill>
                  <a:srgbClr val="000080"/>
                </a:solidFill>
              </a:rPr>
              <a:t>frame3 = </a:t>
            </a:r>
            <a:r>
              <a:rPr lang="en-US" sz="1600" dirty="0" err="1">
                <a:solidFill>
                  <a:srgbClr val="000080"/>
                </a:solidFill>
              </a:rPr>
              <a:t>DataFrame</a:t>
            </a:r>
            <a:r>
              <a:rPr lang="en-US" sz="1600" dirty="0">
                <a:solidFill>
                  <a:srgbClr val="000080"/>
                </a:solidFill>
              </a:rPr>
              <a:t>(pop)</a:t>
            </a:r>
          </a:p>
          <a:p>
            <a:r>
              <a:rPr lang="en-US" sz="1600" dirty="0">
                <a:solidFill>
                  <a:srgbClr val="000080"/>
                </a:solidFill>
              </a:rPr>
              <a:t>print(frame3)</a:t>
            </a:r>
          </a:p>
          <a:p>
            <a:r>
              <a:rPr lang="en-US" sz="1600" dirty="0">
                <a:solidFill>
                  <a:srgbClr val="000080"/>
                </a:solidFill>
              </a:rPr>
              <a:t>#output</a:t>
            </a:r>
          </a:p>
          <a:p>
            <a:r>
              <a:rPr lang="pt-BR" sz="1600" dirty="0"/>
              <a:t> 	 Nevada  Ohio</a:t>
            </a:r>
          </a:p>
          <a:p>
            <a:r>
              <a:rPr lang="pt-BR" sz="1600" dirty="0"/>
              <a:t>2000     NaN   1.5</a:t>
            </a:r>
          </a:p>
          <a:p>
            <a:r>
              <a:rPr lang="pt-BR" sz="1600" dirty="0"/>
              <a:t>2001     2.9   1.7</a:t>
            </a:r>
          </a:p>
          <a:p>
            <a:r>
              <a:rPr lang="pt-BR" sz="1600" dirty="0"/>
              <a:t>2002     2.9   3.6</a:t>
            </a:r>
            <a:endParaRPr lang="en-US" sz="1600" dirty="0"/>
          </a:p>
        </p:txBody>
      </p:sp>
      <p:sp>
        <p:nvSpPr>
          <p:cNvPr id="5" name="Rectangle 4"/>
          <p:cNvSpPr/>
          <p:nvPr/>
        </p:nvSpPr>
        <p:spPr>
          <a:xfrm>
            <a:off x="6566019" y="4699636"/>
            <a:ext cx="3965248" cy="1200329"/>
          </a:xfrm>
          <a:prstGeom prst="rect">
            <a:avLst/>
          </a:prstGeom>
        </p:spPr>
        <p:txBody>
          <a:bodyPr wrap="square">
            <a:spAutoFit/>
          </a:bodyPr>
          <a:lstStyle/>
          <a:p>
            <a:r>
              <a:rPr lang="en-US" dirty="0">
                <a:solidFill>
                  <a:schemeClr val="accent5">
                    <a:lumMod val="75000"/>
                  </a:schemeClr>
                </a:solidFill>
              </a:rPr>
              <a:t>print(frame3.T)</a:t>
            </a:r>
          </a:p>
          <a:p>
            <a:r>
              <a:rPr lang="fi-FI" dirty="0"/>
              <a:t>		2000  2001  2002</a:t>
            </a:r>
          </a:p>
          <a:p>
            <a:r>
              <a:rPr lang="fi-FI" dirty="0"/>
              <a:t>Nevada   NaN   2.9   2.9</a:t>
            </a:r>
          </a:p>
          <a:p>
            <a:r>
              <a:rPr lang="fi-FI" dirty="0"/>
              <a:t>Ohio     	  1.5   1.7   3.6</a:t>
            </a:r>
            <a:endParaRPr lang="en-US" dirty="0"/>
          </a:p>
        </p:txBody>
      </p:sp>
      <p:sp>
        <p:nvSpPr>
          <p:cNvPr id="6" name="TextBox 5"/>
          <p:cNvSpPr txBox="1"/>
          <p:nvPr/>
        </p:nvSpPr>
        <p:spPr>
          <a:xfrm>
            <a:off x="6552129" y="4269314"/>
            <a:ext cx="1235916" cy="400110"/>
          </a:xfrm>
          <a:prstGeom prst="rect">
            <a:avLst/>
          </a:prstGeom>
          <a:noFill/>
        </p:spPr>
        <p:txBody>
          <a:bodyPr wrap="none" rtlCol="0">
            <a:spAutoFit/>
          </a:bodyPr>
          <a:lstStyle/>
          <a:p>
            <a:r>
              <a:rPr lang="en-US" sz="2000" dirty="0"/>
              <a:t>Transpose</a:t>
            </a:r>
          </a:p>
        </p:txBody>
      </p:sp>
      <p:cxnSp>
        <p:nvCxnSpPr>
          <p:cNvPr id="8" name="Straight Arrow Connector 7"/>
          <p:cNvCxnSpPr/>
          <p:nvPr/>
        </p:nvCxnSpPr>
        <p:spPr>
          <a:xfrm flipH="1" flipV="1">
            <a:off x="2400693" y="4422532"/>
            <a:ext cx="177666" cy="638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152650" y="5061492"/>
            <a:ext cx="3590406" cy="369332"/>
          </a:xfrm>
          <a:prstGeom prst="rect">
            <a:avLst/>
          </a:prstGeom>
          <a:noFill/>
        </p:spPr>
        <p:txBody>
          <a:bodyPr wrap="none" rtlCol="0">
            <a:spAutoFit/>
          </a:bodyPr>
          <a:lstStyle/>
          <a:p>
            <a:r>
              <a:rPr lang="en-US" dirty="0"/>
              <a:t>Union of inner keys (in sorted order)</a:t>
            </a:r>
          </a:p>
        </p:txBody>
      </p:sp>
    </p:spTree>
    <p:extLst>
      <p:ext uri="{BB962C8B-B14F-4D97-AF65-F5344CB8AC3E}">
        <p14:creationId xmlns:p14="http://schemas.microsoft.com/office/powerpoint/2010/main" val="1388240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a:t>
            </a:r>
            <a:r>
              <a:rPr lang="en-US" dirty="0"/>
              <a:t> – index, columns, values</a:t>
            </a:r>
          </a:p>
        </p:txBody>
      </p:sp>
      <p:sp>
        <p:nvSpPr>
          <p:cNvPr id="4" name="Rectangle 3"/>
          <p:cNvSpPr/>
          <p:nvPr/>
        </p:nvSpPr>
        <p:spPr>
          <a:xfrm>
            <a:off x="1960967" y="1379684"/>
            <a:ext cx="7904600" cy="5355312"/>
          </a:xfrm>
          <a:prstGeom prst="rect">
            <a:avLst/>
          </a:prstGeom>
        </p:spPr>
        <p:txBody>
          <a:bodyPr wrap="square">
            <a:spAutoFit/>
          </a:bodyPr>
          <a:lstStyle/>
          <a:p>
            <a:r>
              <a:rPr lang="en-US" dirty="0">
                <a:solidFill>
                  <a:srgbClr val="000080"/>
                </a:solidFill>
              </a:rPr>
              <a:t>frame3.index.name = 'year'</a:t>
            </a:r>
          </a:p>
          <a:p>
            <a:r>
              <a:rPr lang="en-US" dirty="0">
                <a:solidFill>
                  <a:srgbClr val="000080"/>
                </a:solidFill>
              </a:rPr>
              <a:t>frame3.columns.name='state‘</a:t>
            </a:r>
            <a:br>
              <a:rPr lang="en-US" dirty="0">
                <a:solidFill>
                  <a:srgbClr val="000080"/>
                </a:solidFill>
              </a:rPr>
            </a:br>
            <a:r>
              <a:rPr lang="en-US" dirty="0">
                <a:solidFill>
                  <a:srgbClr val="000080"/>
                </a:solidFill>
              </a:rPr>
              <a:t>print(frame3)</a:t>
            </a:r>
          </a:p>
          <a:p>
            <a:r>
              <a:rPr lang="en-US" dirty="0"/>
              <a:t>state  Nevada  Ohio</a:t>
            </a:r>
          </a:p>
          <a:p>
            <a:r>
              <a:rPr lang="en-US" dirty="0"/>
              <a:t>year               </a:t>
            </a:r>
          </a:p>
          <a:p>
            <a:r>
              <a:rPr lang="en-US" dirty="0"/>
              <a:t>2000      </a:t>
            </a:r>
            <a:r>
              <a:rPr lang="en-US" dirty="0" err="1"/>
              <a:t>NaN</a:t>
            </a:r>
            <a:r>
              <a:rPr lang="en-US" dirty="0"/>
              <a:t>   1.5</a:t>
            </a:r>
          </a:p>
          <a:p>
            <a:r>
              <a:rPr lang="en-US" dirty="0"/>
              <a:t>2001      2.9   1.7</a:t>
            </a:r>
          </a:p>
          <a:p>
            <a:r>
              <a:rPr lang="en-US" dirty="0"/>
              <a:t>2002      2.9   3.6</a:t>
            </a:r>
          </a:p>
          <a:p>
            <a:endParaRPr lang="en-US" dirty="0"/>
          </a:p>
          <a:p>
            <a:r>
              <a:rPr lang="en-US" dirty="0">
                <a:solidFill>
                  <a:srgbClr val="000080"/>
                </a:solidFill>
              </a:rPr>
              <a:t>print(frame3.index)</a:t>
            </a:r>
          </a:p>
          <a:p>
            <a:r>
              <a:rPr lang="en-US" dirty="0"/>
              <a:t>Int64Index([2000, 2001, 2002], </a:t>
            </a:r>
            <a:r>
              <a:rPr lang="en-US" dirty="0" err="1"/>
              <a:t>dtype</a:t>
            </a:r>
            <a:r>
              <a:rPr lang="en-US" dirty="0"/>
              <a:t>='int64', name='year')</a:t>
            </a:r>
          </a:p>
          <a:p>
            <a:endParaRPr lang="en-US" dirty="0"/>
          </a:p>
          <a:p>
            <a:r>
              <a:rPr lang="en-US" dirty="0">
                <a:solidFill>
                  <a:srgbClr val="000080"/>
                </a:solidFill>
              </a:rPr>
              <a:t>print(frame3.columns)</a:t>
            </a:r>
          </a:p>
          <a:p>
            <a:r>
              <a:rPr lang="en-US" dirty="0"/>
              <a:t>Index(['Nevada', 'Ohio'], </a:t>
            </a:r>
            <a:r>
              <a:rPr lang="en-US" dirty="0" err="1"/>
              <a:t>dtype</a:t>
            </a:r>
            <a:r>
              <a:rPr lang="en-US" dirty="0"/>
              <a:t>='object', name='state')</a:t>
            </a:r>
          </a:p>
          <a:p>
            <a:endParaRPr lang="en-US" dirty="0"/>
          </a:p>
          <a:p>
            <a:r>
              <a:rPr lang="en-US" dirty="0">
                <a:solidFill>
                  <a:srgbClr val="000080"/>
                </a:solidFill>
              </a:rPr>
              <a:t>print(frame3.values)</a:t>
            </a:r>
          </a:p>
          <a:p>
            <a:r>
              <a:rPr lang="en-US" dirty="0"/>
              <a:t>[[nan 1.5]</a:t>
            </a:r>
          </a:p>
          <a:p>
            <a:r>
              <a:rPr lang="en-US" dirty="0"/>
              <a:t> [2.9 1.7]</a:t>
            </a:r>
          </a:p>
          <a:p>
            <a:r>
              <a:rPr lang="en-US" dirty="0"/>
              <a:t> [2.9 3.6]]</a:t>
            </a:r>
          </a:p>
        </p:txBody>
      </p:sp>
    </p:spTree>
    <p:extLst>
      <p:ext uri="{BB962C8B-B14F-4D97-AF65-F5344CB8AC3E}">
        <p14:creationId xmlns:p14="http://schemas.microsoft.com/office/powerpoint/2010/main" val="40022340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7376" y="445223"/>
            <a:ext cx="7886700" cy="1325563"/>
          </a:xfrm>
        </p:spPr>
        <p:txBody>
          <a:bodyPr/>
          <a:lstStyle/>
          <a:p>
            <a:r>
              <a:rPr lang="en-US" dirty="0" err="1"/>
              <a:t>DataFrame</a:t>
            </a:r>
            <a:r>
              <a:rPr lang="en-US" dirty="0"/>
              <a:t> – retrieving a column</a:t>
            </a:r>
          </a:p>
        </p:txBody>
      </p:sp>
      <p:sp>
        <p:nvSpPr>
          <p:cNvPr id="3" name="Content Placeholder 2"/>
          <p:cNvSpPr>
            <a:spLocks noGrp="1"/>
          </p:cNvSpPr>
          <p:nvPr>
            <p:ph idx="1"/>
          </p:nvPr>
        </p:nvSpPr>
        <p:spPr>
          <a:xfrm>
            <a:off x="1947376" y="1536377"/>
            <a:ext cx="7886700" cy="1169229"/>
          </a:xfrm>
        </p:spPr>
        <p:txBody>
          <a:bodyPr>
            <a:normAutofit/>
          </a:bodyPr>
          <a:lstStyle/>
          <a:p>
            <a:r>
              <a:rPr lang="en-US" dirty="0"/>
              <a:t>A column in a </a:t>
            </a:r>
            <a:r>
              <a:rPr lang="en-US" dirty="0" err="1"/>
              <a:t>DataFrame</a:t>
            </a:r>
            <a:r>
              <a:rPr lang="en-US" dirty="0"/>
              <a:t> can be retrieved as a Series by </a:t>
            </a:r>
            <a:r>
              <a:rPr lang="en-US" dirty="0" err="1"/>
              <a:t>dict</a:t>
            </a:r>
            <a:r>
              <a:rPr lang="en-US" dirty="0"/>
              <a:t>-like notation or as attribute</a:t>
            </a:r>
          </a:p>
        </p:txBody>
      </p:sp>
      <p:sp>
        <p:nvSpPr>
          <p:cNvPr id="4" name="Rectangle 3"/>
          <p:cNvSpPr/>
          <p:nvPr/>
        </p:nvSpPr>
        <p:spPr>
          <a:xfrm>
            <a:off x="2225807" y="2705605"/>
            <a:ext cx="7947671" cy="3416320"/>
          </a:xfrm>
          <a:prstGeom prst="rect">
            <a:avLst/>
          </a:prstGeom>
        </p:spPr>
        <p:txBody>
          <a:bodyPr wrap="square">
            <a:spAutoFit/>
          </a:bodyPr>
          <a:lstStyle/>
          <a:p>
            <a:r>
              <a:rPr lang="en-US" dirty="0">
                <a:solidFill>
                  <a:srgbClr val="000080"/>
                </a:solidFill>
              </a:rPr>
              <a:t>data = {'state': ['Ohio', 'Ohio', 'Ohio', 'Nevada', 'Nevada'],</a:t>
            </a:r>
          </a:p>
          <a:p>
            <a:r>
              <a:rPr lang="en-US" dirty="0">
                <a:solidFill>
                  <a:srgbClr val="000080"/>
                </a:solidFill>
              </a:rPr>
              <a:t>'year': [2000, 2001, 2002, 2001, 2002],</a:t>
            </a:r>
          </a:p>
          <a:p>
            <a:r>
              <a:rPr lang="en-US" dirty="0">
                <a:solidFill>
                  <a:srgbClr val="000080"/>
                </a:solidFill>
              </a:rPr>
              <a:t>'pop': [1.5, 1.7, 3.6, 2.4, 2.9]}</a:t>
            </a:r>
          </a:p>
          <a:p>
            <a:r>
              <a:rPr lang="en-US" dirty="0">
                <a:solidFill>
                  <a:srgbClr val="000080"/>
                </a:solidFill>
              </a:rPr>
              <a:t>frame = </a:t>
            </a:r>
            <a:r>
              <a:rPr lang="en-US" dirty="0" err="1">
                <a:solidFill>
                  <a:srgbClr val="000080"/>
                </a:solidFill>
              </a:rPr>
              <a:t>DataFrame</a:t>
            </a:r>
            <a:r>
              <a:rPr lang="en-US" dirty="0">
                <a:solidFill>
                  <a:srgbClr val="000080"/>
                </a:solidFill>
              </a:rPr>
              <a:t>(data)</a:t>
            </a:r>
          </a:p>
          <a:p>
            <a:r>
              <a:rPr lang="en-US" dirty="0">
                <a:solidFill>
                  <a:srgbClr val="000080"/>
                </a:solidFill>
              </a:rPr>
              <a:t>print(frame['state'])</a:t>
            </a:r>
          </a:p>
          <a:p>
            <a:r>
              <a:rPr lang="en-US" dirty="0"/>
              <a:t>0      Ohio</a:t>
            </a:r>
          </a:p>
          <a:p>
            <a:r>
              <a:rPr lang="en-US" dirty="0"/>
              <a:t>1      Ohio</a:t>
            </a:r>
          </a:p>
          <a:p>
            <a:r>
              <a:rPr lang="en-US" dirty="0"/>
              <a:t>2      Ohio</a:t>
            </a:r>
          </a:p>
          <a:p>
            <a:r>
              <a:rPr lang="en-US" dirty="0"/>
              <a:t>3    Nevada</a:t>
            </a:r>
          </a:p>
          <a:p>
            <a:r>
              <a:rPr lang="en-US" dirty="0"/>
              <a:t>4    Nevada</a:t>
            </a:r>
          </a:p>
          <a:p>
            <a:r>
              <a:rPr lang="en-US" dirty="0"/>
              <a:t>Name: state, </a:t>
            </a:r>
            <a:r>
              <a:rPr lang="en-US" dirty="0" err="1"/>
              <a:t>dtype</a:t>
            </a:r>
            <a:r>
              <a:rPr lang="en-US" dirty="0"/>
              <a:t>: object</a:t>
            </a:r>
          </a:p>
          <a:p>
            <a:r>
              <a:rPr lang="en-US" dirty="0">
                <a:solidFill>
                  <a:srgbClr val="000080"/>
                </a:solidFill>
              </a:rPr>
              <a:t> </a:t>
            </a:r>
            <a:endParaRPr lang="en-US" dirty="0"/>
          </a:p>
        </p:txBody>
      </p:sp>
      <p:sp>
        <p:nvSpPr>
          <p:cNvPr id="7" name="Rectangle 6"/>
          <p:cNvSpPr/>
          <p:nvPr/>
        </p:nvSpPr>
        <p:spPr>
          <a:xfrm>
            <a:off x="6199641" y="3864704"/>
            <a:ext cx="3383514" cy="2031325"/>
          </a:xfrm>
          <a:prstGeom prst="rect">
            <a:avLst/>
          </a:prstGeom>
        </p:spPr>
        <p:txBody>
          <a:bodyPr wrap="square">
            <a:spAutoFit/>
          </a:bodyPr>
          <a:lstStyle/>
          <a:p>
            <a:r>
              <a:rPr lang="en-US" dirty="0">
                <a:solidFill>
                  <a:srgbClr val="000080"/>
                </a:solidFill>
              </a:rPr>
              <a:t>print(</a:t>
            </a:r>
            <a:r>
              <a:rPr lang="en-US" dirty="0" err="1">
                <a:solidFill>
                  <a:srgbClr val="000080"/>
                </a:solidFill>
              </a:rPr>
              <a:t>frame.state</a:t>
            </a:r>
            <a:r>
              <a:rPr lang="en-US" dirty="0">
                <a:solidFill>
                  <a:srgbClr val="000080"/>
                </a:solidFill>
              </a:rPr>
              <a:t>)</a:t>
            </a:r>
          </a:p>
          <a:p>
            <a:r>
              <a:rPr lang="en-US" dirty="0"/>
              <a:t>0      Ohio</a:t>
            </a:r>
          </a:p>
          <a:p>
            <a:r>
              <a:rPr lang="en-US" dirty="0"/>
              <a:t>1      Ohio</a:t>
            </a:r>
          </a:p>
          <a:p>
            <a:r>
              <a:rPr lang="en-US" dirty="0"/>
              <a:t>2      Ohio</a:t>
            </a:r>
          </a:p>
          <a:p>
            <a:r>
              <a:rPr lang="en-US" dirty="0"/>
              <a:t>3    Nevada</a:t>
            </a:r>
          </a:p>
          <a:p>
            <a:r>
              <a:rPr lang="en-US" dirty="0"/>
              <a:t>4    Nevada</a:t>
            </a:r>
          </a:p>
          <a:p>
            <a:r>
              <a:rPr lang="en-US" dirty="0"/>
              <a:t>Name: state, </a:t>
            </a:r>
            <a:r>
              <a:rPr lang="en-US" dirty="0" err="1"/>
              <a:t>dtype</a:t>
            </a:r>
            <a:r>
              <a:rPr lang="en-US" dirty="0"/>
              <a:t>: object</a:t>
            </a:r>
          </a:p>
        </p:txBody>
      </p:sp>
    </p:spTree>
    <p:extLst>
      <p:ext uri="{BB962C8B-B14F-4D97-AF65-F5344CB8AC3E}">
        <p14:creationId xmlns:p14="http://schemas.microsoft.com/office/powerpoint/2010/main" val="29108506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5</a:t>
            </a:r>
          </a:p>
        </p:txBody>
      </p:sp>
      <p:sp>
        <p:nvSpPr>
          <p:cNvPr id="3" name="Content Placeholder 2"/>
          <p:cNvSpPr>
            <a:spLocks noGrp="1"/>
          </p:cNvSpPr>
          <p:nvPr>
            <p:ph idx="1"/>
          </p:nvPr>
        </p:nvSpPr>
        <p:spPr>
          <a:xfrm>
            <a:off x="2041555" y="1607274"/>
            <a:ext cx="7886700" cy="4999714"/>
          </a:xfrm>
        </p:spPr>
        <p:txBody>
          <a:bodyPr>
            <a:normAutofit/>
          </a:bodyPr>
          <a:lstStyle/>
          <a:p>
            <a:r>
              <a:rPr lang="en-US" dirty="0"/>
              <a:t>Download the following csv file and load it to your python module or use the </a:t>
            </a:r>
            <a:r>
              <a:rPr lang="en-US" dirty="0" err="1"/>
              <a:t>url</a:t>
            </a:r>
            <a:r>
              <a:rPr lang="en-US" dirty="0"/>
              <a:t> directly in </a:t>
            </a:r>
            <a:r>
              <a:rPr lang="en-US" dirty="0" err="1"/>
              <a:t>pd.read_csv</a:t>
            </a:r>
            <a:r>
              <a:rPr lang="en-US" dirty="0"/>
              <a:t>(</a:t>
            </a:r>
            <a:r>
              <a:rPr lang="en-US" dirty="0" err="1"/>
              <a:t>url</a:t>
            </a:r>
            <a:r>
              <a:rPr lang="en-US" dirty="0"/>
              <a:t>) which will read it to a </a:t>
            </a:r>
            <a:r>
              <a:rPr lang="en-US" dirty="0" err="1"/>
              <a:t>DataFrame</a:t>
            </a:r>
            <a:endParaRPr lang="en-US" dirty="0"/>
          </a:p>
          <a:p>
            <a:pPr lvl="1"/>
            <a:r>
              <a:rPr lang="en-US" dirty="0"/>
              <a:t> </a:t>
            </a:r>
            <a:r>
              <a:rPr lang="en-US" dirty="0">
                <a:hlinkClick r:id="rId3"/>
              </a:rPr>
              <a:t>https://www.cs.odu.edu/~sampath/courses/f19/cs620/files/data/values.csv</a:t>
            </a:r>
            <a:r>
              <a:rPr lang="en-US" dirty="0"/>
              <a:t>  </a:t>
            </a:r>
          </a:p>
          <a:p>
            <a:r>
              <a:rPr lang="en-US" dirty="0"/>
              <a:t>Calculate the average and standard deviation (</a:t>
            </a:r>
            <a:r>
              <a:rPr lang="en-US" dirty="0" err="1"/>
              <a:t>std</a:t>
            </a:r>
            <a:r>
              <a:rPr lang="en-US" dirty="0"/>
              <a:t>) of the column factor_1  and display the result. </a:t>
            </a:r>
          </a:p>
          <a:p>
            <a:pPr lvl="1"/>
            <a:r>
              <a:rPr lang="en-US" dirty="0"/>
              <a:t>Pandas mean() and </a:t>
            </a:r>
            <a:r>
              <a:rPr lang="en-US" dirty="0" err="1"/>
              <a:t>std</a:t>
            </a:r>
            <a:r>
              <a:rPr lang="en-US" dirty="0"/>
              <a:t>()</a:t>
            </a:r>
          </a:p>
        </p:txBody>
      </p:sp>
    </p:spTree>
    <p:extLst>
      <p:ext uri="{BB962C8B-B14F-4D97-AF65-F5344CB8AC3E}">
        <p14:creationId xmlns:p14="http://schemas.microsoft.com/office/powerpoint/2010/main" val="22107119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a:t>
            </a:r>
            <a:r>
              <a:rPr lang="en-US" dirty="0"/>
              <a:t> – getting rows</a:t>
            </a:r>
          </a:p>
        </p:txBody>
      </p:sp>
      <p:sp>
        <p:nvSpPr>
          <p:cNvPr id="3" name="Content Placeholder 2"/>
          <p:cNvSpPr>
            <a:spLocks noGrp="1"/>
          </p:cNvSpPr>
          <p:nvPr>
            <p:ph idx="1"/>
          </p:nvPr>
        </p:nvSpPr>
        <p:spPr>
          <a:xfrm>
            <a:off x="2035054" y="1477284"/>
            <a:ext cx="7886700" cy="820559"/>
          </a:xfrm>
        </p:spPr>
        <p:txBody>
          <a:bodyPr>
            <a:normAutofit fontScale="55000" lnSpcReduction="20000"/>
          </a:bodyPr>
          <a:lstStyle/>
          <a:p>
            <a:r>
              <a:rPr lang="en-US" dirty="0" err="1"/>
              <a:t>loc</a:t>
            </a:r>
            <a:r>
              <a:rPr lang="en-US" dirty="0"/>
              <a:t> for using indexes and </a:t>
            </a:r>
            <a:r>
              <a:rPr lang="en-US" dirty="0" err="1"/>
              <a:t>iloc</a:t>
            </a:r>
            <a:r>
              <a:rPr lang="en-US" dirty="0"/>
              <a:t> for using positions</a:t>
            </a:r>
          </a:p>
          <a:p>
            <a:pPr lvl="1"/>
            <a:r>
              <a:rPr lang="en-US" dirty="0" err="1"/>
              <a:t>loc</a:t>
            </a:r>
            <a:r>
              <a:rPr lang="en-US" dirty="0"/>
              <a:t> gets rows (or columns) with particular labels from the index.</a:t>
            </a:r>
          </a:p>
          <a:p>
            <a:pPr lvl="1"/>
            <a:r>
              <a:rPr lang="en-US" dirty="0" err="1"/>
              <a:t>iloc</a:t>
            </a:r>
            <a:r>
              <a:rPr lang="en-US" dirty="0"/>
              <a:t> gets rows (or columns) at particular positions in the index (so it only takes integers).</a:t>
            </a:r>
          </a:p>
        </p:txBody>
      </p:sp>
      <p:sp>
        <p:nvSpPr>
          <p:cNvPr id="4" name="Rectangle 3"/>
          <p:cNvSpPr/>
          <p:nvPr/>
        </p:nvSpPr>
        <p:spPr>
          <a:xfrm>
            <a:off x="2152651" y="2297843"/>
            <a:ext cx="8375391" cy="4524315"/>
          </a:xfrm>
          <a:prstGeom prst="rect">
            <a:avLst/>
          </a:prstGeom>
        </p:spPr>
        <p:txBody>
          <a:bodyPr wrap="square">
            <a:spAutoFit/>
          </a:bodyPr>
          <a:lstStyle/>
          <a:p>
            <a:r>
              <a:rPr lang="en-US" sz="1600" dirty="0">
                <a:solidFill>
                  <a:srgbClr val="000080"/>
                </a:solidFill>
              </a:rPr>
              <a:t>data = {'state': ['Ohio', 'Ohio', 'Ohio', 'Nevada', 'Nevada'],</a:t>
            </a:r>
          </a:p>
          <a:p>
            <a:r>
              <a:rPr lang="en-US" sz="1600" dirty="0">
                <a:solidFill>
                  <a:srgbClr val="000080"/>
                </a:solidFill>
              </a:rPr>
              <a:t>'year': [2000, 2001, 2002, 2001, 2002],</a:t>
            </a:r>
          </a:p>
          <a:p>
            <a:r>
              <a:rPr lang="en-US" sz="1600" dirty="0">
                <a:solidFill>
                  <a:srgbClr val="000080"/>
                </a:solidFill>
              </a:rPr>
              <a:t>'pop': [1.5, 1.7, 3.6, 2.4, 2.9]}</a:t>
            </a:r>
          </a:p>
          <a:p>
            <a:r>
              <a:rPr lang="en-US" sz="1600" dirty="0">
                <a:solidFill>
                  <a:srgbClr val="000080"/>
                </a:solidFill>
              </a:rPr>
              <a:t>frame2 = </a:t>
            </a:r>
            <a:r>
              <a:rPr lang="en-US" sz="1600" dirty="0" err="1">
                <a:solidFill>
                  <a:srgbClr val="000080"/>
                </a:solidFill>
              </a:rPr>
              <a:t>DataFrame</a:t>
            </a:r>
            <a:r>
              <a:rPr lang="en-US" sz="1600" dirty="0">
                <a:solidFill>
                  <a:srgbClr val="000080"/>
                </a:solidFill>
              </a:rPr>
              <a:t>(data, columns=['year', 'state', 'pop', 'debt'], index=['A', 'B', 'C', 'D', 'E'])</a:t>
            </a:r>
          </a:p>
          <a:p>
            <a:r>
              <a:rPr lang="en-US" sz="1600" dirty="0">
                <a:solidFill>
                  <a:srgbClr val="000080"/>
                </a:solidFill>
              </a:rPr>
              <a:t>print(frame2)</a:t>
            </a:r>
          </a:p>
          <a:p>
            <a:r>
              <a:rPr lang="it-IT" sz="1600" dirty="0"/>
              <a:t> 	year   state  pop debt</a:t>
            </a:r>
          </a:p>
          <a:p>
            <a:r>
              <a:rPr lang="it-IT" sz="1600" dirty="0"/>
              <a:t>A  2000    Ohio  1.5  NaN</a:t>
            </a:r>
          </a:p>
          <a:p>
            <a:r>
              <a:rPr lang="it-IT" sz="1600" dirty="0"/>
              <a:t>B  2001    Ohio  1.7  NaN</a:t>
            </a:r>
          </a:p>
          <a:p>
            <a:r>
              <a:rPr lang="it-IT" sz="1600" dirty="0"/>
              <a:t>C  2002    Ohio  3.6  NaN</a:t>
            </a:r>
          </a:p>
          <a:p>
            <a:r>
              <a:rPr lang="it-IT" sz="1600" dirty="0"/>
              <a:t>D  2001  Nevada  2.4  NaN</a:t>
            </a:r>
          </a:p>
          <a:p>
            <a:r>
              <a:rPr lang="it-IT" sz="1600" dirty="0"/>
              <a:t>E  2002  Nevada  2.9  NaN</a:t>
            </a:r>
          </a:p>
          <a:p>
            <a:endParaRPr lang="it-IT" sz="1600" dirty="0"/>
          </a:p>
          <a:p>
            <a:r>
              <a:rPr lang="en-US" sz="1600" dirty="0">
                <a:solidFill>
                  <a:srgbClr val="000080"/>
                </a:solidFill>
              </a:rPr>
              <a:t>print(frame2.loc['A'])</a:t>
            </a:r>
          </a:p>
          <a:p>
            <a:r>
              <a:rPr lang="en-US" sz="1600" dirty="0"/>
              <a:t>year     2000</a:t>
            </a:r>
          </a:p>
          <a:p>
            <a:r>
              <a:rPr lang="en-US" sz="1600" dirty="0"/>
              <a:t>state    Ohio</a:t>
            </a:r>
          </a:p>
          <a:p>
            <a:r>
              <a:rPr lang="en-US" sz="1600" dirty="0"/>
              <a:t>pop       1.5</a:t>
            </a:r>
          </a:p>
          <a:p>
            <a:r>
              <a:rPr lang="en-US" sz="1600" dirty="0"/>
              <a:t>debt      </a:t>
            </a:r>
            <a:r>
              <a:rPr lang="en-US" sz="1600" dirty="0" err="1"/>
              <a:t>NaN</a:t>
            </a:r>
            <a:endParaRPr lang="en-US" sz="1600" dirty="0"/>
          </a:p>
          <a:p>
            <a:r>
              <a:rPr lang="en-US" sz="1600" dirty="0"/>
              <a:t>Name: A, </a:t>
            </a:r>
            <a:r>
              <a:rPr lang="en-US" sz="1600" dirty="0" err="1"/>
              <a:t>dtype</a:t>
            </a:r>
            <a:r>
              <a:rPr lang="en-US" sz="1600" dirty="0"/>
              <a:t>: object</a:t>
            </a:r>
          </a:p>
        </p:txBody>
      </p:sp>
      <p:sp>
        <p:nvSpPr>
          <p:cNvPr id="8" name="Rectangle 7"/>
          <p:cNvSpPr/>
          <p:nvPr/>
        </p:nvSpPr>
        <p:spPr>
          <a:xfrm>
            <a:off x="4929673" y="3564537"/>
            <a:ext cx="3013788" cy="3293209"/>
          </a:xfrm>
          <a:prstGeom prst="rect">
            <a:avLst/>
          </a:prstGeom>
        </p:spPr>
        <p:txBody>
          <a:bodyPr wrap="square">
            <a:spAutoFit/>
          </a:bodyPr>
          <a:lstStyle/>
          <a:p>
            <a:r>
              <a:rPr lang="en-US" sz="1600" dirty="0">
                <a:solidFill>
                  <a:srgbClr val="000080"/>
                </a:solidFill>
              </a:rPr>
              <a:t>print(frame2.loc[['A', 'B']])</a:t>
            </a:r>
          </a:p>
          <a:p>
            <a:r>
              <a:rPr lang="en-US" sz="1600" dirty="0"/>
              <a:t> 	year state  pop debt</a:t>
            </a:r>
          </a:p>
          <a:p>
            <a:r>
              <a:rPr lang="en-US" sz="1600" dirty="0"/>
              <a:t>A  2000  Ohio  1.5  </a:t>
            </a:r>
            <a:r>
              <a:rPr lang="en-US" sz="1600" dirty="0" err="1"/>
              <a:t>NaN</a:t>
            </a:r>
            <a:endParaRPr lang="en-US" sz="1600" dirty="0"/>
          </a:p>
          <a:p>
            <a:r>
              <a:rPr lang="en-US" sz="1600" dirty="0"/>
              <a:t>B  2001  Ohio  1.7  </a:t>
            </a:r>
            <a:r>
              <a:rPr lang="en-US" sz="1600" dirty="0" err="1"/>
              <a:t>NaN</a:t>
            </a:r>
            <a:endParaRPr lang="en-US" sz="1600" dirty="0"/>
          </a:p>
          <a:p>
            <a:endParaRPr lang="en-US" sz="1600" dirty="0"/>
          </a:p>
          <a:p>
            <a:r>
              <a:rPr lang="en-US" sz="1600" dirty="0">
                <a:solidFill>
                  <a:srgbClr val="4141A0"/>
                </a:solidFill>
              </a:rPr>
              <a:t>print(frame2.loc['A':'E',['</a:t>
            </a:r>
            <a:r>
              <a:rPr lang="en-US" sz="1600" dirty="0" err="1">
                <a:solidFill>
                  <a:srgbClr val="4141A0"/>
                </a:solidFill>
              </a:rPr>
              <a:t>state','pop</a:t>
            </a:r>
            <a:r>
              <a:rPr lang="en-US" sz="1600" dirty="0">
                <a:solidFill>
                  <a:srgbClr val="4141A0"/>
                </a:solidFill>
              </a:rPr>
              <a:t>']])</a:t>
            </a:r>
          </a:p>
          <a:p>
            <a:r>
              <a:rPr lang="en-US" sz="1600" dirty="0"/>
              <a:t>      state  pop</a:t>
            </a:r>
          </a:p>
          <a:p>
            <a:r>
              <a:rPr lang="en-US" sz="1600" dirty="0"/>
              <a:t>A    Ohio  1.5</a:t>
            </a:r>
          </a:p>
          <a:p>
            <a:r>
              <a:rPr lang="en-US" sz="1600" dirty="0"/>
              <a:t>B    Ohio  1.7</a:t>
            </a:r>
          </a:p>
          <a:p>
            <a:r>
              <a:rPr lang="en-US" sz="1600" dirty="0"/>
              <a:t>C    Ohio  3.6</a:t>
            </a:r>
          </a:p>
          <a:p>
            <a:r>
              <a:rPr lang="en-US" sz="1600" dirty="0"/>
              <a:t>D  Nevada  2.4</a:t>
            </a:r>
          </a:p>
          <a:p>
            <a:r>
              <a:rPr lang="en-US" sz="1600" dirty="0"/>
              <a:t>E  Nevada  2.9</a:t>
            </a:r>
          </a:p>
        </p:txBody>
      </p:sp>
      <p:sp>
        <p:nvSpPr>
          <p:cNvPr id="7" name="Rectangle 6"/>
          <p:cNvSpPr/>
          <p:nvPr/>
        </p:nvSpPr>
        <p:spPr>
          <a:xfrm>
            <a:off x="7930429" y="3564536"/>
            <a:ext cx="2715208" cy="3046988"/>
          </a:xfrm>
          <a:prstGeom prst="rect">
            <a:avLst/>
          </a:prstGeom>
        </p:spPr>
        <p:txBody>
          <a:bodyPr wrap="square">
            <a:spAutoFit/>
          </a:bodyPr>
          <a:lstStyle/>
          <a:p>
            <a:r>
              <a:rPr lang="en-US" sz="1600" dirty="0">
                <a:solidFill>
                  <a:srgbClr val="000080"/>
                </a:solidFill>
              </a:rPr>
              <a:t>print(frame2.iloc[1:3])</a:t>
            </a:r>
            <a:r>
              <a:rPr lang="en-US" sz="1600" dirty="0"/>
              <a:t> </a:t>
            </a:r>
          </a:p>
          <a:p>
            <a:r>
              <a:rPr lang="en-US" sz="1600" dirty="0"/>
              <a:t>      year state  pop debt</a:t>
            </a:r>
          </a:p>
          <a:p>
            <a:r>
              <a:rPr lang="en-US" sz="1600" dirty="0"/>
              <a:t>B  2001  Ohio  1.7  </a:t>
            </a:r>
            <a:r>
              <a:rPr lang="en-US" sz="1600" dirty="0" err="1"/>
              <a:t>NaN</a:t>
            </a:r>
            <a:endParaRPr lang="en-US" sz="1600" dirty="0"/>
          </a:p>
          <a:p>
            <a:r>
              <a:rPr lang="en-US" sz="1600" dirty="0"/>
              <a:t>C  2002  Ohio  3.6  </a:t>
            </a:r>
            <a:r>
              <a:rPr lang="en-US" sz="1600" dirty="0" err="1"/>
              <a:t>NaN</a:t>
            </a:r>
            <a:endParaRPr lang="en-US" sz="1600" dirty="0"/>
          </a:p>
          <a:p>
            <a:endParaRPr lang="en-US" sz="1600" dirty="0"/>
          </a:p>
          <a:p>
            <a:r>
              <a:rPr lang="en-US" sz="1600" dirty="0">
                <a:solidFill>
                  <a:srgbClr val="4141A0"/>
                </a:solidFill>
              </a:rPr>
              <a:t>print(frame2.iloc[:,1:3])</a:t>
            </a:r>
          </a:p>
          <a:p>
            <a:r>
              <a:rPr lang="en-US" sz="1600" dirty="0"/>
              <a:t>     state  pop</a:t>
            </a:r>
          </a:p>
          <a:p>
            <a:r>
              <a:rPr lang="en-US" sz="1600" dirty="0"/>
              <a:t>A    Ohio  1.5</a:t>
            </a:r>
          </a:p>
          <a:p>
            <a:r>
              <a:rPr lang="en-US" sz="1600" dirty="0"/>
              <a:t>B    Ohio  1.7</a:t>
            </a:r>
          </a:p>
          <a:p>
            <a:r>
              <a:rPr lang="en-US" sz="1600" dirty="0"/>
              <a:t>C    Ohio  3.6</a:t>
            </a:r>
          </a:p>
          <a:p>
            <a:r>
              <a:rPr lang="en-US" sz="1600" dirty="0"/>
              <a:t>D  Nevada  2.4</a:t>
            </a:r>
          </a:p>
          <a:p>
            <a:r>
              <a:rPr lang="en-US" sz="1600" dirty="0"/>
              <a:t>E  Nevada  2.9</a:t>
            </a:r>
          </a:p>
        </p:txBody>
      </p:sp>
    </p:spTree>
    <p:extLst>
      <p:ext uri="{BB962C8B-B14F-4D97-AF65-F5344CB8AC3E}">
        <p14:creationId xmlns:p14="http://schemas.microsoft.com/office/powerpoint/2010/main" val="31446629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a:t>
            </a:r>
            <a:r>
              <a:rPr lang="en-US" dirty="0"/>
              <a:t> – modifying columns</a:t>
            </a:r>
          </a:p>
        </p:txBody>
      </p:sp>
      <p:sp>
        <p:nvSpPr>
          <p:cNvPr id="4" name="Rectangle 3"/>
          <p:cNvSpPr/>
          <p:nvPr/>
        </p:nvSpPr>
        <p:spPr>
          <a:xfrm>
            <a:off x="1893490" y="1481345"/>
            <a:ext cx="5396828" cy="4431983"/>
          </a:xfrm>
          <a:prstGeom prst="rect">
            <a:avLst/>
          </a:prstGeom>
        </p:spPr>
        <p:txBody>
          <a:bodyPr wrap="square">
            <a:spAutoFit/>
          </a:bodyPr>
          <a:lstStyle/>
          <a:p>
            <a:r>
              <a:rPr lang="en-US" sz="1600" dirty="0">
                <a:solidFill>
                  <a:srgbClr val="000080"/>
                </a:solidFill>
              </a:rPr>
              <a:t>frame2['debt'] = 0</a:t>
            </a:r>
          </a:p>
          <a:p>
            <a:r>
              <a:rPr lang="en-US" sz="1600" dirty="0">
                <a:solidFill>
                  <a:srgbClr val="000080"/>
                </a:solidFill>
              </a:rPr>
              <a:t>print(frame2)</a:t>
            </a:r>
          </a:p>
          <a:p>
            <a:r>
              <a:rPr lang="en-US" sz="1600" dirty="0"/>
              <a:t>     year   state  pop  debt</a:t>
            </a:r>
          </a:p>
          <a:p>
            <a:r>
              <a:rPr lang="en-US" sz="1600" dirty="0"/>
              <a:t>A  2000    Ohio  1.5     0</a:t>
            </a:r>
          </a:p>
          <a:p>
            <a:r>
              <a:rPr lang="en-US" sz="1600" dirty="0"/>
              <a:t>B  2001    Ohio  1.7     0</a:t>
            </a:r>
          </a:p>
          <a:p>
            <a:r>
              <a:rPr lang="en-US" sz="1600" dirty="0"/>
              <a:t>C  2002    Ohio  3.6     0</a:t>
            </a:r>
          </a:p>
          <a:p>
            <a:r>
              <a:rPr lang="en-US" sz="1600" dirty="0"/>
              <a:t>D  2001  Nevada  2.4     0</a:t>
            </a:r>
          </a:p>
          <a:p>
            <a:r>
              <a:rPr lang="en-US" sz="1600" dirty="0"/>
              <a:t>E  2002  Nevada  2.9     0</a:t>
            </a:r>
          </a:p>
          <a:p>
            <a:endParaRPr lang="en-US" sz="1600" dirty="0">
              <a:solidFill>
                <a:srgbClr val="000080"/>
              </a:solidFill>
            </a:endParaRPr>
          </a:p>
          <a:p>
            <a:r>
              <a:rPr lang="en-US" sz="1600" dirty="0">
                <a:solidFill>
                  <a:srgbClr val="000080"/>
                </a:solidFill>
              </a:rPr>
              <a:t>frame2['debt'] = range(5)</a:t>
            </a:r>
          </a:p>
          <a:p>
            <a:r>
              <a:rPr lang="en-US" sz="1600" dirty="0">
                <a:solidFill>
                  <a:srgbClr val="000080"/>
                </a:solidFill>
              </a:rPr>
              <a:t>print(frame2)</a:t>
            </a:r>
          </a:p>
          <a:p>
            <a:r>
              <a:rPr lang="en-US" sz="1600" dirty="0"/>
              <a:t>     year   state  pop  debt</a:t>
            </a:r>
          </a:p>
          <a:p>
            <a:r>
              <a:rPr lang="en-US" sz="1600" dirty="0"/>
              <a:t>A  2000    Ohio  1.5     0</a:t>
            </a:r>
          </a:p>
          <a:p>
            <a:r>
              <a:rPr lang="en-US" sz="1600" dirty="0"/>
              <a:t>B  2001    Ohio  1.7     1</a:t>
            </a:r>
          </a:p>
          <a:p>
            <a:r>
              <a:rPr lang="en-US" sz="1600" dirty="0"/>
              <a:t>C  2002    Ohio  3.6     2</a:t>
            </a:r>
          </a:p>
          <a:p>
            <a:r>
              <a:rPr lang="en-US" sz="1600" dirty="0"/>
              <a:t>D  2001  Nevada  2.4     3</a:t>
            </a:r>
          </a:p>
          <a:p>
            <a:r>
              <a:rPr lang="en-US" sz="1600" dirty="0"/>
              <a:t>E  2002  Nevada  2.9     4</a:t>
            </a:r>
          </a:p>
        </p:txBody>
      </p:sp>
      <p:sp>
        <p:nvSpPr>
          <p:cNvPr id="6" name="Rectangle 5"/>
          <p:cNvSpPr/>
          <p:nvPr/>
        </p:nvSpPr>
        <p:spPr>
          <a:xfrm>
            <a:off x="4966648" y="1517059"/>
            <a:ext cx="5165660" cy="2339102"/>
          </a:xfrm>
          <a:prstGeom prst="rect">
            <a:avLst/>
          </a:prstGeom>
        </p:spPr>
        <p:txBody>
          <a:bodyPr wrap="square">
            <a:spAutoFit/>
          </a:bodyPr>
          <a:lstStyle/>
          <a:p>
            <a:r>
              <a:rPr lang="nn-NO" sz="1600" dirty="0">
                <a:solidFill>
                  <a:srgbClr val="000080"/>
                </a:solidFill>
              </a:rPr>
              <a:t>val = Series([10, 10, 10], index = ['A', 'C', 'D'])</a:t>
            </a:r>
          </a:p>
          <a:p>
            <a:r>
              <a:rPr lang="nn-NO" sz="1600" dirty="0">
                <a:solidFill>
                  <a:srgbClr val="000080"/>
                </a:solidFill>
              </a:rPr>
              <a:t>frame2['debt'] = val</a:t>
            </a:r>
          </a:p>
          <a:p>
            <a:r>
              <a:rPr lang="nn-NO" sz="1600" dirty="0">
                <a:solidFill>
                  <a:srgbClr val="000080"/>
                </a:solidFill>
              </a:rPr>
              <a:t>print(frame2)</a:t>
            </a:r>
          </a:p>
          <a:p>
            <a:r>
              <a:rPr lang="nn-NO" sz="1600" dirty="0">
                <a:solidFill>
                  <a:srgbClr val="000080"/>
                </a:solidFill>
              </a:rPr>
              <a:t>     </a:t>
            </a:r>
            <a:r>
              <a:rPr lang="nn-NO" sz="1600" dirty="0"/>
              <a:t>year   state  pop  debt</a:t>
            </a:r>
          </a:p>
          <a:p>
            <a:r>
              <a:rPr lang="nn-NO" sz="1600" dirty="0"/>
              <a:t>A  2000    Ohio  1.5  10.0</a:t>
            </a:r>
          </a:p>
          <a:p>
            <a:r>
              <a:rPr lang="nn-NO" sz="1600" dirty="0"/>
              <a:t>B  2001    Ohio  1.7   NaN</a:t>
            </a:r>
          </a:p>
          <a:p>
            <a:r>
              <a:rPr lang="nn-NO" sz="1600" dirty="0"/>
              <a:t>C  2002    Ohio  3.6  10.0</a:t>
            </a:r>
          </a:p>
          <a:p>
            <a:r>
              <a:rPr lang="nn-NO" sz="1600" dirty="0"/>
              <a:t>D  2001  Nevada  2.4  10.0</a:t>
            </a:r>
          </a:p>
          <a:p>
            <a:r>
              <a:rPr lang="nn-NO" sz="1600" dirty="0"/>
              <a:t>E  2002  Nevada  2.9   NaN</a:t>
            </a:r>
          </a:p>
        </p:txBody>
      </p:sp>
      <p:sp>
        <p:nvSpPr>
          <p:cNvPr id="3" name="TextBox 2"/>
          <p:cNvSpPr txBox="1"/>
          <p:nvPr/>
        </p:nvSpPr>
        <p:spPr>
          <a:xfrm>
            <a:off x="4984970" y="4176858"/>
            <a:ext cx="4983234" cy="707886"/>
          </a:xfrm>
          <a:prstGeom prst="rect">
            <a:avLst/>
          </a:prstGeom>
          <a:noFill/>
        </p:spPr>
        <p:txBody>
          <a:bodyPr wrap="square" rtlCol="0">
            <a:spAutoFit/>
          </a:bodyPr>
          <a:lstStyle/>
          <a:p>
            <a:r>
              <a:rPr lang="en-US" sz="2000" dirty="0"/>
              <a:t>Rows or individual elements can be modified similarly. Using </a:t>
            </a:r>
            <a:r>
              <a:rPr lang="en-US" sz="2000" dirty="0" err="1"/>
              <a:t>loc</a:t>
            </a:r>
            <a:r>
              <a:rPr lang="en-US" sz="2000" dirty="0"/>
              <a:t> or </a:t>
            </a:r>
            <a:r>
              <a:rPr lang="en-US" sz="2000" dirty="0" err="1"/>
              <a:t>iloc</a:t>
            </a:r>
            <a:r>
              <a:rPr lang="en-US" sz="2000" dirty="0"/>
              <a:t>.</a:t>
            </a:r>
          </a:p>
        </p:txBody>
      </p:sp>
    </p:spTree>
    <p:extLst>
      <p:ext uri="{BB962C8B-B14F-4D97-AF65-F5344CB8AC3E}">
        <p14:creationId xmlns:p14="http://schemas.microsoft.com/office/powerpoint/2010/main" val="15106305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a:t>
            </a:r>
            <a:r>
              <a:rPr lang="en-US" dirty="0"/>
              <a:t> – removing columns</a:t>
            </a:r>
          </a:p>
        </p:txBody>
      </p:sp>
      <p:sp>
        <p:nvSpPr>
          <p:cNvPr id="4" name="Rectangle 3"/>
          <p:cNvSpPr/>
          <p:nvPr/>
        </p:nvSpPr>
        <p:spPr>
          <a:xfrm>
            <a:off x="2152650" y="1859339"/>
            <a:ext cx="7815554" cy="2308324"/>
          </a:xfrm>
          <a:prstGeom prst="rect">
            <a:avLst/>
          </a:prstGeom>
        </p:spPr>
        <p:txBody>
          <a:bodyPr wrap="square">
            <a:spAutoFit/>
          </a:bodyPr>
          <a:lstStyle/>
          <a:p>
            <a:r>
              <a:rPr lang="en-US" dirty="0">
                <a:solidFill>
                  <a:srgbClr val="000080"/>
                </a:solidFill>
              </a:rPr>
              <a:t>del frame2['debt']</a:t>
            </a:r>
          </a:p>
          <a:p>
            <a:r>
              <a:rPr lang="en-US" dirty="0">
                <a:solidFill>
                  <a:srgbClr val="000080"/>
                </a:solidFill>
              </a:rPr>
              <a:t>print(frame2)</a:t>
            </a:r>
          </a:p>
          <a:p>
            <a:r>
              <a:rPr lang="en-US" dirty="0"/>
              <a:t>	 year 	state 	pop</a:t>
            </a:r>
          </a:p>
          <a:p>
            <a:r>
              <a:rPr lang="en-US" dirty="0"/>
              <a:t>A 	2000 	Ohio 	1.5</a:t>
            </a:r>
          </a:p>
          <a:p>
            <a:r>
              <a:rPr lang="en-US" dirty="0"/>
              <a:t>B 	2001 	Ohio 	1.7</a:t>
            </a:r>
          </a:p>
          <a:p>
            <a:r>
              <a:rPr lang="en-US" dirty="0"/>
              <a:t>C 	2002 	Ohio 	3.6</a:t>
            </a:r>
          </a:p>
          <a:p>
            <a:r>
              <a:rPr lang="en-US" dirty="0"/>
              <a:t>D 	2001 	Nevada 	2.4</a:t>
            </a:r>
          </a:p>
          <a:p>
            <a:r>
              <a:rPr lang="en-US" dirty="0"/>
              <a:t>E 	2002 	Nevada 	2.9</a:t>
            </a:r>
          </a:p>
        </p:txBody>
      </p:sp>
    </p:spTree>
    <p:extLst>
      <p:ext uri="{BB962C8B-B14F-4D97-AF65-F5344CB8AC3E}">
        <p14:creationId xmlns:p14="http://schemas.microsoft.com/office/powerpoint/2010/main" val="643679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on </a:t>
            </a:r>
            <a:r>
              <a:rPr lang="en-US" dirty="0" err="1"/>
              <a:t>DataFrame</a:t>
            </a:r>
            <a:r>
              <a:rPr lang="en-US" dirty="0"/>
              <a:t> indexing</a:t>
            </a:r>
          </a:p>
        </p:txBody>
      </p:sp>
      <p:sp>
        <p:nvSpPr>
          <p:cNvPr id="4" name="Rectangle 3"/>
          <p:cNvSpPr/>
          <p:nvPr/>
        </p:nvSpPr>
        <p:spPr>
          <a:xfrm>
            <a:off x="1963807" y="1483592"/>
            <a:ext cx="8452266" cy="3539430"/>
          </a:xfrm>
          <a:prstGeom prst="rect">
            <a:avLst/>
          </a:prstGeom>
        </p:spPr>
        <p:txBody>
          <a:bodyPr wrap="square">
            <a:spAutoFit/>
          </a:bodyPr>
          <a:lstStyle/>
          <a:p>
            <a:r>
              <a:rPr lang="en-US" sz="1600" dirty="0">
                <a:solidFill>
                  <a:srgbClr val="000080"/>
                </a:solidFill>
              </a:rPr>
              <a:t>import </a:t>
            </a:r>
            <a:r>
              <a:rPr lang="en-US" sz="1600" dirty="0" err="1">
                <a:solidFill>
                  <a:srgbClr val="000080"/>
                </a:solidFill>
              </a:rPr>
              <a:t>numpy</a:t>
            </a:r>
            <a:r>
              <a:rPr lang="en-US" sz="1600" dirty="0">
                <a:solidFill>
                  <a:srgbClr val="000080"/>
                </a:solidFill>
              </a:rPr>
              <a:t> as np</a:t>
            </a:r>
          </a:p>
          <a:p>
            <a:r>
              <a:rPr lang="en-US" sz="1600" dirty="0">
                <a:solidFill>
                  <a:srgbClr val="000080"/>
                </a:solidFill>
              </a:rPr>
              <a:t>data = </a:t>
            </a:r>
            <a:r>
              <a:rPr lang="en-US" sz="1600" dirty="0" err="1">
                <a:solidFill>
                  <a:srgbClr val="000080"/>
                </a:solidFill>
              </a:rPr>
              <a:t>np.arange</a:t>
            </a:r>
            <a:r>
              <a:rPr lang="en-US" sz="1600" dirty="0">
                <a:solidFill>
                  <a:srgbClr val="000080"/>
                </a:solidFill>
              </a:rPr>
              <a:t>(9).reshape(3,3)</a:t>
            </a:r>
          </a:p>
          <a:p>
            <a:r>
              <a:rPr lang="en-US" sz="1600" dirty="0">
                <a:solidFill>
                  <a:srgbClr val="000080"/>
                </a:solidFill>
              </a:rPr>
              <a:t>print(data)</a:t>
            </a:r>
          </a:p>
          <a:p>
            <a:r>
              <a:rPr lang="en-US" sz="1600" dirty="0"/>
              <a:t>[[0 1 2]</a:t>
            </a:r>
          </a:p>
          <a:p>
            <a:r>
              <a:rPr lang="en-US" sz="1600" dirty="0"/>
              <a:t> [3 4 5]</a:t>
            </a:r>
          </a:p>
          <a:p>
            <a:r>
              <a:rPr lang="en-US" sz="1600" dirty="0"/>
              <a:t> [6 7 8]]</a:t>
            </a:r>
          </a:p>
          <a:p>
            <a:endParaRPr lang="en-US" sz="1600" dirty="0"/>
          </a:p>
          <a:p>
            <a:r>
              <a:rPr lang="en-US" sz="1600" dirty="0">
                <a:solidFill>
                  <a:srgbClr val="000080"/>
                </a:solidFill>
              </a:rPr>
              <a:t>frame = </a:t>
            </a:r>
            <a:r>
              <a:rPr lang="en-US" sz="1600" dirty="0" err="1">
                <a:solidFill>
                  <a:srgbClr val="000080"/>
                </a:solidFill>
              </a:rPr>
              <a:t>DataFrame</a:t>
            </a:r>
            <a:r>
              <a:rPr lang="en-US" sz="1600" dirty="0">
                <a:solidFill>
                  <a:srgbClr val="000080"/>
                </a:solidFill>
              </a:rPr>
              <a:t>(data, index=['r1', 'r2', 'r3'], columns=['c1', 'c2', 'c3'])</a:t>
            </a:r>
          </a:p>
          <a:p>
            <a:r>
              <a:rPr lang="en-US" sz="1600" dirty="0">
                <a:solidFill>
                  <a:srgbClr val="000080"/>
                </a:solidFill>
              </a:rPr>
              <a:t>print(frame)</a:t>
            </a:r>
          </a:p>
          <a:p>
            <a:r>
              <a:rPr lang="pt-BR" sz="1600" dirty="0"/>
              <a:t>     c1  c2  c3</a:t>
            </a:r>
          </a:p>
          <a:p>
            <a:r>
              <a:rPr lang="pt-BR" sz="1600" dirty="0"/>
              <a:t>r1   0   1   2</a:t>
            </a:r>
          </a:p>
          <a:p>
            <a:r>
              <a:rPr lang="pt-BR" sz="1600" dirty="0"/>
              <a:t>r2   3   4   5</a:t>
            </a:r>
          </a:p>
          <a:p>
            <a:r>
              <a:rPr lang="pt-BR" sz="1600" dirty="0"/>
              <a:t>r3   6   7   8</a:t>
            </a:r>
          </a:p>
          <a:p>
            <a:endParaRPr lang="en-US" sz="1600" dirty="0"/>
          </a:p>
        </p:txBody>
      </p:sp>
      <p:sp>
        <p:nvSpPr>
          <p:cNvPr id="18" name="Rectangle 17"/>
          <p:cNvSpPr/>
          <p:nvPr/>
        </p:nvSpPr>
        <p:spPr>
          <a:xfrm>
            <a:off x="3645857" y="3480614"/>
            <a:ext cx="2950918" cy="1323439"/>
          </a:xfrm>
          <a:prstGeom prst="rect">
            <a:avLst/>
          </a:prstGeom>
        </p:spPr>
        <p:txBody>
          <a:bodyPr wrap="square">
            <a:spAutoFit/>
          </a:bodyPr>
          <a:lstStyle/>
          <a:p>
            <a:r>
              <a:rPr lang="en-US" sz="1600" dirty="0">
                <a:solidFill>
                  <a:srgbClr val="000080"/>
                </a:solidFill>
              </a:rPr>
              <a:t>print(frame['c1'])</a:t>
            </a:r>
          </a:p>
          <a:p>
            <a:r>
              <a:rPr lang="pt-BR" sz="1600" dirty="0"/>
              <a:t>r1    0</a:t>
            </a:r>
          </a:p>
          <a:p>
            <a:r>
              <a:rPr lang="pt-BR" sz="1600" dirty="0"/>
              <a:t>r2    3</a:t>
            </a:r>
          </a:p>
          <a:p>
            <a:r>
              <a:rPr lang="pt-BR" sz="1600" dirty="0"/>
              <a:t>r3    6</a:t>
            </a:r>
          </a:p>
          <a:p>
            <a:r>
              <a:rPr lang="pt-BR" sz="1600" dirty="0"/>
              <a:t>Name: c1, dtype: int32</a:t>
            </a:r>
          </a:p>
        </p:txBody>
      </p:sp>
      <p:sp>
        <p:nvSpPr>
          <p:cNvPr id="19" name="Rectangle 18"/>
          <p:cNvSpPr/>
          <p:nvPr/>
        </p:nvSpPr>
        <p:spPr>
          <a:xfrm>
            <a:off x="1963807" y="4786478"/>
            <a:ext cx="2950918" cy="1892826"/>
          </a:xfrm>
          <a:prstGeom prst="rect">
            <a:avLst/>
          </a:prstGeom>
        </p:spPr>
        <p:txBody>
          <a:bodyPr wrap="square">
            <a:spAutoFit/>
          </a:bodyPr>
          <a:lstStyle/>
          <a:p>
            <a:r>
              <a:rPr lang="en-US" sz="1600" dirty="0">
                <a:solidFill>
                  <a:srgbClr val="000080"/>
                </a:solidFill>
              </a:rPr>
              <a:t>print(frame['c1']['r1'])</a:t>
            </a:r>
          </a:p>
          <a:p>
            <a:r>
              <a:rPr lang="en-US" sz="1600" dirty="0"/>
              <a:t>0</a:t>
            </a:r>
          </a:p>
          <a:p>
            <a:endParaRPr lang="en-US" sz="500" dirty="0">
              <a:solidFill>
                <a:srgbClr val="000080"/>
              </a:solidFill>
            </a:endParaRPr>
          </a:p>
          <a:p>
            <a:r>
              <a:rPr lang="en-US" sz="1600" dirty="0">
                <a:solidFill>
                  <a:srgbClr val="000080"/>
                </a:solidFill>
              </a:rPr>
              <a:t>print(frame[['c1', 'c3']])</a:t>
            </a:r>
          </a:p>
          <a:p>
            <a:r>
              <a:rPr lang="pt-BR" sz="1600" dirty="0"/>
              <a:t>     c1  c3</a:t>
            </a:r>
          </a:p>
          <a:p>
            <a:r>
              <a:rPr lang="pt-BR" sz="1600" dirty="0"/>
              <a:t>r1   0   2</a:t>
            </a:r>
          </a:p>
          <a:p>
            <a:r>
              <a:rPr lang="pt-BR" sz="1600" dirty="0"/>
              <a:t>r2   3   5</a:t>
            </a:r>
          </a:p>
          <a:p>
            <a:r>
              <a:rPr lang="pt-BR" sz="1600" dirty="0"/>
              <a:t>r3   6   8</a:t>
            </a:r>
            <a:endParaRPr lang="en-US" sz="1600" dirty="0"/>
          </a:p>
        </p:txBody>
      </p:sp>
      <p:sp>
        <p:nvSpPr>
          <p:cNvPr id="20" name="Rectangle 19"/>
          <p:cNvSpPr/>
          <p:nvPr/>
        </p:nvSpPr>
        <p:spPr>
          <a:xfrm>
            <a:off x="6000281" y="3480613"/>
            <a:ext cx="2950918" cy="1323439"/>
          </a:xfrm>
          <a:prstGeom prst="rect">
            <a:avLst/>
          </a:prstGeom>
        </p:spPr>
        <p:txBody>
          <a:bodyPr wrap="square">
            <a:spAutoFit/>
          </a:bodyPr>
          <a:lstStyle/>
          <a:p>
            <a:r>
              <a:rPr lang="en-US" sz="1600" dirty="0">
                <a:solidFill>
                  <a:srgbClr val="000080"/>
                </a:solidFill>
              </a:rPr>
              <a:t>print(</a:t>
            </a:r>
            <a:r>
              <a:rPr lang="en-US" sz="1600" dirty="0" err="1">
                <a:solidFill>
                  <a:srgbClr val="000080"/>
                </a:solidFill>
              </a:rPr>
              <a:t>frame.loc</a:t>
            </a:r>
            <a:r>
              <a:rPr lang="en-US" sz="1600" dirty="0">
                <a:solidFill>
                  <a:srgbClr val="000080"/>
                </a:solidFill>
              </a:rPr>
              <a:t>['r1'])</a:t>
            </a:r>
          </a:p>
          <a:p>
            <a:r>
              <a:rPr lang="en-US" sz="1600" dirty="0"/>
              <a:t>c1    0</a:t>
            </a:r>
          </a:p>
          <a:p>
            <a:r>
              <a:rPr lang="en-US" sz="1600" dirty="0"/>
              <a:t>c2    1</a:t>
            </a:r>
          </a:p>
          <a:p>
            <a:r>
              <a:rPr lang="en-US" sz="1600" dirty="0"/>
              <a:t>c3    2</a:t>
            </a:r>
          </a:p>
          <a:p>
            <a:r>
              <a:rPr lang="en-US" sz="1600" dirty="0"/>
              <a:t>Name: r1, </a:t>
            </a:r>
            <a:r>
              <a:rPr lang="en-US" sz="1600" dirty="0" err="1"/>
              <a:t>dtype</a:t>
            </a:r>
            <a:r>
              <a:rPr lang="en-US" sz="1600" dirty="0"/>
              <a:t>: int32</a:t>
            </a:r>
          </a:p>
        </p:txBody>
      </p:sp>
      <p:sp>
        <p:nvSpPr>
          <p:cNvPr id="21" name="Rectangle 20"/>
          <p:cNvSpPr/>
          <p:nvPr/>
        </p:nvSpPr>
        <p:spPr>
          <a:xfrm>
            <a:off x="4296445" y="4785389"/>
            <a:ext cx="2950918" cy="1077218"/>
          </a:xfrm>
          <a:prstGeom prst="rect">
            <a:avLst/>
          </a:prstGeom>
        </p:spPr>
        <p:txBody>
          <a:bodyPr wrap="square">
            <a:spAutoFit/>
          </a:bodyPr>
          <a:lstStyle/>
          <a:p>
            <a:r>
              <a:rPr lang="en-US" sz="1600" dirty="0">
                <a:solidFill>
                  <a:srgbClr val="000080"/>
                </a:solidFill>
              </a:rPr>
              <a:t>print(</a:t>
            </a:r>
            <a:r>
              <a:rPr lang="en-US" sz="1600" dirty="0" err="1">
                <a:solidFill>
                  <a:srgbClr val="000080"/>
                </a:solidFill>
              </a:rPr>
              <a:t>frame.loc</a:t>
            </a:r>
            <a:r>
              <a:rPr lang="en-US" sz="1600" dirty="0">
                <a:solidFill>
                  <a:srgbClr val="000080"/>
                </a:solidFill>
              </a:rPr>
              <a:t>[['r1','r3']])</a:t>
            </a:r>
          </a:p>
          <a:p>
            <a:r>
              <a:rPr lang="pt-BR" sz="1600" dirty="0"/>
              <a:t>    c1  c2  c3</a:t>
            </a:r>
          </a:p>
          <a:p>
            <a:r>
              <a:rPr lang="pt-BR" sz="1600" dirty="0"/>
              <a:t>r1   0   1   2</a:t>
            </a:r>
          </a:p>
          <a:p>
            <a:r>
              <a:rPr lang="pt-BR" sz="1600" dirty="0"/>
              <a:t>r3   6   7   8</a:t>
            </a:r>
            <a:endParaRPr lang="en-US" sz="1600" dirty="0"/>
          </a:p>
        </p:txBody>
      </p:sp>
      <p:sp>
        <p:nvSpPr>
          <p:cNvPr id="22" name="Rectangle 21"/>
          <p:cNvSpPr/>
          <p:nvPr/>
        </p:nvSpPr>
        <p:spPr>
          <a:xfrm>
            <a:off x="9057915" y="4773945"/>
            <a:ext cx="1656485" cy="1077218"/>
          </a:xfrm>
          <a:prstGeom prst="rect">
            <a:avLst/>
          </a:prstGeom>
        </p:spPr>
        <p:txBody>
          <a:bodyPr wrap="square">
            <a:spAutoFit/>
          </a:bodyPr>
          <a:lstStyle/>
          <a:p>
            <a:r>
              <a:rPr lang="en-US" sz="1600" dirty="0">
                <a:solidFill>
                  <a:srgbClr val="000080"/>
                </a:solidFill>
              </a:rPr>
              <a:t>print(frame[:2])</a:t>
            </a:r>
          </a:p>
          <a:p>
            <a:r>
              <a:rPr lang="pt-BR" sz="1600" dirty="0"/>
              <a:t>    c1  c2  c3</a:t>
            </a:r>
          </a:p>
          <a:p>
            <a:r>
              <a:rPr lang="pt-BR" sz="1600" dirty="0"/>
              <a:t>r1   0   1   2</a:t>
            </a:r>
          </a:p>
          <a:p>
            <a:r>
              <a:rPr lang="pt-BR" sz="1600" dirty="0"/>
              <a:t>r2   3   4   5</a:t>
            </a:r>
            <a:endParaRPr lang="en-US" sz="1600" dirty="0"/>
          </a:p>
        </p:txBody>
      </p:sp>
      <p:sp>
        <p:nvSpPr>
          <p:cNvPr id="23" name="Rectangle 22"/>
          <p:cNvSpPr/>
          <p:nvPr/>
        </p:nvSpPr>
        <p:spPr>
          <a:xfrm>
            <a:off x="6803366" y="4804052"/>
            <a:ext cx="1956222" cy="1077218"/>
          </a:xfrm>
          <a:prstGeom prst="rect">
            <a:avLst/>
          </a:prstGeom>
        </p:spPr>
        <p:txBody>
          <a:bodyPr wrap="square">
            <a:spAutoFit/>
          </a:bodyPr>
          <a:lstStyle/>
          <a:p>
            <a:r>
              <a:rPr lang="en-US" sz="1600" dirty="0">
                <a:solidFill>
                  <a:srgbClr val="000080"/>
                </a:solidFill>
              </a:rPr>
              <a:t>print(</a:t>
            </a:r>
            <a:r>
              <a:rPr lang="en-US" sz="1600" dirty="0" err="1">
                <a:solidFill>
                  <a:srgbClr val="000080"/>
                </a:solidFill>
              </a:rPr>
              <a:t>frame.iloc</a:t>
            </a:r>
            <a:r>
              <a:rPr lang="en-US" sz="1600" dirty="0">
                <a:solidFill>
                  <a:srgbClr val="000080"/>
                </a:solidFill>
              </a:rPr>
              <a:t>[:2])</a:t>
            </a:r>
          </a:p>
          <a:p>
            <a:r>
              <a:rPr lang="pt-BR" sz="1600" dirty="0"/>
              <a:t>    c1  c2  c3</a:t>
            </a:r>
          </a:p>
          <a:p>
            <a:r>
              <a:rPr lang="pt-BR" sz="1600" dirty="0"/>
              <a:t>r1   0   1   2</a:t>
            </a:r>
          </a:p>
          <a:p>
            <a:r>
              <a:rPr lang="pt-BR" sz="1600" dirty="0"/>
              <a:t>r2   3   4   5</a:t>
            </a:r>
          </a:p>
        </p:txBody>
      </p:sp>
      <p:sp>
        <p:nvSpPr>
          <p:cNvPr id="24" name="TextBox 23"/>
          <p:cNvSpPr txBox="1"/>
          <p:nvPr/>
        </p:nvSpPr>
        <p:spPr>
          <a:xfrm>
            <a:off x="8115822" y="6449696"/>
            <a:ext cx="1287532" cy="369332"/>
          </a:xfrm>
          <a:prstGeom prst="rect">
            <a:avLst/>
          </a:prstGeom>
          <a:noFill/>
        </p:spPr>
        <p:txBody>
          <a:bodyPr wrap="square" rtlCol="0">
            <a:spAutoFit/>
          </a:bodyPr>
          <a:lstStyle/>
          <a:p>
            <a:r>
              <a:rPr lang="en-US" dirty="0"/>
              <a:t>Row slices</a:t>
            </a:r>
          </a:p>
        </p:txBody>
      </p:sp>
      <p:cxnSp>
        <p:nvCxnSpPr>
          <p:cNvPr id="25" name="Straight Arrow Connector 24"/>
          <p:cNvCxnSpPr/>
          <p:nvPr/>
        </p:nvCxnSpPr>
        <p:spPr>
          <a:xfrm flipH="1" flipV="1">
            <a:off x="7924800" y="5851164"/>
            <a:ext cx="588584" cy="523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8951200" y="5851163"/>
            <a:ext cx="382523" cy="523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0370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on </a:t>
            </a:r>
            <a:r>
              <a:rPr lang="en-US" dirty="0" err="1"/>
              <a:t>DataFrame</a:t>
            </a:r>
            <a:r>
              <a:rPr lang="en-US" dirty="0"/>
              <a:t> indexing - 2</a:t>
            </a:r>
          </a:p>
        </p:txBody>
      </p:sp>
      <p:sp>
        <p:nvSpPr>
          <p:cNvPr id="5" name="Rectangle 4"/>
          <p:cNvSpPr/>
          <p:nvPr/>
        </p:nvSpPr>
        <p:spPr>
          <a:xfrm>
            <a:off x="1971262" y="1482634"/>
            <a:ext cx="8332844" cy="5262979"/>
          </a:xfrm>
          <a:prstGeom prst="rect">
            <a:avLst/>
          </a:prstGeom>
        </p:spPr>
        <p:txBody>
          <a:bodyPr wrap="square">
            <a:spAutoFit/>
          </a:bodyPr>
          <a:lstStyle/>
          <a:p>
            <a:r>
              <a:rPr lang="pt-BR" sz="1600" dirty="0">
                <a:solidFill>
                  <a:srgbClr val="000080"/>
                </a:solidFill>
              </a:rPr>
              <a:t>print(frame.loc[['r1', 'r2'], ['c1', 'c2']])</a:t>
            </a:r>
          </a:p>
          <a:p>
            <a:r>
              <a:rPr lang="pt-BR" sz="1600" dirty="0"/>
              <a:t>  c1 c2</a:t>
            </a:r>
          </a:p>
          <a:p>
            <a:r>
              <a:rPr lang="pt-BR" sz="1600" dirty="0"/>
              <a:t>r1 0 1</a:t>
            </a:r>
          </a:p>
          <a:p>
            <a:r>
              <a:rPr lang="pt-BR" sz="1600" dirty="0"/>
              <a:t>r2 3 4</a:t>
            </a:r>
          </a:p>
          <a:p>
            <a:endParaRPr lang="pt-BR" sz="1600" dirty="0"/>
          </a:p>
          <a:p>
            <a:r>
              <a:rPr lang="pt-BR" sz="1600" dirty="0">
                <a:solidFill>
                  <a:srgbClr val="000080"/>
                </a:solidFill>
              </a:rPr>
              <a:t>print(frame.iloc[:2,:2])</a:t>
            </a:r>
          </a:p>
          <a:p>
            <a:r>
              <a:rPr lang="pt-BR" sz="1600" dirty="0"/>
              <a:t>     c1  c2</a:t>
            </a:r>
          </a:p>
          <a:p>
            <a:r>
              <a:rPr lang="pt-BR" sz="1600" dirty="0"/>
              <a:t>r1   0   1</a:t>
            </a:r>
          </a:p>
          <a:p>
            <a:r>
              <a:rPr lang="pt-BR" sz="1600" dirty="0"/>
              <a:t>r2   3   4</a:t>
            </a:r>
          </a:p>
          <a:p>
            <a:endParaRPr lang="pt-BR" sz="1600" dirty="0"/>
          </a:p>
          <a:p>
            <a:r>
              <a:rPr lang="pt-BR" sz="1600" dirty="0">
                <a:solidFill>
                  <a:srgbClr val="000080"/>
                </a:solidFill>
              </a:rPr>
              <a:t>v = DataFrame(np.arange(9).reshape(3,3), index=['a', 'a', 'b'], columns=['c1','c2','c3'])</a:t>
            </a:r>
          </a:p>
          <a:p>
            <a:r>
              <a:rPr lang="pt-BR" sz="1600" dirty="0">
                <a:solidFill>
                  <a:srgbClr val="000080"/>
                </a:solidFill>
              </a:rPr>
              <a:t>print(v)</a:t>
            </a:r>
          </a:p>
          <a:p>
            <a:r>
              <a:rPr lang="pt-BR" sz="1600" dirty="0"/>
              <a:t>    c1  c2  c3</a:t>
            </a:r>
          </a:p>
          <a:p>
            <a:r>
              <a:rPr lang="pt-BR" sz="1600" dirty="0"/>
              <a:t>a   0   1   2</a:t>
            </a:r>
          </a:p>
          <a:p>
            <a:r>
              <a:rPr lang="pt-BR" sz="1600" dirty="0"/>
              <a:t>a   3   4   5</a:t>
            </a:r>
          </a:p>
          <a:p>
            <a:r>
              <a:rPr lang="pt-BR" sz="1600" dirty="0"/>
              <a:t>b   6   7   8</a:t>
            </a:r>
          </a:p>
          <a:p>
            <a:endParaRPr lang="pt-BR" sz="1600" dirty="0">
              <a:solidFill>
                <a:srgbClr val="000080"/>
              </a:solidFill>
            </a:endParaRPr>
          </a:p>
          <a:p>
            <a:r>
              <a:rPr lang="pt-BR" sz="1600" dirty="0">
                <a:solidFill>
                  <a:srgbClr val="000080"/>
                </a:solidFill>
              </a:rPr>
              <a:t>print(v.loc['a'])</a:t>
            </a:r>
            <a:endParaRPr lang="pt-BR" sz="1600" dirty="0"/>
          </a:p>
          <a:p>
            <a:r>
              <a:rPr lang="pt-BR" sz="1600" dirty="0"/>
              <a:t>    c1  c2  c3</a:t>
            </a:r>
          </a:p>
          <a:p>
            <a:r>
              <a:rPr lang="pt-BR" sz="1600" dirty="0"/>
              <a:t>a   0   1   2</a:t>
            </a:r>
          </a:p>
          <a:p>
            <a:r>
              <a:rPr lang="pt-BR" sz="1600" dirty="0"/>
              <a:t>a   3   4   5</a:t>
            </a:r>
            <a:endParaRPr lang="en-US" sz="1600" dirty="0"/>
          </a:p>
        </p:txBody>
      </p:sp>
      <p:cxnSp>
        <p:nvCxnSpPr>
          <p:cNvPr id="8" name="Straight Arrow Connector 7"/>
          <p:cNvCxnSpPr/>
          <p:nvPr/>
        </p:nvCxnSpPr>
        <p:spPr>
          <a:xfrm flipH="1" flipV="1">
            <a:off x="6849176" y="4264315"/>
            <a:ext cx="715618" cy="573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803333" y="4837397"/>
            <a:ext cx="1648272" cy="369332"/>
          </a:xfrm>
          <a:prstGeom prst="rect">
            <a:avLst/>
          </a:prstGeom>
          <a:noFill/>
        </p:spPr>
        <p:txBody>
          <a:bodyPr wrap="none" rtlCol="0">
            <a:spAutoFit/>
          </a:bodyPr>
          <a:lstStyle/>
          <a:p>
            <a:r>
              <a:rPr lang="en-US" dirty="0"/>
              <a:t>Duplicated keys</a:t>
            </a:r>
          </a:p>
        </p:txBody>
      </p:sp>
      <p:sp>
        <p:nvSpPr>
          <p:cNvPr id="10" name="Rectangle 9"/>
          <p:cNvSpPr/>
          <p:nvPr/>
        </p:nvSpPr>
        <p:spPr>
          <a:xfrm>
            <a:off x="5566658" y="1482634"/>
            <a:ext cx="4572000" cy="1323439"/>
          </a:xfrm>
          <a:prstGeom prst="rect">
            <a:avLst/>
          </a:prstGeom>
        </p:spPr>
        <p:txBody>
          <a:bodyPr>
            <a:spAutoFit/>
          </a:bodyPr>
          <a:lstStyle/>
          <a:p>
            <a:r>
              <a:rPr lang="pt-BR" sz="1600" dirty="0">
                <a:solidFill>
                  <a:srgbClr val="000080"/>
                </a:solidFill>
              </a:rPr>
              <a:t>print(frame.loc['r1':'r3', 'c1':'c3'])</a:t>
            </a:r>
          </a:p>
          <a:p>
            <a:r>
              <a:rPr lang="pt-BR" sz="1600" dirty="0">
                <a:solidFill>
                  <a:srgbClr val="000080"/>
                </a:solidFill>
              </a:rPr>
              <a:t>    </a:t>
            </a:r>
            <a:r>
              <a:rPr lang="pt-BR" sz="1600" dirty="0"/>
              <a:t> c1  c2  c3</a:t>
            </a:r>
          </a:p>
          <a:p>
            <a:r>
              <a:rPr lang="pt-BR" sz="1600" dirty="0"/>
              <a:t>r1   0   1   2</a:t>
            </a:r>
          </a:p>
          <a:p>
            <a:r>
              <a:rPr lang="pt-BR" sz="1600" dirty="0"/>
              <a:t>r2   3   4   5</a:t>
            </a:r>
          </a:p>
          <a:p>
            <a:r>
              <a:rPr lang="pt-BR" sz="1600" dirty="0"/>
              <a:t>r3   6   7   8</a:t>
            </a:r>
          </a:p>
        </p:txBody>
      </p:sp>
    </p:spTree>
    <p:extLst>
      <p:ext uri="{BB962C8B-B14F-4D97-AF65-F5344CB8AC3E}">
        <p14:creationId xmlns:p14="http://schemas.microsoft.com/office/powerpoint/2010/main" val="2818584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on </a:t>
            </a:r>
            <a:r>
              <a:rPr lang="en-US" dirty="0" err="1"/>
              <a:t>DataFrame</a:t>
            </a:r>
            <a:r>
              <a:rPr lang="en-US" dirty="0"/>
              <a:t> indexing - 3</a:t>
            </a:r>
          </a:p>
        </p:txBody>
      </p:sp>
      <p:sp>
        <p:nvSpPr>
          <p:cNvPr id="6" name="Rectangle 5"/>
          <p:cNvSpPr/>
          <p:nvPr/>
        </p:nvSpPr>
        <p:spPr>
          <a:xfrm>
            <a:off x="1930086" y="1441316"/>
            <a:ext cx="2766323" cy="3046988"/>
          </a:xfrm>
          <a:prstGeom prst="rect">
            <a:avLst/>
          </a:prstGeom>
        </p:spPr>
        <p:txBody>
          <a:bodyPr wrap="square">
            <a:spAutoFit/>
          </a:bodyPr>
          <a:lstStyle/>
          <a:p>
            <a:r>
              <a:rPr lang="en-US" sz="1600" dirty="0">
                <a:solidFill>
                  <a:srgbClr val="000080"/>
                </a:solidFill>
              </a:rPr>
              <a:t>print(frame)</a:t>
            </a:r>
          </a:p>
          <a:p>
            <a:r>
              <a:rPr lang="pt-BR" sz="1600" dirty="0"/>
              <a:t>    c1  c2  c3</a:t>
            </a:r>
          </a:p>
          <a:p>
            <a:r>
              <a:rPr lang="pt-BR" sz="1600" dirty="0"/>
              <a:t>r1   0   1   2</a:t>
            </a:r>
          </a:p>
          <a:p>
            <a:r>
              <a:rPr lang="pt-BR" sz="1600" dirty="0"/>
              <a:t>r2   3   4   5</a:t>
            </a:r>
          </a:p>
          <a:p>
            <a:r>
              <a:rPr lang="pt-BR" sz="1600" dirty="0"/>
              <a:t>r3   6   7   8</a:t>
            </a:r>
          </a:p>
          <a:p>
            <a:endParaRPr lang="en-US" sz="1600" dirty="0"/>
          </a:p>
          <a:p>
            <a:r>
              <a:rPr lang="en-US" sz="1600" dirty="0">
                <a:solidFill>
                  <a:srgbClr val="000080"/>
                </a:solidFill>
              </a:rPr>
              <a:t>print(frame &lt;3)</a:t>
            </a:r>
          </a:p>
          <a:p>
            <a:r>
              <a:rPr lang="en-US" sz="1600" dirty="0"/>
              <a:t>         c1     c2     c3</a:t>
            </a:r>
          </a:p>
          <a:p>
            <a:r>
              <a:rPr lang="en-US" sz="1600" dirty="0"/>
              <a:t>r1   True   </a:t>
            </a:r>
            <a:r>
              <a:rPr lang="en-US" sz="1600" dirty="0" err="1"/>
              <a:t>True</a:t>
            </a:r>
            <a:r>
              <a:rPr lang="en-US" sz="1600" dirty="0"/>
              <a:t>   </a:t>
            </a:r>
            <a:r>
              <a:rPr lang="en-US" sz="1600" dirty="0" err="1"/>
              <a:t>True</a:t>
            </a:r>
            <a:endParaRPr lang="en-US" sz="1600" dirty="0"/>
          </a:p>
          <a:p>
            <a:r>
              <a:rPr lang="en-US" sz="1600" dirty="0"/>
              <a:t>r2  False  </a:t>
            </a:r>
            <a:r>
              <a:rPr lang="en-US" sz="1600" dirty="0" err="1"/>
              <a:t>False</a:t>
            </a:r>
            <a:r>
              <a:rPr lang="en-US" sz="1600" dirty="0"/>
              <a:t>  </a:t>
            </a:r>
            <a:r>
              <a:rPr lang="en-US" sz="1600" dirty="0" err="1"/>
              <a:t>False</a:t>
            </a:r>
            <a:endParaRPr lang="en-US" sz="1600" dirty="0"/>
          </a:p>
          <a:p>
            <a:r>
              <a:rPr lang="en-US" sz="1600" dirty="0"/>
              <a:t>r3  False  </a:t>
            </a:r>
            <a:r>
              <a:rPr lang="en-US" sz="1600" dirty="0" err="1"/>
              <a:t>False</a:t>
            </a:r>
            <a:r>
              <a:rPr lang="en-US" sz="1600" dirty="0"/>
              <a:t>  </a:t>
            </a:r>
            <a:r>
              <a:rPr lang="en-US" sz="1600" dirty="0" err="1"/>
              <a:t>False</a:t>
            </a:r>
            <a:endParaRPr lang="en-US" sz="1600" dirty="0"/>
          </a:p>
          <a:p>
            <a:endParaRPr lang="en-US" sz="1600" dirty="0"/>
          </a:p>
        </p:txBody>
      </p:sp>
      <p:sp>
        <p:nvSpPr>
          <p:cNvPr id="7" name="Rectangle 6"/>
          <p:cNvSpPr/>
          <p:nvPr/>
        </p:nvSpPr>
        <p:spPr>
          <a:xfrm>
            <a:off x="5525482" y="1441317"/>
            <a:ext cx="2766323" cy="2800767"/>
          </a:xfrm>
          <a:prstGeom prst="rect">
            <a:avLst/>
          </a:prstGeom>
        </p:spPr>
        <p:txBody>
          <a:bodyPr wrap="square">
            <a:spAutoFit/>
          </a:bodyPr>
          <a:lstStyle/>
          <a:p>
            <a:r>
              <a:rPr lang="en-US" sz="1600" dirty="0">
                <a:solidFill>
                  <a:srgbClr val="000080"/>
                </a:solidFill>
              </a:rPr>
              <a:t>print(frame[frame['c1']&gt;0])</a:t>
            </a:r>
          </a:p>
          <a:p>
            <a:r>
              <a:rPr lang="pt-BR" sz="1600" dirty="0"/>
              <a:t>     c1  c2  c3</a:t>
            </a:r>
          </a:p>
          <a:p>
            <a:r>
              <a:rPr lang="pt-BR" sz="1600" dirty="0"/>
              <a:t>r2   3   4   5</a:t>
            </a:r>
          </a:p>
          <a:p>
            <a:r>
              <a:rPr lang="pt-BR" sz="1600" dirty="0"/>
              <a:t>r3   6   7   8</a:t>
            </a:r>
          </a:p>
          <a:p>
            <a:endParaRPr lang="en-US" sz="1600" dirty="0"/>
          </a:p>
          <a:p>
            <a:r>
              <a:rPr lang="en-US" sz="1600" dirty="0">
                <a:solidFill>
                  <a:srgbClr val="000080"/>
                </a:solidFill>
              </a:rPr>
              <a:t>print(frame['c1']&gt;0)</a:t>
            </a:r>
          </a:p>
          <a:p>
            <a:r>
              <a:rPr lang="pt-BR" sz="1600" dirty="0"/>
              <a:t>r1    False</a:t>
            </a:r>
          </a:p>
          <a:p>
            <a:r>
              <a:rPr lang="pt-BR" sz="1600" dirty="0"/>
              <a:t>r2     True</a:t>
            </a:r>
          </a:p>
          <a:p>
            <a:r>
              <a:rPr lang="pt-BR" sz="1600" dirty="0"/>
              <a:t>r3     True</a:t>
            </a:r>
          </a:p>
          <a:p>
            <a:r>
              <a:rPr lang="pt-BR" sz="1600" dirty="0"/>
              <a:t>Name: c1, dtype: bool</a:t>
            </a:r>
            <a:endParaRPr lang="en-US" sz="1600" dirty="0"/>
          </a:p>
          <a:p>
            <a:r>
              <a:rPr lang="en-US" sz="1600" dirty="0">
                <a:solidFill>
                  <a:srgbClr val="000080"/>
                </a:solidFill>
              </a:rPr>
              <a:t> </a:t>
            </a:r>
            <a:endParaRPr lang="en-US" sz="1600" dirty="0"/>
          </a:p>
        </p:txBody>
      </p:sp>
      <p:sp>
        <p:nvSpPr>
          <p:cNvPr id="8" name="Rectangle 7"/>
          <p:cNvSpPr/>
          <p:nvPr/>
        </p:nvSpPr>
        <p:spPr>
          <a:xfrm>
            <a:off x="1931845" y="4644826"/>
            <a:ext cx="2766323" cy="1569660"/>
          </a:xfrm>
          <a:prstGeom prst="rect">
            <a:avLst/>
          </a:prstGeom>
        </p:spPr>
        <p:txBody>
          <a:bodyPr wrap="square">
            <a:spAutoFit/>
          </a:bodyPr>
          <a:lstStyle/>
          <a:p>
            <a:r>
              <a:rPr lang="en-US" sz="1600" dirty="0">
                <a:solidFill>
                  <a:srgbClr val="000080"/>
                </a:solidFill>
              </a:rPr>
              <a:t>frame[frame&lt;3] = 3</a:t>
            </a:r>
          </a:p>
          <a:p>
            <a:r>
              <a:rPr lang="en-US" sz="1600" dirty="0">
                <a:solidFill>
                  <a:srgbClr val="000080"/>
                </a:solidFill>
              </a:rPr>
              <a:t>print(frame)</a:t>
            </a:r>
          </a:p>
          <a:p>
            <a:r>
              <a:rPr lang="pt-BR" sz="1600" dirty="0"/>
              <a:t>    c1  c2  c3</a:t>
            </a:r>
          </a:p>
          <a:p>
            <a:r>
              <a:rPr lang="pt-BR" sz="1600" dirty="0"/>
              <a:t>r1   3   3   3</a:t>
            </a:r>
          </a:p>
          <a:p>
            <a:r>
              <a:rPr lang="pt-BR" sz="1600" dirty="0"/>
              <a:t>r2   3   4   5</a:t>
            </a:r>
          </a:p>
          <a:p>
            <a:r>
              <a:rPr lang="pt-BR" sz="1600" dirty="0"/>
              <a:t>r3   6   7   8</a:t>
            </a:r>
            <a:endParaRPr lang="en-US" sz="1600" dirty="0"/>
          </a:p>
        </p:txBody>
      </p:sp>
    </p:spTree>
    <p:extLst>
      <p:ext uri="{BB962C8B-B14F-4D97-AF65-F5344CB8AC3E}">
        <p14:creationId xmlns:p14="http://schemas.microsoft.com/office/powerpoint/2010/main" val="26706259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6</a:t>
            </a:r>
          </a:p>
        </p:txBody>
      </p:sp>
      <p:sp>
        <p:nvSpPr>
          <p:cNvPr id="3" name="Content Placeholder 2"/>
          <p:cNvSpPr>
            <a:spLocks noGrp="1"/>
          </p:cNvSpPr>
          <p:nvPr>
            <p:ph idx="1"/>
          </p:nvPr>
        </p:nvSpPr>
        <p:spPr>
          <a:xfrm>
            <a:off x="2041555" y="1607274"/>
            <a:ext cx="7886700" cy="4999714"/>
          </a:xfrm>
        </p:spPr>
        <p:txBody>
          <a:bodyPr>
            <a:normAutofit/>
          </a:bodyPr>
          <a:lstStyle/>
          <a:p>
            <a:r>
              <a:rPr lang="en-US" dirty="0"/>
              <a:t>Create a </a:t>
            </a:r>
            <a:r>
              <a:rPr lang="en-US" dirty="0" err="1"/>
              <a:t>numpy</a:t>
            </a:r>
            <a:r>
              <a:rPr lang="en-US" dirty="0"/>
              <a:t> array of the shape (3,5): 3 rows and 5 columns  with random values from 1 to 100 </a:t>
            </a:r>
          </a:p>
          <a:p>
            <a:pPr lvl="1"/>
            <a:r>
              <a:rPr lang="en-US" dirty="0"/>
              <a:t>Use </a:t>
            </a:r>
            <a:r>
              <a:rPr lang="en-US" dirty="0" err="1"/>
              <a:t>np.random.randint</a:t>
            </a:r>
            <a:r>
              <a:rPr lang="en-US" dirty="0"/>
              <a:t>(</a:t>
            </a:r>
            <a:r>
              <a:rPr lang="en-US" dirty="0" err="1"/>
              <a:t>low,high</a:t>
            </a:r>
            <a:r>
              <a:rPr lang="en-US" dirty="0"/>
              <a:t>, (shape)) </a:t>
            </a:r>
          </a:p>
          <a:p>
            <a:r>
              <a:rPr lang="en-US" dirty="0"/>
              <a:t>Use the </a:t>
            </a:r>
            <a:r>
              <a:rPr lang="en-US" dirty="0" err="1"/>
              <a:t>numpy</a:t>
            </a:r>
            <a:r>
              <a:rPr lang="en-US" dirty="0"/>
              <a:t> array to generate a Data Frame with index = </a:t>
            </a:r>
            <a:r>
              <a:rPr lang="en-US" dirty="0" err="1"/>
              <a:t>a,b,c</a:t>
            </a:r>
            <a:r>
              <a:rPr lang="en-US" dirty="0"/>
              <a:t> and columns 1,2,3,4, 5</a:t>
            </a:r>
          </a:p>
          <a:p>
            <a:r>
              <a:rPr lang="en-US" dirty="0"/>
              <a:t>Transpose (using .T) the </a:t>
            </a:r>
            <a:r>
              <a:rPr lang="en-US" dirty="0" err="1"/>
              <a:t>DataFrame</a:t>
            </a:r>
            <a:r>
              <a:rPr lang="en-US" dirty="0"/>
              <a:t> and change the values less than 40 to 0 in the Data Frame. </a:t>
            </a:r>
          </a:p>
        </p:txBody>
      </p:sp>
    </p:spTree>
    <p:extLst>
      <p:ext uri="{BB962C8B-B14F-4D97-AF65-F5344CB8AC3E}">
        <p14:creationId xmlns:p14="http://schemas.microsoft.com/office/powerpoint/2010/main" val="34366939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Removing rows/columns</a:t>
            </a:r>
          </a:p>
        </p:txBody>
      </p:sp>
      <p:sp>
        <p:nvSpPr>
          <p:cNvPr id="4" name="Rectangle 3"/>
          <p:cNvSpPr/>
          <p:nvPr/>
        </p:nvSpPr>
        <p:spPr>
          <a:xfrm>
            <a:off x="3785508" y="1555037"/>
            <a:ext cx="3784730" cy="5016758"/>
          </a:xfrm>
          <a:prstGeom prst="rect">
            <a:avLst/>
          </a:prstGeom>
        </p:spPr>
        <p:txBody>
          <a:bodyPr wrap="square">
            <a:spAutoFit/>
          </a:bodyPr>
          <a:lstStyle/>
          <a:p>
            <a:r>
              <a:rPr lang="pt-BR" sz="1600" dirty="0">
                <a:solidFill>
                  <a:srgbClr val="000080"/>
                </a:solidFill>
              </a:rPr>
              <a:t>print(frame)</a:t>
            </a:r>
          </a:p>
          <a:p>
            <a:r>
              <a:rPr lang="pt-BR" sz="1600" dirty="0"/>
              <a:t>     c1  c2  c3</a:t>
            </a:r>
          </a:p>
          <a:p>
            <a:r>
              <a:rPr lang="pt-BR" sz="1600" dirty="0"/>
              <a:t>r1   0   1   2</a:t>
            </a:r>
          </a:p>
          <a:p>
            <a:r>
              <a:rPr lang="pt-BR" sz="1600" dirty="0"/>
              <a:t>r2   3   4   5</a:t>
            </a:r>
          </a:p>
          <a:p>
            <a:r>
              <a:rPr lang="pt-BR" sz="1600" dirty="0"/>
              <a:t>r3   6   7   8</a:t>
            </a:r>
          </a:p>
          <a:p>
            <a:endParaRPr lang="pt-BR" sz="1600" dirty="0">
              <a:solidFill>
                <a:srgbClr val="000080"/>
              </a:solidFill>
            </a:endParaRPr>
          </a:p>
          <a:p>
            <a:r>
              <a:rPr lang="pt-BR" sz="1600" dirty="0">
                <a:solidFill>
                  <a:srgbClr val="000080"/>
                </a:solidFill>
              </a:rPr>
              <a:t>print(frame.drop(['r1']))</a:t>
            </a:r>
          </a:p>
          <a:p>
            <a:r>
              <a:rPr lang="pt-BR" sz="1600" dirty="0">
                <a:solidFill>
                  <a:srgbClr val="000080"/>
                </a:solidFill>
              </a:rPr>
              <a:t>     </a:t>
            </a:r>
            <a:r>
              <a:rPr lang="pt-BR" sz="1600" dirty="0"/>
              <a:t>c1  c2  c3</a:t>
            </a:r>
          </a:p>
          <a:p>
            <a:r>
              <a:rPr lang="pt-BR" sz="1600" dirty="0"/>
              <a:t>r2   3   4   5</a:t>
            </a:r>
          </a:p>
          <a:p>
            <a:r>
              <a:rPr lang="pt-BR" sz="1600" dirty="0"/>
              <a:t>r3   6   7   8</a:t>
            </a:r>
          </a:p>
          <a:p>
            <a:endParaRPr lang="pt-BR" sz="1600" dirty="0">
              <a:solidFill>
                <a:srgbClr val="000080"/>
              </a:solidFill>
            </a:endParaRPr>
          </a:p>
          <a:p>
            <a:r>
              <a:rPr lang="pt-BR" sz="1600" dirty="0">
                <a:solidFill>
                  <a:srgbClr val="000080"/>
                </a:solidFill>
              </a:rPr>
              <a:t>print(frame.drop(['r1','r3']))</a:t>
            </a:r>
          </a:p>
          <a:p>
            <a:r>
              <a:rPr lang="pt-BR" sz="1600" dirty="0">
                <a:solidFill>
                  <a:srgbClr val="000080"/>
                </a:solidFill>
              </a:rPr>
              <a:t>     </a:t>
            </a:r>
            <a:r>
              <a:rPr lang="pt-BR" sz="1600" dirty="0"/>
              <a:t>c1  c2  c3</a:t>
            </a:r>
          </a:p>
          <a:p>
            <a:r>
              <a:rPr lang="pt-BR" sz="1600" dirty="0"/>
              <a:t>r2   3   4   5</a:t>
            </a:r>
          </a:p>
          <a:p>
            <a:endParaRPr lang="pt-BR" sz="1600" dirty="0">
              <a:solidFill>
                <a:srgbClr val="000080"/>
              </a:solidFill>
            </a:endParaRPr>
          </a:p>
          <a:p>
            <a:r>
              <a:rPr lang="pt-BR" sz="1600" dirty="0">
                <a:solidFill>
                  <a:srgbClr val="000080"/>
                </a:solidFill>
              </a:rPr>
              <a:t>print(frame.drop(['c1'], axis=1))</a:t>
            </a:r>
          </a:p>
          <a:p>
            <a:r>
              <a:rPr lang="pt-BR" sz="1600" dirty="0"/>
              <a:t>     c2  c3</a:t>
            </a:r>
          </a:p>
          <a:p>
            <a:r>
              <a:rPr lang="pt-BR" sz="1600" dirty="0"/>
              <a:t>r1   1   2</a:t>
            </a:r>
          </a:p>
          <a:p>
            <a:r>
              <a:rPr lang="pt-BR" sz="1600" dirty="0"/>
              <a:t>r2   4   5</a:t>
            </a:r>
          </a:p>
          <a:p>
            <a:r>
              <a:rPr lang="pt-BR" sz="1600" dirty="0"/>
              <a:t>r3   7   8</a:t>
            </a:r>
          </a:p>
        </p:txBody>
      </p:sp>
      <p:sp>
        <p:nvSpPr>
          <p:cNvPr id="7" name="TextBox 6"/>
          <p:cNvSpPr txBox="1"/>
          <p:nvPr/>
        </p:nvSpPr>
        <p:spPr>
          <a:xfrm>
            <a:off x="6262692" y="2964173"/>
            <a:ext cx="2817181" cy="400110"/>
          </a:xfrm>
          <a:prstGeom prst="rect">
            <a:avLst/>
          </a:prstGeom>
          <a:noFill/>
        </p:spPr>
        <p:txBody>
          <a:bodyPr wrap="none" rtlCol="0">
            <a:spAutoFit/>
          </a:bodyPr>
          <a:lstStyle/>
          <a:p>
            <a:r>
              <a:rPr lang="en-US" sz="2000" dirty="0"/>
              <a:t>This returns a new object</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6131" y="4897926"/>
            <a:ext cx="3077329" cy="1609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20841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Reindexing</a:t>
            </a:r>
            <a:endParaRPr lang="en-US" dirty="0"/>
          </a:p>
        </p:txBody>
      </p:sp>
      <p:sp>
        <p:nvSpPr>
          <p:cNvPr id="3" name="Content Placeholder 2"/>
          <p:cNvSpPr>
            <a:spLocks noGrp="1"/>
          </p:cNvSpPr>
          <p:nvPr>
            <p:ph idx="1"/>
          </p:nvPr>
        </p:nvSpPr>
        <p:spPr/>
        <p:txBody>
          <a:bodyPr/>
          <a:lstStyle/>
          <a:p>
            <a:r>
              <a:rPr lang="en-US" dirty="0"/>
              <a:t>Alter the order of rows/columns of a </a:t>
            </a:r>
            <a:r>
              <a:rPr lang="en-US" dirty="0" err="1"/>
              <a:t>DataFrame</a:t>
            </a:r>
            <a:r>
              <a:rPr lang="en-US" dirty="0"/>
              <a:t> or order of a series according to new index</a:t>
            </a:r>
          </a:p>
        </p:txBody>
      </p:sp>
      <p:sp>
        <p:nvSpPr>
          <p:cNvPr id="4" name="Rectangle 3"/>
          <p:cNvSpPr/>
          <p:nvPr/>
        </p:nvSpPr>
        <p:spPr>
          <a:xfrm>
            <a:off x="2305335" y="2646363"/>
            <a:ext cx="7942787" cy="3785652"/>
          </a:xfrm>
          <a:prstGeom prst="rect">
            <a:avLst/>
          </a:prstGeom>
        </p:spPr>
        <p:txBody>
          <a:bodyPr wrap="square">
            <a:spAutoFit/>
          </a:bodyPr>
          <a:lstStyle/>
          <a:p>
            <a:r>
              <a:rPr lang="pt-BR" sz="1600" dirty="0">
                <a:solidFill>
                  <a:srgbClr val="000080"/>
                </a:solidFill>
              </a:rPr>
              <a:t>frame2 = frame.reindex(columns=['c2', 'c3', 'c1'])</a:t>
            </a:r>
          </a:p>
          <a:p>
            <a:endParaRPr lang="pt-BR" sz="1600" dirty="0">
              <a:solidFill>
                <a:srgbClr val="000080"/>
              </a:solidFill>
            </a:endParaRPr>
          </a:p>
          <a:p>
            <a:r>
              <a:rPr lang="pt-BR" sz="1600" dirty="0">
                <a:solidFill>
                  <a:srgbClr val="000080"/>
                </a:solidFill>
              </a:rPr>
              <a:t>print(frame2) </a:t>
            </a:r>
          </a:p>
          <a:p>
            <a:r>
              <a:rPr lang="pt-BR" sz="1600" dirty="0"/>
              <a:t>     c2  c3  c1</a:t>
            </a:r>
          </a:p>
          <a:p>
            <a:r>
              <a:rPr lang="pt-BR" sz="1600" dirty="0"/>
              <a:t>r1   1   2   0</a:t>
            </a:r>
          </a:p>
          <a:p>
            <a:r>
              <a:rPr lang="pt-BR" sz="1600" dirty="0"/>
              <a:t>r2   4   5   3</a:t>
            </a:r>
          </a:p>
          <a:p>
            <a:r>
              <a:rPr lang="pt-BR" sz="1600" dirty="0"/>
              <a:t>r3   7   8   6</a:t>
            </a:r>
          </a:p>
          <a:p>
            <a:endParaRPr lang="pt-BR" sz="1600" dirty="0"/>
          </a:p>
          <a:p>
            <a:r>
              <a:rPr lang="pt-BR" sz="1600" dirty="0">
                <a:solidFill>
                  <a:srgbClr val="000080"/>
                </a:solidFill>
              </a:rPr>
              <a:t>frame2 = frame.reindex(['r1', 'r3', 'r2', 'r4'])</a:t>
            </a:r>
            <a:r>
              <a:rPr lang="pt-BR" sz="1600" dirty="0"/>
              <a:t>     </a:t>
            </a:r>
          </a:p>
          <a:p>
            <a:r>
              <a:rPr lang="pt-BR" sz="1600" dirty="0"/>
              <a:t>     c1 c2 c3</a:t>
            </a:r>
          </a:p>
          <a:p>
            <a:r>
              <a:rPr lang="pt-BR" sz="1600" dirty="0"/>
              <a:t>r1 0.0 1.0 2.0</a:t>
            </a:r>
          </a:p>
          <a:p>
            <a:r>
              <a:rPr lang="pt-BR" sz="1600" dirty="0"/>
              <a:t>r3 6.0 7.0 8.0</a:t>
            </a:r>
          </a:p>
          <a:p>
            <a:r>
              <a:rPr lang="pt-BR" sz="1600" dirty="0"/>
              <a:t>r2 3.0 4.0 5.0</a:t>
            </a:r>
          </a:p>
          <a:p>
            <a:r>
              <a:rPr lang="pt-BR" sz="1600" dirty="0"/>
              <a:t>r4 NaN NaN NaN</a:t>
            </a:r>
          </a:p>
          <a:p>
            <a:endParaRPr lang="en-US" sz="1600" dirty="0"/>
          </a:p>
        </p:txBody>
      </p:sp>
      <p:sp>
        <p:nvSpPr>
          <p:cNvPr id="7" name="TextBox 6"/>
          <p:cNvSpPr txBox="1"/>
          <p:nvPr/>
        </p:nvSpPr>
        <p:spPr>
          <a:xfrm>
            <a:off x="5077703" y="3164228"/>
            <a:ext cx="2932598" cy="400110"/>
          </a:xfrm>
          <a:prstGeom prst="rect">
            <a:avLst/>
          </a:prstGeom>
          <a:noFill/>
        </p:spPr>
        <p:txBody>
          <a:bodyPr wrap="none" rtlCol="0">
            <a:spAutoFit/>
          </a:bodyPr>
          <a:lstStyle/>
          <a:p>
            <a:r>
              <a:rPr lang="en-US" sz="2000" dirty="0"/>
              <a:t>This returns a new object  </a:t>
            </a:r>
          </a:p>
        </p:txBody>
      </p:sp>
    </p:spTree>
    <p:extLst>
      <p:ext uri="{BB962C8B-B14F-4D97-AF65-F5344CB8AC3E}">
        <p14:creationId xmlns:p14="http://schemas.microsoft.com/office/powerpoint/2010/main" val="32662219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application and mapping</a:t>
            </a:r>
          </a:p>
        </p:txBody>
      </p:sp>
      <p:sp>
        <p:nvSpPr>
          <p:cNvPr id="3" name="Content Placeholder 2"/>
          <p:cNvSpPr>
            <a:spLocks noGrp="1"/>
          </p:cNvSpPr>
          <p:nvPr>
            <p:ph idx="1"/>
          </p:nvPr>
        </p:nvSpPr>
        <p:spPr>
          <a:xfrm>
            <a:off x="2003360" y="1540660"/>
            <a:ext cx="8450036" cy="903960"/>
          </a:xfrm>
        </p:spPr>
        <p:txBody>
          <a:bodyPr/>
          <a:lstStyle/>
          <a:p>
            <a:r>
              <a:rPr lang="en-US" dirty="0" err="1"/>
              <a:t>DataFrame.applymap</a:t>
            </a:r>
            <a:r>
              <a:rPr lang="en-US" dirty="0"/>
              <a:t>(f) applies f to every entry</a:t>
            </a:r>
          </a:p>
          <a:p>
            <a:r>
              <a:rPr lang="en-US" dirty="0" err="1"/>
              <a:t>DataFrame.apply</a:t>
            </a:r>
            <a:r>
              <a:rPr lang="en-US" dirty="0"/>
              <a:t>(f) applies f to every column (default) or row</a:t>
            </a:r>
          </a:p>
        </p:txBody>
      </p:sp>
      <p:sp>
        <p:nvSpPr>
          <p:cNvPr id="5" name="Rectangle 4"/>
          <p:cNvSpPr/>
          <p:nvPr/>
        </p:nvSpPr>
        <p:spPr>
          <a:xfrm>
            <a:off x="5881396" y="2563464"/>
            <a:ext cx="4572000" cy="3693319"/>
          </a:xfrm>
          <a:prstGeom prst="rect">
            <a:avLst/>
          </a:prstGeom>
        </p:spPr>
        <p:txBody>
          <a:bodyPr wrap="square">
            <a:spAutoFit/>
          </a:bodyPr>
          <a:lstStyle/>
          <a:p>
            <a:r>
              <a:rPr lang="en-US" dirty="0" err="1">
                <a:solidFill>
                  <a:srgbClr val="000080"/>
                </a:solidFill>
              </a:rPr>
              <a:t>def</a:t>
            </a:r>
            <a:r>
              <a:rPr lang="en-US" dirty="0">
                <a:solidFill>
                  <a:srgbClr val="000080"/>
                </a:solidFill>
              </a:rPr>
              <a:t> </a:t>
            </a:r>
            <a:r>
              <a:rPr lang="en-US" dirty="0" err="1">
                <a:solidFill>
                  <a:srgbClr val="000080"/>
                </a:solidFill>
              </a:rPr>
              <a:t>max_minus_min</a:t>
            </a:r>
            <a:r>
              <a:rPr lang="en-US" dirty="0">
                <a:solidFill>
                  <a:srgbClr val="000080"/>
                </a:solidFill>
              </a:rPr>
              <a:t>(x): </a:t>
            </a:r>
          </a:p>
          <a:p>
            <a:r>
              <a:rPr lang="en-US" dirty="0">
                <a:solidFill>
                  <a:srgbClr val="000080"/>
                </a:solidFill>
              </a:rPr>
              <a:t>    return max(x)-min(x)</a:t>
            </a:r>
          </a:p>
          <a:p>
            <a:r>
              <a:rPr lang="en-US" dirty="0">
                <a:solidFill>
                  <a:srgbClr val="000080"/>
                </a:solidFill>
              </a:rPr>
              <a:t>print(</a:t>
            </a:r>
            <a:r>
              <a:rPr lang="en-US" dirty="0" err="1">
                <a:solidFill>
                  <a:srgbClr val="000080"/>
                </a:solidFill>
              </a:rPr>
              <a:t>frame.apply</a:t>
            </a:r>
            <a:r>
              <a:rPr lang="en-US" dirty="0">
                <a:solidFill>
                  <a:srgbClr val="000080"/>
                </a:solidFill>
              </a:rPr>
              <a:t>(</a:t>
            </a:r>
            <a:r>
              <a:rPr lang="en-US" dirty="0" err="1">
                <a:solidFill>
                  <a:srgbClr val="000080"/>
                </a:solidFill>
              </a:rPr>
              <a:t>max_minus_min</a:t>
            </a:r>
            <a:r>
              <a:rPr lang="en-US" dirty="0">
                <a:solidFill>
                  <a:srgbClr val="000080"/>
                </a:solidFill>
              </a:rPr>
              <a:t>))</a:t>
            </a:r>
          </a:p>
          <a:p>
            <a:r>
              <a:rPr lang="en-US" dirty="0"/>
              <a:t>c1    6</a:t>
            </a:r>
          </a:p>
          <a:p>
            <a:r>
              <a:rPr lang="en-US" dirty="0"/>
              <a:t>c2    6</a:t>
            </a:r>
          </a:p>
          <a:p>
            <a:r>
              <a:rPr lang="en-US" dirty="0"/>
              <a:t>c3    6</a:t>
            </a:r>
          </a:p>
          <a:p>
            <a:r>
              <a:rPr lang="en-US" dirty="0" err="1"/>
              <a:t>dtype</a:t>
            </a:r>
            <a:r>
              <a:rPr lang="en-US" dirty="0"/>
              <a:t>: int64</a:t>
            </a:r>
          </a:p>
          <a:p>
            <a:endParaRPr lang="en-US" dirty="0"/>
          </a:p>
          <a:p>
            <a:r>
              <a:rPr lang="en-US" dirty="0">
                <a:solidFill>
                  <a:srgbClr val="000080"/>
                </a:solidFill>
              </a:rPr>
              <a:t>print(</a:t>
            </a:r>
            <a:r>
              <a:rPr lang="en-US" dirty="0" err="1">
                <a:solidFill>
                  <a:srgbClr val="000080"/>
                </a:solidFill>
              </a:rPr>
              <a:t>frame.apply</a:t>
            </a:r>
            <a:r>
              <a:rPr lang="en-US" dirty="0">
                <a:solidFill>
                  <a:srgbClr val="000080"/>
                </a:solidFill>
              </a:rPr>
              <a:t>(</a:t>
            </a:r>
            <a:r>
              <a:rPr lang="en-US" dirty="0" err="1">
                <a:solidFill>
                  <a:srgbClr val="000080"/>
                </a:solidFill>
              </a:rPr>
              <a:t>max_minus_min,axis</a:t>
            </a:r>
            <a:r>
              <a:rPr lang="en-US" dirty="0">
                <a:solidFill>
                  <a:srgbClr val="000080"/>
                </a:solidFill>
              </a:rPr>
              <a:t>=1))</a:t>
            </a:r>
            <a:endParaRPr lang="en-US" dirty="0"/>
          </a:p>
          <a:p>
            <a:r>
              <a:rPr lang="pt-BR" dirty="0"/>
              <a:t>r1    2</a:t>
            </a:r>
          </a:p>
          <a:p>
            <a:r>
              <a:rPr lang="pt-BR" dirty="0"/>
              <a:t>r2    2</a:t>
            </a:r>
          </a:p>
          <a:p>
            <a:r>
              <a:rPr lang="pt-BR" dirty="0"/>
              <a:t>r3    2</a:t>
            </a:r>
          </a:p>
          <a:p>
            <a:r>
              <a:rPr lang="pt-BR" dirty="0"/>
              <a:t>dtype: int64</a:t>
            </a:r>
            <a:endParaRPr lang="en-US" dirty="0"/>
          </a:p>
        </p:txBody>
      </p:sp>
      <p:sp>
        <p:nvSpPr>
          <p:cNvPr id="7" name="Rectangle 6"/>
          <p:cNvSpPr/>
          <p:nvPr/>
        </p:nvSpPr>
        <p:spPr>
          <a:xfrm>
            <a:off x="2152650" y="2563464"/>
            <a:ext cx="5187688" cy="3693319"/>
          </a:xfrm>
          <a:prstGeom prst="rect">
            <a:avLst/>
          </a:prstGeom>
        </p:spPr>
        <p:txBody>
          <a:bodyPr wrap="square">
            <a:spAutoFit/>
          </a:bodyPr>
          <a:lstStyle/>
          <a:p>
            <a:r>
              <a:rPr lang="pt-BR" dirty="0">
                <a:solidFill>
                  <a:srgbClr val="000080"/>
                </a:solidFill>
              </a:rPr>
              <a:t>print(frame) </a:t>
            </a:r>
            <a:endParaRPr lang="pt-BR" dirty="0"/>
          </a:p>
          <a:p>
            <a:r>
              <a:rPr lang="pt-BR" dirty="0"/>
              <a:t>      c1  c2  c3</a:t>
            </a:r>
          </a:p>
          <a:p>
            <a:r>
              <a:rPr lang="pt-BR" dirty="0"/>
              <a:t>r1   0   1   2</a:t>
            </a:r>
          </a:p>
          <a:p>
            <a:r>
              <a:rPr lang="pt-BR" dirty="0"/>
              <a:t>r2   3   4   5</a:t>
            </a:r>
          </a:p>
          <a:p>
            <a:r>
              <a:rPr lang="pt-BR" dirty="0"/>
              <a:t>r3   6   7   8</a:t>
            </a:r>
          </a:p>
          <a:p>
            <a:endParaRPr lang="pt-BR" dirty="0"/>
          </a:p>
          <a:p>
            <a:r>
              <a:rPr lang="en-US" dirty="0" err="1">
                <a:solidFill>
                  <a:srgbClr val="4141A0"/>
                </a:solidFill>
              </a:rPr>
              <a:t>def</a:t>
            </a:r>
            <a:r>
              <a:rPr lang="en-US" dirty="0">
                <a:solidFill>
                  <a:srgbClr val="4141A0"/>
                </a:solidFill>
              </a:rPr>
              <a:t> square(x): </a:t>
            </a:r>
          </a:p>
          <a:p>
            <a:r>
              <a:rPr lang="en-US" dirty="0">
                <a:solidFill>
                  <a:srgbClr val="4141A0"/>
                </a:solidFill>
              </a:rPr>
              <a:t>    return x**2</a:t>
            </a:r>
          </a:p>
          <a:p>
            <a:r>
              <a:rPr lang="en-US" dirty="0">
                <a:solidFill>
                  <a:srgbClr val="4141A0"/>
                </a:solidFill>
              </a:rPr>
              <a:t>print(</a:t>
            </a:r>
            <a:r>
              <a:rPr lang="en-US" dirty="0" err="1">
                <a:solidFill>
                  <a:srgbClr val="4141A0"/>
                </a:solidFill>
              </a:rPr>
              <a:t>frame.applymap</a:t>
            </a:r>
            <a:r>
              <a:rPr lang="en-US" dirty="0">
                <a:solidFill>
                  <a:srgbClr val="4141A0"/>
                </a:solidFill>
              </a:rPr>
              <a:t>(square))</a:t>
            </a:r>
          </a:p>
          <a:p>
            <a:r>
              <a:rPr lang="pt-BR" dirty="0"/>
              <a:t>      c1  c2  c3</a:t>
            </a:r>
          </a:p>
          <a:p>
            <a:r>
              <a:rPr lang="pt-BR" dirty="0"/>
              <a:t>r1   0   1   4</a:t>
            </a:r>
          </a:p>
          <a:p>
            <a:r>
              <a:rPr lang="pt-BR" dirty="0"/>
              <a:t>r2   9  16  25</a:t>
            </a:r>
          </a:p>
          <a:p>
            <a:r>
              <a:rPr lang="pt-BR" dirty="0"/>
              <a:t>r3  36  49  64</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7321" y="5211577"/>
            <a:ext cx="2477621" cy="12958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44936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application and mapping - 2</a:t>
            </a:r>
          </a:p>
        </p:txBody>
      </p:sp>
      <p:sp>
        <p:nvSpPr>
          <p:cNvPr id="4" name="Rectangle 3"/>
          <p:cNvSpPr/>
          <p:nvPr/>
        </p:nvSpPr>
        <p:spPr>
          <a:xfrm>
            <a:off x="2152650" y="1690689"/>
            <a:ext cx="6313326" cy="2308324"/>
          </a:xfrm>
          <a:prstGeom prst="rect">
            <a:avLst/>
          </a:prstGeom>
        </p:spPr>
        <p:txBody>
          <a:bodyPr wrap="square">
            <a:spAutoFit/>
          </a:bodyPr>
          <a:lstStyle/>
          <a:p>
            <a:r>
              <a:rPr lang="en-US" dirty="0" err="1">
                <a:solidFill>
                  <a:srgbClr val="000080"/>
                </a:solidFill>
              </a:rPr>
              <a:t>def</a:t>
            </a:r>
            <a:r>
              <a:rPr lang="en-US" dirty="0">
                <a:solidFill>
                  <a:srgbClr val="000080"/>
                </a:solidFill>
              </a:rPr>
              <a:t> </a:t>
            </a:r>
            <a:r>
              <a:rPr lang="en-US" dirty="0" err="1">
                <a:solidFill>
                  <a:srgbClr val="000080"/>
                </a:solidFill>
              </a:rPr>
              <a:t>max_min</a:t>
            </a:r>
            <a:r>
              <a:rPr lang="en-US" dirty="0">
                <a:solidFill>
                  <a:srgbClr val="000080"/>
                </a:solidFill>
              </a:rPr>
              <a:t>(x): </a:t>
            </a:r>
          </a:p>
          <a:p>
            <a:r>
              <a:rPr lang="en-US" dirty="0">
                <a:solidFill>
                  <a:srgbClr val="000080"/>
                </a:solidFill>
              </a:rPr>
              <a:t>    return Series([max(x), min(x)], index=['max', 'min'])</a:t>
            </a:r>
          </a:p>
          <a:p>
            <a:endParaRPr lang="en-US" dirty="0">
              <a:solidFill>
                <a:srgbClr val="000080"/>
              </a:solidFill>
            </a:endParaRPr>
          </a:p>
          <a:p>
            <a:r>
              <a:rPr lang="en-US" dirty="0">
                <a:solidFill>
                  <a:srgbClr val="000080"/>
                </a:solidFill>
              </a:rPr>
              <a:t>print(</a:t>
            </a:r>
            <a:r>
              <a:rPr lang="en-US" dirty="0" err="1">
                <a:solidFill>
                  <a:srgbClr val="000080"/>
                </a:solidFill>
              </a:rPr>
              <a:t>frame.apply</a:t>
            </a:r>
            <a:r>
              <a:rPr lang="en-US" dirty="0">
                <a:solidFill>
                  <a:srgbClr val="000080"/>
                </a:solidFill>
              </a:rPr>
              <a:t>(</a:t>
            </a:r>
            <a:r>
              <a:rPr lang="en-US" dirty="0" err="1">
                <a:solidFill>
                  <a:srgbClr val="000080"/>
                </a:solidFill>
              </a:rPr>
              <a:t>max_min</a:t>
            </a:r>
            <a:r>
              <a:rPr lang="en-US" dirty="0">
                <a:solidFill>
                  <a:srgbClr val="000080"/>
                </a:solidFill>
              </a:rPr>
              <a:t>))</a:t>
            </a:r>
          </a:p>
          <a:p>
            <a:endParaRPr lang="en-US" dirty="0">
              <a:solidFill>
                <a:srgbClr val="000080"/>
              </a:solidFill>
            </a:endParaRPr>
          </a:p>
          <a:p>
            <a:r>
              <a:rPr lang="en-US" dirty="0"/>
              <a:t>         c1  c2  c3</a:t>
            </a:r>
          </a:p>
          <a:p>
            <a:r>
              <a:rPr lang="en-US" dirty="0"/>
              <a:t>max   6   7   8</a:t>
            </a:r>
          </a:p>
          <a:p>
            <a:r>
              <a:rPr lang="en-US" dirty="0"/>
              <a:t>min    0   1   2</a:t>
            </a:r>
          </a:p>
        </p:txBody>
      </p:sp>
    </p:spTree>
    <p:extLst>
      <p:ext uri="{BB962C8B-B14F-4D97-AF65-F5344CB8AC3E}">
        <p14:creationId xmlns:p14="http://schemas.microsoft.com/office/powerpoint/2010/main" val="31641668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t>
            </a:r>
            <a:r>
              <a:rPr lang="en-US" dirty="0" err="1"/>
              <a:t>DataFrame</a:t>
            </a:r>
            <a:r>
              <a:rPr lang="en-US" dirty="0"/>
              <a:t> functions</a:t>
            </a:r>
          </a:p>
        </p:txBody>
      </p:sp>
      <p:sp>
        <p:nvSpPr>
          <p:cNvPr id="3" name="Content Placeholder 2"/>
          <p:cNvSpPr>
            <a:spLocks noGrp="1"/>
          </p:cNvSpPr>
          <p:nvPr>
            <p:ph idx="1"/>
          </p:nvPr>
        </p:nvSpPr>
        <p:spPr>
          <a:xfrm>
            <a:off x="2152651" y="1573693"/>
            <a:ext cx="3038889" cy="533122"/>
          </a:xfrm>
        </p:spPr>
        <p:txBody>
          <a:bodyPr/>
          <a:lstStyle/>
          <a:p>
            <a:r>
              <a:rPr lang="en-US" dirty="0" err="1"/>
              <a:t>sort_index</a:t>
            </a:r>
            <a:r>
              <a:rPr lang="en-US" dirty="0"/>
              <a:t>()</a:t>
            </a:r>
          </a:p>
        </p:txBody>
      </p:sp>
      <p:sp>
        <p:nvSpPr>
          <p:cNvPr id="4" name="Rectangle 3"/>
          <p:cNvSpPr/>
          <p:nvPr/>
        </p:nvSpPr>
        <p:spPr>
          <a:xfrm>
            <a:off x="1856176" y="1957251"/>
            <a:ext cx="3004457" cy="4770537"/>
          </a:xfrm>
          <a:prstGeom prst="rect">
            <a:avLst/>
          </a:prstGeom>
        </p:spPr>
        <p:txBody>
          <a:bodyPr wrap="square">
            <a:spAutoFit/>
          </a:bodyPr>
          <a:lstStyle/>
          <a:p>
            <a:r>
              <a:rPr lang="en-US" sz="1600" dirty="0" err="1">
                <a:solidFill>
                  <a:srgbClr val="000080"/>
                </a:solidFill>
              </a:rPr>
              <a:t>frame.index</a:t>
            </a:r>
            <a:r>
              <a:rPr lang="en-US" sz="1600" dirty="0">
                <a:solidFill>
                  <a:srgbClr val="000080"/>
                </a:solidFill>
              </a:rPr>
              <a:t>=['A', 'C', 'B']; </a:t>
            </a:r>
            <a:r>
              <a:rPr lang="en-US" sz="1600" dirty="0" err="1">
                <a:solidFill>
                  <a:srgbClr val="000080"/>
                </a:solidFill>
              </a:rPr>
              <a:t>frame.columns</a:t>
            </a:r>
            <a:r>
              <a:rPr lang="en-US" sz="1600" dirty="0">
                <a:solidFill>
                  <a:srgbClr val="000080"/>
                </a:solidFill>
              </a:rPr>
              <a:t>=['</a:t>
            </a:r>
            <a:r>
              <a:rPr lang="en-US" sz="1600" dirty="0" err="1">
                <a:solidFill>
                  <a:srgbClr val="000080"/>
                </a:solidFill>
              </a:rPr>
              <a:t>b','a','c</a:t>
            </a:r>
            <a:r>
              <a:rPr lang="en-US" sz="1600" dirty="0">
                <a:solidFill>
                  <a:srgbClr val="000080"/>
                </a:solidFill>
              </a:rPr>
              <a:t>'];</a:t>
            </a:r>
          </a:p>
          <a:p>
            <a:r>
              <a:rPr lang="en-US" sz="1600" dirty="0">
                <a:solidFill>
                  <a:srgbClr val="000080"/>
                </a:solidFill>
              </a:rPr>
              <a:t>print(frame) </a:t>
            </a:r>
          </a:p>
          <a:p>
            <a:r>
              <a:rPr lang="pt-BR" sz="1600" dirty="0"/>
              <a:t>     b  a  c</a:t>
            </a:r>
          </a:p>
          <a:p>
            <a:r>
              <a:rPr lang="pt-BR" sz="1600" dirty="0"/>
              <a:t>A  0  1  2</a:t>
            </a:r>
          </a:p>
          <a:p>
            <a:r>
              <a:rPr lang="pt-BR" sz="1600" dirty="0"/>
              <a:t>C  3  4  5</a:t>
            </a:r>
          </a:p>
          <a:p>
            <a:r>
              <a:rPr lang="pt-BR" sz="1600" dirty="0"/>
              <a:t>B  6  7  8</a:t>
            </a:r>
          </a:p>
          <a:p>
            <a:endParaRPr lang="en-US" sz="1600" dirty="0"/>
          </a:p>
          <a:p>
            <a:r>
              <a:rPr lang="en-US" sz="1600" dirty="0">
                <a:solidFill>
                  <a:srgbClr val="000080"/>
                </a:solidFill>
              </a:rPr>
              <a:t>print(</a:t>
            </a:r>
            <a:r>
              <a:rPr lang="en-US" sz="1600" dirty="0" err="1">
                <a:solidFill>
                  <a:srgbClr val="000080"/>
                </a:solidFill>
              </a:rPr>
              <a:t>frame.sort_index</a:t>
            </a:r>
            <a:r>
              <a:rPr lang="en-US" sz="1600" dirty="0">
                <a:solidFill>
                  <a:srgbClr val="000080"/>
                </a:solidFill>
              </a:rPr>
              <a:t>())</a:t>
            </a:r>
          </a:p>
          <a:p>
            <a:r>
              <a:rPr lang="pt-BR" sz="1600" dirty="0"/>
              <a:t>     b  a  c</a:t>
            </a:r>
          </a:p>
          <a:p>
            <a:r>
              <a:rPr lang="pt-BR" sz="1600" dirty="0"/>
              <a:t>A  0  1  2</a:t>
            </a:r>
          </a:p>
          <a:p>
            <a:r>
              <a:rPr lang="pt-BR" sz="1600" dirty="0"/>
              <a:t>B  6  7  8</a:t>
            </a:r>
          </a:p>
          <a:p>
            <a:r>
              <a:rPr lang="pt-BR" sz="1600" dirty="0"/>
              <a:t>C  3  4  5</a:t>
            </a:r>
          </a:p>
          <a:p>
            <a:endParaRPr lang="en-US" sz="1600" dirty="0"/>
          </a:p>
          <a:p>
            <a:r>
              <a:rPr lang="en-US" sz="1600" dirty="0">
                <a:solidFill>
                  <a:srgbClr val="000080"/>
                </a:solidFill>
              </a:rPr>
              <a:t>print(</a:t>
            </a:r>
            <a:r>
              <a:rPr lang="en-US" sz="1600" dirty="0" err="1">
                <a:solidFill>
                  <a:srgbClr val="000080"/>
                </a:solidFill>
              </a:rPr>
              <a:t>frame.sort_index</a:t>
            </a:r>
            <a:r>
              <a:rPr lang="en-US" sz="1600" dirty="0">
                <a:solidFill>
                  <a:srgbClr val="000080"/>
                </a:solidFill>
              </a:rPr>
              <a:t>(axis=1))</a:t>
            </a:r>
          </a:p>
          <a:p>
            <a:r>
              <a:rPr lang="pt-BR" sz="1600" dirty="0"/>
              <a:t>     a  b  c</a:t>
            </a:r>
          </a:p>
          <a:p>
            <a:r>
              <a:rPr lang="pt-BR" sz="1600" dirty="0"/>
              <a:t>A  1  0  2</a:t>
            </a:r>
          </a:p>
          <a:p>
            <a:r>
              <a:rPr lang="pt-BR" sz="1600" dirty="0"/>
              <a:t>C  4  3  5</a:t>
            </a:r>
          </a:p>
          <a:p>
            <a:r>
              <a:rPr lang="pt-BR" sz="1600" dirty="0"/>
              <a:t>B  7  6  8</a:t>
            </a:r>
            <a:endParaRPr lang="en-US" sz="1600" dirty="0"/>
          </a:p>
        </p:txBody>
      </p:sp>
      <p:sp>
        <p:nvSpPr>
          <p:cNvPr id="5" name="Rectangle 4"/>
          <p:cNvSpPr/>
          <p:nvPr/>
        </p:nvSpPr>
        <p:spPr>
          <a:xfrm>
            <a:off x="5060302" y="1873772"/>
            <a:ext cx="5458408" cy="4770537"/>
          </a:xfrm>
          <a:prstGeom prst="rect">
            <a:avLst/>
          </a:prstGeom>
        </p:spPr>
        <p:txBody>
          <a:bodyPr wrap="square">
            <a:spAutoFit/>
          </a:bodyPr>
          <a:lstStyle/>
          <a:p>
            <a:r>
              <a:rPr lang="pt-BR" sz="1600" dirty="0">
                <a:solidFill>
                  <a:srgbClr val="000080"/>
                </a:solidFill>
              </a:rPr>
              <a:t>frame = DataFrame(np.random.randint(0, 10, 9).reshape(3,-1), index=['r1', 'r2', 'r3'], columns=['c1', 'c2', 'c3'])</a:t>
            </a:r>
          </a:p>
          <a:p>
            <a:r>
              <a:rPr lang="pt-BR" sz="1600" dirty="0">
                <a:solidFill>
                  <a:srgbClr val="000080"/>
                </a:solidFill>
              </a:rPr>
              <a:t>print(frame)</a:t>
            </a:r>
          </a:p>
          <a:p>
            <a:r>
              <a:rPr lang="pt-BR" sz="1600" dirty="0"/>
              <a:t>    c1  c2  c3</a:t>
            </a:r>
          </a:p>
          <a:p>
            <a:r>
              <a:rPr lang="pt-BR" sz="1600" dirty="0"/>
              <a:t>r1   6   9   0</a:t>
            </a:r>
          </a:p>
          <a:p>
            <a:r>
              <a:rPr lang="pt-BR" sz="1600" dirty="0"/>
              <a:t>r2   8   2   9</a:t>
            </a:r>
          </a:p>
          <a:p>
            <a:r>
              <a:rPr lang="pt-BR" sz="1600" dirty="0"/>
              <a:t>r3   8   0   6</a:t>
            </a:r>
          </a:p>
          <a:p>
            <a:endParaRPr lang="pt-BR" sz="1600" dirty="0">
              <a:solidFill>
                <a:srgbClr val="000080"/>
              </a:solidFill>
            </a:endParaRPr>
          </a:p>
          <a:p>
            <a:r>
              <a:rPr lang="pt-BR" sz="1600" dirty="0">
                <a:solidFill>
                  <a:srgbClr val="000080"/>
                </a:solidFill>
              </a:rPr>
              <a:t>print(frame.sort_values(by='c1'))</a:t>
            </a:r>
          </a:p>
          <a:p>
            <a:r>
              <a:rPr lang="pt-BR" sz="1600" dirty="0"/>
              <a:t>     c1  c2  c3</a:t>
            </a:r>
          </a:p>
          <a:p>
            <a:r>
              <a:rPr lang="pt-BR" sz="1600" dirty="0"/>
              <a:t>r1   6   9   0</a:t>
            </a:r>
          </a:p>
          <a:p>
            <a:r>
              <a:rPr lang="pt-BR" sz="1600" dirty="0"/>
              <a:t>r2   8   2   9</a:t>
            </a:r>
          </a:p>
          <a:p>
            <a:r>
              <a:rPr lang="pt-BR" sz="1600" dirty="0"/>
              <a:t>r3   8   0   6</a:t>
            </a:r>
          </a:p>
          <a:p>
            <a:endParaRPr lang="pt-BR" sz="1600" dirty="0">
              <a:solidFill>
                <a:srgbClr val="000080"/>
              </a:solidFill>
            </a:endParaRPr>
          </a:p>
          <a:p>
            <a:r>
              <a:rPr lang="pt-BR" sz="1600" dirty="0">
                <a:solidFill>
                  <a:srgbClr val="000080"/>
                </a:solidFill>
              </a:rPr>
              <a:t>print(frame.sort_values(axis=1,by=['r3','r1']))</a:t>
            </a:r>
          </a:p>
          <a:p>
            <a:r>
              <a:rPr lang="pt-BR" sz="1600" dirty="0"/>
              <a:t>     c2  c3  c1</a:t>
            </a:r>
          </a:p>
          <a:p>
            <a:r>
              <a:rPr lang="pt-BR" sz="1600" dirty="0"/>
              <a:t>r1   9   0   6</a:t>
            </a:r>
          </a:p>
          <a:p>
            <a:r>
              <a:rPr lang="pt-BR" sz="1600" dirty="0"/>
              <a:t>r2   2   9   8</a:t>
            </a:r>
          </a:p>
          <a:p>
            <a:r>
              <a:rPr lang="pt-BR" sz="1600" dirty="0"/>
              <a:t>r3   0   6   8</a:t>
            </a:r>
            <a:endParaRPr lang="en-US" sz="1600" dirty="0"/>
          </a:p>
        </p:txBody>
      </p:sp>
      <p:sp>
        <p:nvSpPr>
          <p:cNvPr id="7" name="Content Placeholder 2"/>
          <p:cNvSpPr txBox="1">
            <a:spLocks/>
          </p:cNvSpPr>
          <p:nvPr/>
        </p:nvSpPr>
        <p:spPr>
          <a:xfrm>
            <a:off x="5313299" y="1424128"/>
            <a:ext cx="3038889" cy="5331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sort_values</a:t>
            </a:r>
            <a:r>
              <a:rPr lang="en-US" dirty="0"/>
              <a:t>()</a:t>
            </a:r>
          </a:p>
        </p:txBody>
      </p:sp>
    </p:spTree>
    <p:extLst>
      <p:ext uri="{BB962C8B-B14F-4D97-AF65-F5344CB8AC3E}">
        <p14:creationId xmlns:p14="http://schemas.microsoft.com/office/powerpoint/2010/main" val="21229807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7</a:t>
            </a:r>
          </a:p>
        </p:txBody>
      </p:sp>
      <p:sp>
        <p:nvSpPr>
          <p:cNvPr id="3" name="Content Placeholder 2"/>
          <p:cNvSpPr>
            <a:spLocks noGrp="1"/>
          </p:cNvSpPr>
          <p:nvPr>
            <p:ph idx="1"/>
          </p:nvPr>
        </p:nvSpPr>
        <p:spPr>
          <a:xfrm>
            <a:off x="2041555" y="1607274"/>
            <a:ext cx="7886700" cy="4999714"/>
          </a:xfrm>
        </p:spPr>
        <p:txBody>
          <a:bodyPr>
            <a:normAutofit/>
          </a:bodyPr>
          <a:lstStyle/>
          <a:p>
            <a:r>
              <a:rPr lang="en-US" dirty="0"/>
              <a:t>Use the Data Frame created at the Activity 6</a:t>
            </a:r>
          </a:p>
          <a:p>
            <a:r>
              <a:rPr lang="en-US" dirty="0"/>
              <a:t>Apply a lambda function to calculate the square root of each value in the data frame</a:t>
            </a:r>
          </a:p>
          <a:p>
            <a:pPr lvl="1"/>
            <a:r>
              <a:rPr lang="en-US" dirty="0"/>
              <a:t>import math  </a:t>
            </a:r>
            <a:r>
              <a:rPr lang="en-US" dirty="0" err="1"/>
              <a:t>math.sqrt</a:t>
            </a:r>
            <a:r>
              <a:rPr lang="en-US" dirty="0"/>
              <a:t>()</a:t>
            </a:r>
          </a:p>
        </p:txBody>
      </p:sp>
    </p:spTree>
    <p:extLst>
      <p:ext uri="{BB962C8B-B14F-4D97-AF65-F5344CB8AC3E}">
        <p14:creationId xmlns:p14="http://schemas.microsoft.com/office/powerpoint/2010/main" val="31840339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t>
            </a:r>
            <a:r>
              <a:rPr lang="en-US" dirty="0" err="1"/>
              <a:t>DataFrame</a:t>
            </a:r>
            <a:r>
              <a:rPr lang="en-US" dirty="0"/>
              <a:t> functions</a:t>
            </a:r>
          </a:p>
        </p:txBody>
      </p:sp>
      <p:sp>
        <p:nvSpPr>
          <p:cNvPr id="3" name="Content Placeholder 2"/>
          <p:cNvSpPr>
            <a:spLocks noGrp="1"/>
          </p:cNvSpPr>
          <p:nvPr>
            <p:ph idx="1"/>
          </p:nvPr>
        </p:nvSpPr>
        <p:spPr/>
        <p:txBody>
          <a:bodyPr>
            <a:normAutofit lnSpcReduction="10000"/>
          </a:bodyPr>
          <a:lstStyle/>
          <a:p>
            <a:r>
              <a:rPr lang="en-US" dirty="0"/>
              <a:t>mean()</a:t>
            </a:r>
          </a:p>
          <a:p>
            <a:pPr lvl="1"/>
            <a:r>
              <a:rPr lang="en-US" dirty="0"/>
              <a:t>Mean(axis=0, </a:t>
            </a:r>
            <a:r>
              <a:rPr lang="en-US" dirty="0" err="1"/>
              <a:t>skipna</a:t>
            </a:r>
            <a:r>
              <a:rPr lang="en-US" dirty="0"/>
              <a:t>=True)</a:t>
            </a:r>
          </a:p>
          <a:p>
            <a:r>
              <a:rPr lang="en-US" dirty="0"/>
              <a:t>sum()</a:t>
            </a:r>
          </a:p>
          <a:p>
            <a:r>
              <a:rPr lang="en-US" dirty="0" err="1"/>
              <a:t>cumsum</a:t>
            </a:r>
            <a:r>
              <a:rPr lang="en-US" dirty="0"/>
              <a:t>()</a:t>
            </a:r>
          </a:p>
          <a:p>
            <a:r>
              <a:rPr lang="en-US" dirty="0"/>
              <a:t>describe(): return summary statistics of each column</a:t>
            </a:r>
          </a:p>
          <a:p>
            <a:pPr lvl="1"/>
            <a:r>
              <a:rPr lang="en-US" dirty="0"/>
              <a:t>for numeric data: mean, </a:t>
            </a:r>
            <a:r>
              <a:rPr lang="en-US" dirty="0" err="1"/>
              <a:t>std</a:t>
            </a:r>
            <a:r>
              <a:rPr lang="en-US" dirty="0"/>
              <a:t>, max, min, 25%, 50%, 75%, etc.</a:t>
            </a:r>
          </a:p>
          <a:p>
            <a:pPr lvl="1"/>
            <a:r>
              <a:rPr lang="en-US" dirty="0"/>
              <a:t>For non-numeric data: count, </a:t>
            </a:r>
            <a:r>
              <a:rPr lang="en-US" dirty="0" err="1"/>
              <a:t>uniq</a:t>
            </a:r>
            <a:r>
              <a:rPr lang="en-US" dirty="0"/>
              <a:t>, most-frequent item, etc.</a:t>
            </a:r>
          </a:p>
          <a:p>
            <a:r>
              <a:rPr lang="en-US" dirty="0" err="1"/>
              <a:t>corr</a:t>
            </a:r>
            <a:r>
              <a:rPr lang="en-US" dirty="0"/>
              <a:t>(): correlation between two Series, or between columns of a </a:t>
            </a:r>
            <a:r>
              <a:rPr lang="en-US" dirty="0" err="1"/>
              <a:t>DataFrame</a:t>
            </a:r>
            <a:endParaRPr lang="en-US" dirty="0"/>
          </a:p>
          <a:p>
            <a:r>
              <a:rPr lang="en-US" dirty="0" err="1"/>
              <a:t>corr_with</a:t>
            </a:r>
            <a:r>
              <a:rPr lang="en-US" dirty="0"/>
              <a:t>(): correlation between columns of </a:t>
            </a:r>
            <a:r>
              <a:rPr lang="en-US" dirty="0" err="1"/>
              <a:t>DataFram</a:t>
            </a:r>
            <a:r>
              <a:rPr lang="en-US" dirty="0"/>
              <a:t> and a series or between the columns of another </a:t>
            </a:r>
            <a:r>
              <a:rPr lang="en-US" dirty="0" err="1"/>
              <a:t>DataFrame</a:t>
            </a:r>
            <a:r>
              <a:rPr lang="en-US" dirty="0"/>
              <a:t> </a:t>
            </a:r>
          </a:p>
        </p:txBody>
      </p:sp>
    </p:spTree>
    <p:extLst>
      <p:ext uri="{BB962C8B-B14F-4D97-AF65-F5344CB8AC3E}">
        <p14:creationId xmlns:p14="http://schemas.microsoft.com/office/powerpoint/2010/main" val="10393923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missing data</a:t>
            </a:r>
          </a:p>
        </p:txBody>
      </p:sp>
      <p:sp>
        <p:nvSpPr>
          <p:cNvPr id="3" name="Content Placeholder 2"/>
          <p:cNvSpPr>
            <a:spLocks noGrp="1"/>
          </p:cNvSpPr>
          <p:nvPr>
            <p:ph idx="1"/>
          </p:nvPr>
        </p:nvSpPr>
        <p:spPr>
          <a:xfrm>
            <a:off x="1980616" y="1452401"/>
            <a:ext cx="7886700" cy="488366"/>
          </a:xfrm>
        </p:spPr>
        <p:txBody>
          <a:bodyPr/>
          <a:lstStyle/>
          <a:p>
            <a:r>
              <a:rPr lang="en-US" dirty="0"/>
              <a:t>Filtering out missing values</a:t>
            </a:r>
          </a:p>
          <a:p>
            <a:pPr lvl="1"/>
            <a:endParaRPr lang="en-US" dirty="0"/>
          </a:p>
        </p:txBody>
      </p:sp>
      <p:sp>
        <p:nvSpPr>
          <p:cNvPr id="4" name="Rectangle 3"/>
          <p:cNvSpPr/>
          <p:nvPr/>
        </p:nvSpPr>
        <p:spPr>
          <a:xfrm>
            <a:off x="2007315" y="1800150"/>
            <a:ext cx="4751158" cy="4278094"/>
          </a:xfrm>
          <a:prstGeom prst="rect">
            <a:avLst/>
          </a:prstGeom>
        </p:spPr>
        <p:txBody>
          <a:bodyPr wrap="square">
            <a:spAutoFit/>
          </a:bodyPr>
          <a:lstStyle/>
          <a:p>
            <a:r>
              <a:rPr lang="en-US" sz="1600" dirty="0">
                <a:solidFill>
                  <a:srgbClr val="000080"/>
                </a:solidFill>
              </a:rPr>
              <a:t>from </a:t>
            </a:r>
            <a:r>
              <a:rPr lang="en-US" sz="1600" dirty="0" err="1">
                <a:solidFill>
                  <a:srgbClr val="000080"/>
                </a:solidFill>
              </a:rPr>
              <a:t>numpy</a:t>
            </a:r>
            <a:r>
              <a:rPr lang="en-US" sz="1600" dirty="0">
                <a:solidFill>
                  <a:srgbClr val="000080"/>
                </a:solidFill>
              </a:rPr>
              <a:t> import nan as </a:t>
            </a:r>
            <a:r>
              <a:rPr lang="en-US" sz="1600" dirty="0" err="1">
                <a:solidFill>
                  <a:srgbClr val="000080"/>
                </a:solidFill>
              </a:rPr>
              <a:t>NaN</a:t>
            </a:r>
            <a:endParaRPr lang="en-US" sz="1600" dirty="0">
              <a:solidFill>
                <a:srgbClr val="000080"/>
              </a:solidFill>
            </a:endParaRPr>
          </a:p>
          <a:p>
            <a:r>
              <a:rPr lang="en-US" sz="1600" dirty="0">
                <a:solidFill>
                  <a:srgbClr val="000080"/>
                </a:solidFill>
              </a:rPr>
              <a:t>data = Series([1, </a:t>
            </a:r>
            <a:r>
              <a:rPr lang="en-US" sz="1600" dirty="0" err="1">
                <a:solidFill>
                  <a:srgbClr val="000080"/>
                </a:solidFill>
              </a:rPr>
              <a:t>NaN</a:t>
            </a:r>
            <a:r>
              <a:rPr lang="en-US" sz="1600" dirty="0">
                <a:solidFill>
                  <a:srgbClr val="000080"/>
                </a:solidFill>
              </a:rPr>
              <a:t>, 2.5, </a:t>
            </a:r>
            <a:r>
              <a:rPr lang="en-US" sz="1600" dirty="0" err="1">
                <a:solidFill>
                  <a:srgbClr val="000080"/>
                </a:solidFill>
              </a:rPr>
              <a:t>NaN</a:t>
            </a:r>
            <a:r>
              <a:rPr lang="en-US" sz="1600" dirty="0">
                <a:solidFill>
                  <a:srgbClr val="000080"/>
                </a:solidFill>
              </a:rPr>
              <a:t>, 6])</a:t>
            </a:r>
          </a:p>
          <a:p>
            <a:r>
              <a:rPr lang="en-US" sz="1600" dirty="0">
                <a:solidFill>
                  <a:srgbClr val="000080"/>
                </a:solidFill>
              </a:rPr>
              <a:t>print(data)</a:t>
            </a:r>
          </a:p>
          <a:p>
            <a:r>
              <a:rPr lang="fi-FI" sz="1600" dirty="0"/>
              <a:t>0    1.0</a:t>
            </a:r>
          </a:p>
          <a:p>
            <a:r>
              <a:rPr lang="fi-FI" sz="1600" dirty="0"/>
              <a:t>1    NaN</a:t>
            </a:r>
          </a:p>
          <a:p>
            <a:r>
              <a:rPr lang="fi-FI" sz="1600" dirty="0"/>
              <a:t>2    2.5</a:t>
            </a:r>
          </a:p>
          <a:p>
            <a:r>
              <a:rPr lang="fi-FI" sz="1600" dirty="0"/>
              <a:t>3    NaN</a:t>
            </a:r>
          </a:p>
          <a:p>
            <a:pPr marL="342900" indent="-342900">
              <a:buAutoNum type="arabicPlain" startAt="4"/>
            </a:pPr>
            <a:r>
              <a:rPr lang="fi-FI" sz="1600" dirty="0"/>
              <a:t>6.0</a:t>
            </a:r>
          </a:p>
          <a:p>
            <a:r>
              <a:rPr lang="en-US" sz="1600" dirty="0" err="1"/>
              <a:t>dtype</a:t>
            </a:r>
            <a:r>
              <a:rPr lang="en-US" sz="1600" dirty="0"/>
              <a:t>: float64</a:t>
            </a:r>
          </a:p>
          <a:p>
            <a:endParaRPr lang="en-US" sz="1600" dirty="0"/>
          </a:p>
          <a:p>
            <a:r>
              <a:rPr lang="en-US" sz="1600" dirty="0">
                <a:solidFill>
                  <a:srgbClr val="000080"/>
                </a:solidFill>
              </a:rPr>
              <a:t>print(</a:t>
            </a:r>
            <a:r>
              <a:rPr lang="en-US" sz="1600" dirty="0" err="1">
                <a:solidFill>
                  <a:srgbClr val="000080"/>
                </a:solidFill>
              </a:rPr>
              <a:t>data.notnull</a:t>
            </a:r>
            <a:r>
              <a:rPr lang="en-US" sz="1600" dirty="0">
                <a:solidFill>
                  <a:srgbClr val="000080"/>
                </a:solidFill>
              </a:rPr>
              <a:t>())</a:t>
            </a:r>
          </a:p>
          <a:p>
            <a:r>
              <a:rPr lang="en-US" sz="1600" dirty="0"/>
              <a:t>0     True</a:t>
            </a:r>
          </a:p>
          <a:p>
            <a:r>
              <a:rPr lang="en-US" sz="1600" dirty="0"/>
              <a:t>1    False</a:t>
            </a:r>
          </a:p>
          <a:p>
            <a:r>
              <a:rPr lang="en-US" sz="1600" dirty="0"/>
              <a:t>2     True</a:t>
            </a:r>
          </a:p>
          <a:p>
            <a:r>
              <a:rPr lang="en-US" sz="1600" dirty="0"/>
              <a:t>3    False</a:t>
            </a:r>
          </a:p>
          <a:p>
            <a:r>
              <a:rPr lang="en-US" sz="1600" dirty="0"/>
              <a:t>4     True</a:t>
            </a:r>
          </a:p>
          <a:p>
            <a:r>
              <a:rPr lang="en-US" sz="1600" dirty="0" err="1"/>
              <a:t>dtype</a:t>
            </a:r>
            <a:r>
              <a:rPr lang="en-US" sz="1600" dirty="0"/>
              <a:t>: bool</a:t>
            </a:r>
          </a:p>
        </p:txBody>
      </p:sp>
      <p:sp>
        <p:nvSpPr>
          <p:cNvPr id="6" name="Rectangle 5"/>
          <p:cNvSpPr/>
          <p:nvPr/>
        </p:nvSpPr>
        <p:spPr>
          <a:xfrm>
            <a:off x="4409593" y="4272762"/>
            <a:ext cx="2554154" cy="1569660"/>
          </a:xfrm>
          <a:prstGeom prst="rect">
            <a:avLst/>
          </a:prstGeom>
        </p:spPr>
        <p:txBody>
          <a:bodyPr wrap="square">
            <a:spAutoFit/>
          </a:bodyPr>
          <a:lstStyle/>
          <a:p>
            <a:r>
              <a:rPr lang="en-US" sz="1600" dirty="0">
                <a:solidFill>
                  <a:srgbClr val="000080"/>
                </a:solidFill>
              </a:rPr>
              <a:t>print(data[</a:t>
            </a:r>
            <a:r>
              <a:rPr lang="en-US" sz="1600" dirty="0" err="1">
                <a:solidFill>
                  <a:srgbClr val="000080"/>
                </a:solidFill>
              </a:rPr>
              <a:t>data.notnull</a:t>
            </a:r>
            <a:r>
              <a:rPr lang="en-US" sz="1600" dirty="0">
                <a:solidFill>
                  <a:srgbClr val="000080"/>
                </a:solidFill>
              </a:rPr>
              <a:t>()])</a:t>
            </a:r>
          </a:p>
          <a:p>
            <a:r>
              <a:rPr lang="en-US" sz="1600" dirty="0"/>
              <a:t>0    1.0</a:t>
            </a:r>
          </a:p>
          <a:p>
            <a:r>
              <a:rPr lang="en-US" sz="1600" dirty="0"/>
              <a:t>2    2.5</a:t>
            </a:r>
          </a:p>
          <a:p>
            <a:r>
              <a:rPr lang="en-US" sz="1600" dirty="0"/>
              <a:t>4    6.0</a:t>
            </a:r>
          </a:p>
          <a:p>
            <a:r>
              <a:rPr lang="en-US" sz="1600" dirty="0" err="1"/>
              <a:t>dtype</a:t>
            </a:r>
            <a:r>
              <a:rPr lang="en-US" sz="1600" dirty="0"/>
              <a:t>: float64</a:t>
            </a:r>
          </a:p>
          <a:p>
            <a:endParaRPr lang="en-US" sz="1600" dirty="0">
              <a:solidFill>
                <a:srgbClr val="000080"/>
              </a:solidFill>
            </a:endParaRPr>
          </a:p>
        </p:txBody>
      </p:sp>
      <p:sp>
        <p:nvSpPr>
          <p:cNvPr id="7" name="Rectangle 6"/>
          <p:cNvSpPr/>
          <p:nvPr/>
        </p:nvSpPr>
        <p:spPr>
          <a:xfrm>
            <a:off x="7116147" y="4272763"/>
            <a:ext cx="2554154" cy="1323439"/>
          </a:xfrm>
          <a:prstGeom prst="rect">
            <a:avLst/>
          </a:prstGeom>
        </p:spPr>
        <p:txBody>
          <a:bodyPr wrap="square">
            <a:spAutoFit/>
          </a:bodyPr>
          <a:lstStyle/>
          <a:p>
            <a:r>
              <a:rPr lang="en-US" sz="1600" dirty="0">
                <a:solidFill>
                  <a:srgbClr val="000080"/>
                </a:solidFill>
              </a:rPr>
              <a:t>print(</a:t>
            </a:r>
            <a:r>
              <a:rPr lang="en-US" sz="1600" dirty="0" err="1">
                <a:solidFill>
                  <a:srgbClr val="000080"/>
                </a:solidFill>
              </a:rPr>
              <a:t>data.dropna</a:t>
            </a:r>
            <a:r>
              <a:rPr lang="en-US" sz="1600" dirty="0">
                <a:solidFill>
                  <a:srgbClr val="000080"/>
                </a:solidFill>
              </a:rPr>
              <a:t>())</a:t>
            </a:r>
          </a:p>
          <a:p>
            <a:r>
              <a:rPr lang="en-US" sz="1600" dirty="0"/>
              <a:t>0    1.0</a:t>
            </a:r>
          </a:p>
          <a:p>
            <a:r>
              <a:rPr lang="en-US" sz="1600" dirty="0"/>
              <a:t>2    2.5</a:t>
            </a:r>
          </a:p>
          <a:p>
            <a:r>
              <a:rPr lang="en-US" sz="1600" dirty="0"/>
              <a:t>4    6.0</a:t>
            </a:r>
          </a:p>
          <a:p>
            <a:r>
              <a:rPr lang="en-US" sz="1600" dirty="0" err="1"/>
              <a:t>dtype</a:t>
            </a:r>
            <a:r>
              <a:rPr lang="en-US" sz="1600" dirty="0"/>
              <a:t>: float64</a:t>
            </a:r>
          </a:p>
        </p:txBody>
      </p:sp>
    </p:spTree>
    <p:extLst>
      <p:ext uri="{BB962C8B-B14F-4D97-AF65-F5344CB8AC3E}">
        <p14:creationId xmlns:p14="http://schemas.microsoft.com/office/powerpoint/2010/main" val="12258528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missing data - 2</a:t>
            </a:r>
          </a:p>
        </p:txBody>
      </p:sp>
      <p:sp>
        <p:nvSpPr>
          <p:cNvPr id="4" name="Rectangle 3"/>
          <p:cNvSpPr/>
          <p:nvPr/>
        </p:nvSpPr>
        <p:spPr>
          <a:xfrm>
            <a:off x="1891669" y="1397798"/>
            <a:ext cx="8590670" cy="1661993"/>
          </a:xfrm>
          <a:prstGeom prst="rect">
            <a:avLst/>
          </a:prstGeom>
        </p:spPr>
        <p:txBody>
          <a:bodyPr wrap="square">
            <a:spAutoFit/>
          </a:bodyPr>
          <a:lstStyle/>
          <a:p>
            <a:r>
              <a:rPr lang="en-US" sz="1600" dirty="0">
                <a:solidFill>
                  <a:srgbClr val="000080"/>
                </a:solidFill>
              </a:rPr>
              <a:t>data = </a:t>
            </a:r>
            <a:r>
              <a:rPr lang="en-US" sz="1600" dirty="0" err="1">
                <a:solidFill>
                  <a:srgbClr val="000080"/>
                </a:solidFill>
              </a:rPr>
              <a:t>DataFrame</a:t>
            </a:r>
            <a:r>
              <a:rPr lang="en-US" sz="1600" dirty="0">
                <a:solidFill>
                  <a:srgbClr val="000080"/>
                </a:solidFill>
              </a:rPr>
              <a:t>([[1, 2, 3], [1, </a:t>
            </a:r>
            <a:r>
              <a:rPr lang="en-US" sz="1600" dirty="0" err="1">
                <a:solidFill>
                  <a:srgbClr val="000080"/>
                </a:solidFill>
              </a:rPr>
              <a:t>NaN</a:t>
            </a:r>
            <a:r>
              <a:rPr lang="en-US" sz="1600" dirty="0">
                <a:solidFill>
                  <a:srgbClr val="000080"/>
                </a:solidFill>
              </a:rPr>
              <a:t>, </a:t>
            </a:r>
            <a:r>
              <a:rPr lang="en-US" sz="1600" dirty="0" err="1">
                <a:solidFill>
                  <a:srgbClr val="000080"/>
                </a:solidFill>
              </a:rPr>
              <a:t>NaN</a:t>
            </a:r>
            <a:r>
              <a:rPr lang="en-US" sz="1600" dirty="0">
                <a:solidFill>
                  <a:srgbClr val="000080"/>
                </a:solidFill>
              </a:rPr>
              <a:t>], [</a:t>
            </a:r>
            <a:r>
              <a:rPr lang="en-US" sz="1600" dirty="0" err="1">
                <a:solidFill>
                  <a:srgbClr val="000080"/>
                </a:solidFill>
              </a:rPr>
              <a:t>NaN</a:t>
            </a:r>
            <a:r>
              <a:rPr lang="en-US" sz="1600" dirty="0">
                <a:solidFill>
                  <a:srgbClr val="000080"/>
                </a:solidFill>
              </a:rPr>
              <a:t>, </a:t>
            </a:r>
            <a:r>
              <a:rPr lang="en-US" sz="1600" dirty="0" err="1">
                <a:solidFill>
                  <a:srgbClr val="000080"/>
                </a:solidFill>
              </a:rPr>
              <a:t>NaN</a:t>
            </a:r>
            <a:r>
              <a:rPr lang="en-US" sz="1600" dirty="0">
                <a:solidFill>
                  <a:srgbClr val="000080"/>
                </a:solidFill>
              </a:rPr>
              <a:t>, </a:t>
            </a:r>
            <a:r>
              <a:rPr lang="en-US" sz="1600" dirty="0" err="1">
                <a:solidFill>
                  <a:srgbClr val="000080"/>
                </a:solidFill>
              </a:rPr>
              <a:t>NaN</a:t>
            </a:r>
            <a:r>
              <a:rPr lang="en-US" sz="1600" dirty="0">
                <a:solidFill>
                  <a:srgbClr val="000080"/>
                </a:solidFill>
              </a:rPr>
              <a:t>], [</a:t>
            </a:r>
            <a:r>
              <a:rPr lang="en-US" sz="1600" dirty="0" err="1">
                <a:solidFill>
                  <a:srgbClr val="000080"/>
                </a:solidFill>
              </a:rPr>
              <a:t>NaN</a:t>
            </a:r>
            <a:r>
              <a:rPr lang="en-US" sz="1600" dirty="0">
                <a:solidFill>
                  <a:srgbClr val="000080"/>
                </a:solidFill>
              </a:rPr>
              <a:t>, 4, 5]])</a:t>
            </a:r>
          </a:p>
          <a:p>
            <a:r>
              <a:rPr lang="en-US" sz="1600" dirty="0">
                <a:solidFill>
                  <a:srgbClr val="000080"/>
                </a:solidFill>
              </a:rPr>
              <a:t>print(data)</a:t>
            </a:r>
          </a:p>
          <a:p>
            <a:r>
              <a:rPr lang="fi-FI" sz="1400" dirty="0">
                <a:solidFill>
                  <a:srgbClr val="000080"/>
                </a:solidFill>
              </a:rPr>
              <a:t>      </a:t>
            </a:r>
            <a:r>
              <a:rPr lang="fi-FI" sz="1400" dirty="0"/>
              <a:t>0    1    2</a:t>
            </a:r>
          </a:p>
          <a:p>
            <a:r>
              <a:rPr lang="fi-FI" sz="1400" dirty="0"/>
              <a:t>0  1.0  2.0  3.0</a:t>
            </a:r>
          </a:p>
          <a:p>
            <a:r>
              <a:rPr lang="fi-FI" sz="1400" dirty="0"/>
              <a:t>1  1.0  NaN  NaN</a:t>
            </a:r>
          </a:p>
          <a:p>
            <a:r>
              <a:rPr lang="fi-FI" sz="1400" dirty="0"/>
              <a:t>2  NaN  NaN  NaN</a:t>
            </a:r>
          </a:p>
          <a:p>
            <a:pPr marL="342900" indent="-342900">
              <a:buAutoNum type="arabicPlain" startAt="3"/>
            </a:pPr>
            <a:r>
              <a:rPr lang="fi-FI" sz="1400" dirty="0"/>
              <a:t>NaN  4.0  5.0</a:t>
            </a:r>
            <a:r>
              <a:rPr lang="en-US" sz="1400" dirty="0">
                <a:solidFill>
                  <a:srgbClr val="000080"/>
                </a:solidFill>
              </a:rPr>
              <a:t> </a:t>
            </a:r>
            <a:endParaRPr lang="en-US" sz="1400" dirty="0"/>
          </a:p>
        </p:txBody>
      </p:sp>
      <p:sp>
        <p:nvSpPr>
          <p:cNvPr id="7" name="Rectangle 6"/>
          <p:cNvSpPr/>
          <p:nvPr/>
        </p:nvSpPr>
        <p:spPr>
          <a:xfrm>
            <a:off x="3587561" y="2808198"/>
            <a:ext cx="3471735" cy="4031873"/>
          </a:xfrm>
          <a:prstGeom prst="rect">
            <a:avLst/>
          </a:prstGeom>
        </p:spPr>
        <p:txBody>
          <a:bodyPr wrap="square">
            <a:spAutoFit/>
          </a:bodyPr>
          <a:lstStyle/>
          <a:p>
            <a:r>
              <a:rPr lang="en-US" sz="1600" dirty="0">
                <a:solidFill>
                  <a:srgbClr val="000080"/>
                </a:solidFill>
              </a:rPr>
              <a:t>print(</a:t>
            </a:r>
            <a:r>
              <a:rPr lang="en-US" sz="1600" dirty="0" err="1">
                <a:solidFill>
                  <a:srgbClr val="000080"/>
                </a:solidFill>
              </a:rPr>
              <a:t>data.dropna</a:t>
            </a:r>
            <a:r>
              <a:rPr lang="en-US" sz="1600" dirty="0">
                <a:solidFill>
                  <a:srgbClr val="000080"/>
                </a:solidFill>
              </a:rPr>
              <a:t>())</a:t>
            </a:r>
          </a:p>
          <a:p>
            <a:r>
              <a:rPr lang="en-US" sz="1600" dirty="0"/>
              <a:t> 	0    1    2</a:t>
            </a:r>
          </a:p>
          <a:p>
            <a:r>
              <a:rPr lang="en-US" sz="1600" dirty="0"/>
              <a:t> 0  1.0  2.0  3.0</a:t>
            </a:r>
          </a:p>
          <a:p>
            <a:endParaRPr lang="en-US" sz="1600" dirty="0">
              <a:solidFill>
                <a:srgbClr val="000080"/>
              </a:solidFill>
            </a:endParaRPr>
          </a:p>
          <a:p>
            <a:r>
              <a:rPr lang="en-US" sz="1600" dirty="0">
                <a:solidFill>
                  <a:srgbClr val="000080"/>
                </a:solidFill>
              </a:rPr>
              <a:t>print(</a:t>
            </a:r>
            <a:r>
              <a:rPr lang="en-US" sz="1600" dirty="0" err="1">
                <a:solidFill>
                  <a:srgbClr val="000080"/>
                </a:solidFill>
              </a:rPr>
              <a:t>data.dropna</a:t>
            </a:r>
            <a:r>
              <a:rPr lang="en-US" sz="1600" dirty="0">
                <a:solidFill>
                  <a:srgbClr val="000080"/>
                </a:solidFill>
              </a:rPr>
              <a:t>(how='all'))</a:t>
            </a:r>
          </a:p>
          <a:p>
            <a:r>
              <a:rPr lang="fi-FI" sz="1600" dirty="0"/>
              <a:t> 	0    1    2</a:t>
            </a:r>
          </a:p>
          <a:p>
            <a:r>
              <a:rPr lang="fi-FI" sz="1600" dirty="0"/>
              <a:t>0  1.0  2.0  3.0</a:t>
            </a:r>
          </a:p>
          <a:p>
            <a:r>
              <a:rPr lang="fi-FI" sz="1600" dirty="0"/>
              <a:t>1  1.0  NaN  NaN</a:t>
            </a:r>
          </a:p>
          <a:p>
            <a:pPr marL="342900" indent="-342900">
              <a:buAutoNum type="arabicPlain" startAt="3"/>
            </a:pPr>
            <a:r>
              <a:rPr lang="fi-FI" sz="1600" dirty="0"/>
              <a:t>NaN  4.0  5.0 </a:t>
            </a:r>
          </a:p>
          <a:p>
            <a:endParaRPr lang="fi-FI" sz="1600" dirty="0">
              <a:solidFill>
                <a:srgbClr val="000080"/>
              </a:solidFill>
            </a:endParaRPr>
          </a:p>
          <a:p>
            <a:r>
              <a:rPr lang="en-US" sz="1600" dirty="0">
                <a:solidFill>
                  <a:srgbClr val="000080"/>
                </a:solidFill>
              </a:rPr>
              <a:t>print(</a:t>
            </a:r>
            <a:r>
              <a:rPr lang="en-US" sz="1600" dirty="0" err="1">
                <a:solidFill>
                  <a:srgbClr val="000080"/>
                </a:solidFill>
              </a:rPr>
              <a:t>data.dropna</a:t>
            </a:r>
            <a:r>
              <a:rPr lang="en-US" sz="1600" dirty="0">
                <a:solidFill>
                  <a:srgbClr val="000080"/>
                </a:solidFill>
              </a:rPr>
              <a:t>(axis=1, how='all'))</a:t>
            </a:r>
          </a:p>
          <a:p>
            <a:r>
              <a:rPr lang="fi-FI" sz="1600" dirty="0">
                <a:solidFill>
                  <a:srgbClr val="000080"/>
                </a:solidFill>
              </a:rPr>
              <a:t> </a:t>
            </a:r>
            <a:r>
              <a:rPr lang="fi-FI" sz="1600" dirty="0"/>
              <a:t>	0    1    2</a:t>
            </a:r>
          </a:p>
          <a:p>
            <a:r>
              <a:rPr lang="fi-FI" sz="1600" dirty="0"/>
              <a:t>0  1.0  2.0  3.0</a:t>
            </a:r>
          </a:p>
          <a:p>
            <a:r>
              <a:rPr lang="fi-FI" sz="1600" dirty="0"/>
              <a:t>1  1.0  NaN  NaN</a:t>
            </a:r>
          </a:p>
          <a:p>
            <a:r>
              <a:rPr lang="fi-FI" sz="1600" dirty="0"/>
              <a:t>2  NaN  NaN  NaN</a:t>
            </a:r>
          </a:p>
          <a:p>
            <a:r>
              <a:rPr lang="fi-FI" sz="1600" dirty="0"/>
              <a:t>3  NaN  4.0  5.0</a:t>
            </a:r>
            <a:endParaRPr lang="en-US" sz="1600" dirty="0"/>
          </a:p>
        </p:txBody>
      </p:sp>
      <p:sp>
        <p:nvSpPr>
          <p:cNvPr id="8" name="Rectangle 7"/>
          <p:cNvSpPr/>
          <p:nvPr/>
        </p:nvSpPr>
        <p:spPr>
          <a:xfrm>
            <a:off x="7051981" y="2826127"/>
            <a:ext cx="3537939" cy="3539430"/>
          </a:xfrm>
          <a:prstGeom prst="rect">
            <a:avLst/>
          </a:prstGeom>
        </p:spPr>
        <p:txBody>
          <a:bodyPr wrap="square">
            <a:spAutoFit/>
          </a:bodyPr>
          <a:lstStyle/>
          <a:p>
            <a:r>
              <a:rPr lang="en-US" sz="1600" dirty="0">
                <a:solidFill>
                  <a:srgbClr val="000080"/>
                </a:solidFill>
              </a:rPr>
              <a:t>data[4]=</a:t>
            </a:r>
            <a:r>
              <a:rPr lang="en-US" sz="1600" dirty="0" err="1">
                <a:solidFill>
                  <a:srgbClr val="000080"/>
                </a:solidFill>
              </a:rPr>
              <a:t>NaN</a:t>
            </a:r>
            <a:endParaRPr lang="en-US" sz="1600" dirty="0">
              <a:solidFill>
                <a:srgbClr val="000080"/>
              </a:solidFill>
            </a:endParaRPr>
          </a:p>
          <a:p>
            <a:r>
              <a:rPr lang="en-US" sz="1600" dirty="0">
                <a:solidFill>
                  <a:srgbClr val="000080"/>
                </a:solidFill>
              </a:rPr>
              <a:t>print(data)</a:t>
            </a:r>
          </a:p>
          <a:p>
            <a:r>
              <a:rPr lang="fi-FI" sz="1600" dirty="0"/>
              <a:t> 	0    1    2   4</a:t>
            </a:r>
          </a:p>
          <a:p>
            <a:r>
              <a:rPr lang="fi-FI" sz="1600" dirty="0"/>
              <a:t>0  1.0  2.0  3.0 NaN</a:t>
            </a:r>
          </a:p>
          <a:p>
            <a:r>
              <a:rPr lang="fi-FI" sz="1600" dirty="0"/>
              <a:t>1  1.0  NaN  NaN NaN</a:t>
            </a:r>
          </a:p>
          <a:p>
            <a:r>
              <a:rPr lang="fi-FI" sz="1600" dirty="0"/>
              <a:t>2  NaN  NaN  NaN NaN</a:t>
            </a:r>
          </a:p>
          <a:p>
            <a:pPr marL="342900" indent="-342900">
              <a:buAutoNum type="arabicPlain" startAt="3"/>
            </a:pPr>
            <a:r>
              <a:rPr lang="fi-FI" sz="1600" dirty="0"/>
              <a:t>NaN  4.0  5.0 NaN</a:t>
            </a:r>
          </a:p>
          <a:p>
            <a:endParaRPr lang="en-US" sz="1600" dirty="0">
              <a:solidFill>
                <a:srgbClr val="000080"/>
              </a:solidFill>
            </a:endParaRPr>
          </a:p>
          <a:p>
            <a:r>
              <a:rPr lang="en-US" sz="1600" dirty="0">
                <a:solidFill>
                  <a:srgbClr val="000080"/>
                </a:solidFill>
              </a:rPr>
              <a:t>print(</a:t>
            </a:r>
            <a:r>
              <a:rPr lang="en-US" sz="1600" dirty="0" err="1">
                <a:solidFill>
                  <a:srgbClr val="000080"/>
                </a:solidFill>
              </a:rPr>
              <a:t>data.dropna</a:t>
            </a:r>
            <a:r>
              <a:rPr lang="en-US" sz="1600" dirty="0">
                <a:solidFill>
                  <a:srgbClr val="000080"/>
                </a:solidFill>
              </a:rPr>
              <a:t>(axis=1, how='all'))</a:t>
            </a:r>
          </a:p>
          <a:p>
            <a:r>
              <a:rPr lang="fi-FI" sz="1600" dirty="0"/>
              <a:t> 	0    1    2</a:t>
            </a:r>
          </a:p>
          <a:p>
            <a:r>
              <a:rPr lang="fi-FI" sz="1600" dirty="0"/>
              <a:t>0  1.0  2.0  3.0</a:t>
            </a:r>
          </a:p>
          <a:p>
            <a:r>
              <a:rPr lang="fi-FI" sz="1600" dirty="0"/>
              <a:t>1  1.0  NaN  NaN</a:t>
            </a:r>
          </a:p>
          <a:p>
            <a:r>
              <a:rPr lang="fi-FI" sz="1600" dirty="0"/>
              <a:t>2  NaN  NaN  NaN</a:t>
            </a:r>
          </a:p>
          <a:p>
            <a:r>
              <a:rPr lang="fi-FI" sz="1600" dirty="0"/>
              <a:t>3  NaN  4.0  5.0</a:t>
            </a:r>
            <a:endParaRPr lang="en-US" sz="1600" dirty="0"/>
          </a:p>
        </p:txBody>
      </p:sp>
    </p:spTree>
    <p:extLst>
      <p:ext uri="{BB962C8B-B14F-4D97-AF65-F5344CB8AC3E}">
        <p14:creationId xmlns:p14="http://schemas.microsoft.com/office/powerpoint/2010/main" val="32159782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Filling in missing data</a:t>
            </a:r>
          </a:p>
        </p:txBody>
      </p:sp>
      <p:sp>
        <p:nvSpPr>
          <p:cNvPr id="4" name="Rectangle 3"/>
          <p:cNvSpPr/>
          <p:nvPr/>
        </p:nvSpPr>
        <p:spPr>
          <a:xfrm>
            <a:off x="1805247" y="1514000"/>
            <a:ext cx="2786773" cy="3293209"/>
          </a:xfrm>
          <a:prstGeom prst="rect">
            <a:avLst/>
          </a:prstGeom>
        </p:spPr>
        <p:txBody>
          <a:bodyPr wrap="square">
            <a:spAutoFit/>
          </a:bodyPr>
          <a:lstStyle/>
          <a:p>
            <a:r>
              <a:rPr lang="en-US" sz="1600" dirty="0">
                <a:solidFill>
                  <a:srgbClr val="000080"/>
                </a:solidFill>
              </a:rPr>
              <a:t>print(data)</a:t>
            </a:r>
          </a:p>
          <a:p>
            <a:r>
              <a:rPr lang="fi-FI" sz="1600" dirty="0"/>
              <a:t>        0    1    2   4</a:t>
            </a:r>
          </a:p>
          <a:p>
            <a:r>
              <a:rPr lang="fi-FI" sz="1600" dirty="0"/>
              <a:t>0  1.0  2.0  3.0 NaN</a:t>
            </a:r>
          </a:p>
          <a:p>
            <a:r>
              <a:rPr lang="fi-FI" sz="1600" dirty="0"/>
              <a:t>1  1.0  NaN  NaN NaN</a:t>
            </a:r>
          </a:p>
          <a:p>
            <a:r>
              <a:rPr lang="fi-FI" sz="1600" dirty="0"/>
              <a:t>2  NaN  NaN  NaN NaN</a:t>
            </a:r>
          </a:p>
          <a:p>
            <a:pPr marL="342900" indent="-342900">
              <a:buAutoNum type="arabicPlain" startAt="3"/>
            </a:pPr>
            <a:r>
              <a:rPr lang="fi-FI" sz="1600" dirty="0"/>
              <a:t>NaN  4.0  5.0 NaN</a:t>
            </a:r>
          </a:p>
          <a:p>
            <a:endParaRPr lang="en-US" sz="1600" dirty="0"/>
          </a:p>
          <a:p>
            <a:r>
              <a:rPr lang="en-US" sz="1600" dirty="0">
                <a:solidFill>
                  <a:srgbClr val="000080"/>
                </a:solidFill>
              </a:rPr>
              <a:t>print(</a:t>
            </a:r>
            <a:r>
              <a:rPr lang="en-US" sz="1600" dirty="0" err="1">
                <a:solidFill>
                  <a:srgbClr val="000080"/>
                </a:solidFill>
              </a:rPr>
              <a:t>data.fillna</a:t>
            </a:r>
            <a:r>
              <a:rPr lang="en-US" sz="1600" dirty="0">
                <a:solidFill>
                  <a:srgbClr val="000080"/>
                </a:solidFill>
              </a:rPr>
              <a:t>(0)) </a:t>
            </a:r>
            <a:endParaRPr lang="en-US" sz="1600" dirty="0"/>
          </a:p>
          <a:p>
            <a:r>
              <a:rPr lang="en-US" sz="1600" dirty="0"/>
              <a:t>       0    1    2    4</a:t>
            </a:r>
          </a:p>
          <a:p>
            <a:r>
              <a:rPr lang="en-US" sz="1600" dirty="0"/>
              <a:t>0  1.0  2.0  3.0  0.0</a:t>
            </a:r>
          </a:p>
          <a:p>
            <a:r>
              <a:rPr lang="en-US" sz="1600" dirty="0"/>
              <a:t>1  1.0  0.0  0.0  0.0</a:t>
            </a:r>
          </a:p>
          <a:p>
            <a:r>
              <a:rPr lang="en-US" sz="1600" dirty="0"/>
              <a:t>2  0.0  0.0  0.0  0.0</a:t>
            </a:r>
          </a:p>
          <a:p>
            <a:r>
              <a:rPr lang="en-US" sz="1600" dirty="0"/>
              <a:t>3  0.0  4.0  5.0  0.0</a:t>
            </a:r>
          </a:p>
        </p:txBody>
      </p:sp>
      <p:sp>
        <p:nvSpPr>
          <p:cNvPr id="5" name="Rectangle 4"/>
          <p:cNvSpPr/>
          <p:nvPr/>
        </p:nvSpPr>
        <p:spPr>
          <a:xfrm>
            <a:off x="1805247" y="4804068"/>
            <a:ext cx="3580415" cy="2031325"/>
          </a:xfrm>
          <a:prstGeom prst="rect">
            <a:avLst/>
          </a:prstGeom>
        </p:spPr>
        <p:txBody>
          <a:bodyPr wrap="square">
            <a:spAutoFit/>
          </a:bodyPr>
          <a:lstStyle/>
          <a:p>
            <a:r>
              <a:rPr lang="en-US" dirty="0">
                <a:solidFill>
                  <a:srgbClr val="000080"/>
                </a:solidFill>
              </a:rPr>
              <a:t>print(</a:t>
            </a:r>
            <a:r>
              <a:rPr lang="en-US" dirty="0" err="1">
                <a:solidFill>
                  <a:srgbClr val="000080"/>
                </a:solidFill>
              </a:rPr>
              <a:t>data.fillna</a:t>
            </a:r>
            <a:r>
              <a:rPr lang="en-US" dirty="0">
                <a:solidFill>
                  <a:srgbClr val="000080"/>
                </a:solidFill>
              </a:rPr>
              <a:t>(0, </a:t>
            </a:r>
            <a:r>
              <a:rPr lang="en-US" dirty="0" err="1">
                <a:solidFill>
                  <a:srgbClr val="000080"/>
                </a:solidFill>
              </a:rPr>
              <a:t>inplace</a:t>
            </a:r>
            <a:r>
              <a:rPr lang="en-US" dirty="0">
                <a:solidFill>
                  <a:srgbClr val="000080"/>
                </a:solidFill>
              </a:rPr>
              <a:t>=True))</a:t>
            </a:r>
          </a:p>
          <a:p>
            <a:r>
              <a:rPr lang="en-US" dirty="0">
                <a:solidFill>
                  <a:srgbClr val="000080"/>
                </a:solidFill>
              </a:rPr>
              <a:t>print(data)</a:t>
            </a:r>
          </a:p>
          <a:p>
            <a:r>
              <a:rPr lang="en-US" dirty="0"/>
              <a:t>       0    1    2    4</a:t>
            </a:r>
          </a:p>
          <a:p>
            <a:r>
              <a:rPr lang="en-US" dirty="0"/>
              <a:t>0  1.0  2.0  3.0  0.0</a:t>
            </a:r>
          </a:p>
          <a:p>
            <a:r>
              <a:rPr lang="en-US" dirty="0"/>
              <a:t>1  1.0  0.0  0.0  0.0</a:t>
            </a:r>
          </a:p>
          <a:p>
            <a:r>
              <a:rPr lang="en-US" dirty="0"/>
              <a:t>2  0.0  0.0  0.0  0.0</a:t>
            </a:r>
          </a:p>
          <a:p>
            <a:r>
              <a:rPr lang="en-US" dirty="0"/>
              <a:t>3  0.0  4.0  5.0  0.0</a:t>
            </a:r>
          </a:p>
        </p:txBody>
      </p:sp>
      <p:sp>
        <p:nvSpPr>
          <p:cNvPr id="6" name="Rectangle 5"/>
          <p:cNvSpPr/>
          <p:nvPr/>
        </p:nvSpPr>
        <p:spPr>
          <a:xfrm>
            <a:off x="5926319" y="1513999"/>
            <a:ext cx="4292549" cy="3539430"/>
          </a:xfrm>
          <a:prstGeom prst="rect">
            <a:avLst/>
          </a:prstGeom>
        </p:spPr>
        <p:txBody>
          <a:bodyPr wrap="square">
            <a:spAutoFit/>
          </a:bodyPr>
          <a:lstStyle/>
          <a:p>
            <a:r>
              <a:rPr lang="en-US" sz="1600" dirty="0">
                <a:solidFill>
                  <a:srgbClr val="000080"/>
                </a:solidFill>
              </a:rPr>
              <a:t>print(data)</a:t>
            </a:r>
          </a:p>
          <a:p>
            <a:r>
              <a:rPr lang="fi-FI" sz="1600" dirty="0"/>
              <a:t>      0    1    2</a:t>
            </a:r>
          </a:p>
          <a:p>
            <a:r>
              <a:rPr lang="fi-FI" sz="1600" dirty="0"/>
              <a:t>0  1.0  2.0  3.0</a:t>
            </a:r>
          </a:p>
          <a:p>
            <a:r>
              <a:rPr lang="fi-FI" sz="1600" dirty="0"/>
              <a:t>1  1.0  NaN  NaN</a:t>
            </a:r>
          </a:p>
          <a:p>
            <a:r>
              <a:rPr lang="fi-FI" sz="1600" dirty="0"/>
              <a:t>2  NaN  NaN  NaN</a:t>
            </a:r>
          </a:p>
          <a:p>
            <a:r>
              <a:rPr lang="fi-FI" sz="1600" dirty="0"/>
              <a:t>3  NaN  4.0  5.0</a:t>
            </a:r>
            <a:br>
              <a:rPr lang="en-US" sz="1600" dirty="0"/>
            </a:br>
            <a:endParaRPr lang="en-US" sz="1600" dirty="0"/>
          </a:p>
          <a:p>
            <a:r>
              <a:rPr lang="en-US" sz="1600" dirty="0">
                <a:solidFill>
                  <a:srgbClr val="000080"/>
                </a:solidFill>
              </a:rPr>
              <a:t>print(</a:t>
            </a:r>
            <a:r>
              <a:rPr lang="en-US" sz="1600" dirty="0" err="1">
                <a:solidFill>
                  <a:srgbClr val="000080"/>
                </a:solidFill>
              </a:rPr>
              <a:t>data.fillna</a:t>
            </a:r>
            <a:r>
              <a:rPr lang="en-US" sz="1600" dirty="0">
                <a:solidFill>
                  <a:srgbClr val="000080"/>
                </a:solidFill>
              </a:rPr>
              <a:t>(</a:t>
            </a:r>
            <a:r>
              <a:rPr lang="en-US" sz="1600" dirty="0" err="1">
                <a:solidFill>
                  <a:srgbClr val="000080"/>
                </a:solidFill>
              </a:rPr>
              <a:t>data.mean</a:t>
            </a:r>
            <a:r>
              <a:rPr lang="en-US" sz="1600" dirty="0">
                <a:solidFill>
                  <a:srgbClr val="000080"/>
                </a:solidFill>
              </a:rPr>
              <a:t>(</a:t>
            </a:r>
            <a:r>
              <a:rPr lang="en-US" sz="1600" dirty="0" err="1">
                <a:solidFill>
                  <a:srgbClr val="000080"/>
                </a:solidFill>
              </a:rPr>
              <a:t>skipna</a:t>
            </a:r>
            <a:r>
              <a:rPr lang="en-US" sz="1600" dirty="0">
                <a:solidFill>
                  <a:srgbClr val="000080"/>
                </a:solidFill>
              </a:rPr>
              <a:t>=True)))</a:t>
            </a:r>
            <a:r>
              <a:rPr lang="fi-FI" sz="1600" dirty="0"/>
              <a:t> </a:t>
            </a:r>
            <a:endParaRPr lang="en-US" sz="1600" dirty="0"/>
          </a:p>
          <a:p>
            <a:r>
              <a:rPr lang="en-US" sz="1600" dirty="0"/>
              <a:t>      0    1    2</a:t>
            </a:r>
          </a:p>
          <a:p>
            <a:r>
              <a:rPr lang="en-US" sz="1600" dirty="0"/>
              <a:t>0  1.0  2.0  3.0</a:t>
            </a:r>
          </a:p>
          <a:p>
            <a:r>
              <a:rPr lang="en-US" sz="1600" dirty="0"/>
              <a:t>1  1.0  3.0  4.0</a:t>
            </a:r>
          </a:p>
          <a:p>
            <a:r>
              <a:rPr lang="en-US" sz="1600" dirty="0"/>
              <a:t>2  1.0  3.0  4.0</a:t>
            </a:r>
          </a:p>
          <a:p>
            <a:r>
              <a:rPr lang="en-US" sz="1600" dirty="0"/>
              <a:t>3  1.0  4.0  5.0</a:t>
            </a:r>
            <a:br>
              <a:rPr lang="en-US" sz="1600" dirty="0"/>
            </a:br>
            <a:endParaRPr lang="en-US" sz="1600" dirty="0"/>
          </a:p>
        </p:txBody>
      </p:sp>
      <p:sp>
        <p:nvSpPr>
          <p:cNvPr id="7" name="TextBox 6"/>
          <p:cNvSpPr txBox="1"/>
          <p:nvPr/>
        </p:nvSpPr>
        <p:spPr>
          <a:xfrm>
            <a:off x="4750121" y="5193974"/>
            <a:ext cx="2006902" cy="1200329"/>
          </a:xfrm>
          <a:prstGeom prst="rect">
            <a:avLst/>
          </a:prstGeom>
          <a:noFill/>
          <a:ln>
            <a:solidFill>
              <a:schemeClr val="accent1"/>
            </a:solidFill>
          </a:ln>
        </p:spPr>
        <p:txBody>
          <a:bodyPr wrap="square" rtlCol="0">
            <a:spAutoFit/>
          </a:bodyPr>
          <a:lstStyle/>
          <a:p>
            <a:r>
              <a:rPr lang="en-US" dirty="0"/>
              <a:t>Modify the </a:t>
            </a:r>
            <a:r>
              <a:rPr lang="en-US" dirty="0" err="1"/>
              <a:t>dataframe</a:t>
            </a:r>
            <a:r>
              <a:rPr lang="en-US" dirty="0"/>
              <a:t> instead of returning a new object (default)</a:t>
            </a:r>
          </a:p>
        </p:txBody>
      </p:sp>
      <p:cxnSp>
        <p:nvCxnSpPr>
          <p:cNvPr id="9" name="Straight Arrow Connector 8"/>
          <p:cNvCxnSpPr/>
          <p:nvPr/>
        </p:nvCxnSpPr>
        <p:spPr>
          <a:xfrm flipH="1" flipV="1">
            <a:off x="4238922" y="5193973"/>
            <a:ext cx="465881" cy="738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297681" y="4888526"/>
            <a:ext cx="3089179" cy="369332"/>
          </a:xfrm>
          <a:prstGeom prst="rect">
            <a:avLst/>
          </a:prstGeom>
          <a:noFill/>
          <a:ln>
            <a:solidFill>
              <a:schemeClr val="accent1"/>
            </a:solidFill>
          </a:ln>
        </p:spPr>
        <p:txBody>
          <a:bodyPr wrap="none" rtlCol="0">
            <a:spAutoFit/>
          </a:bodyPr>
          <a:lstStyle/>
          <a:p>
            <a:r>
              <a:rPr lang="en-US" dirty="0"/>
              <a:t>replace nan with column mean</a:t>
            </a:r>
          </a:p>
        </p:txBody>
      </p:sp>
      <p:cxnSp>
        <p:nvCxnSpPr>
          <p:cNvPr id="12" name="Straight Arrow Connector 11"/>
          <p:cNvCxnSpPr/>
          <p:nvPr/>
        </p:nvCxnSpPr>
        <p:spPr>
          <a:xfrm flipH="1" flipV="1">
            <a:off x="8391331" y="3582955"/>
            <a:ext cx="401216" cy="130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13551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8515" y="965105"/>
            <a:ext cx="10972800" cy="4525963"/>
          </a:xfrm>
        </p:spPr>
        <p:txBody>
          <a:bodyPr/>
          <a:lstStyle/>
          <a:p>
            <a:pPr algn="l"/>
            <a:r>
              <a:rPr lang="en-US" b="0" i="0">
                <a:solidFill>
                  <a:srgbClr val="212529"/>
                </a:solidFill>
                <a:effectLst/>
                <a:latin typeface="-apple-system"/>
              </a:rPr>
              <a:t>scikit-learn comes with a few small standard datasets</a:t>
            </a:r>
          </a:p>
          <a:p>
            <a:pPr algn="l"/>
            <a:r>
              <a:rPr lang="en-US" b="0" i="0">
                <a:solidFill>
                  <a:srgbClr val="212529"/>
                </a:solidFill>
                <a:effectLst/>
                <a:latin typeface="-apple-system"/>
              </a:rPr>
              <a:t>They can be loaded using the following function</a:t>
            </a:r>
          </a:p>
          <a:p>
            <a:pPr algn="l"/>
            <a:endParaRPr lang="en-US">
              <a:solidFill>
                <a:srgbClr val="212529"/>
              </a:solidFill>
              <a:latin typeface="-apple-system"/>
            </a:endParaRPr>
          </a:p>
          <a:p>
            <a:pPr algn="l"/>
            <a:endParaRPr lang="en-US" b="0" i="0">
              <a:solidFill>
                <a:srgbClr val="212529"/>
              </a:solidFill>
              <a:effectLst/>
              <a:latin typeface="-apple-system"/>
            </a:endParaRPr>
          </a:p>
          <a:p>
            <a:pPr algn="l"/>
            <a:endParaRPr lang="en-US">
              <a:solidFill>
                <a:srgbClr val="212529"/>
              </a:solidFill>
              <a:latin typeface="-apple-system"/>
            </a:endParaRPr>
          </a:p>
          <a:p>
            <a:pPr algn="l"/>
            <a:endParaRPr lang="en-US" b="0" i="0">
              <a:solidFill>
                <a:srgbClr val="212529"/>
              </a:solidFill>
              <a:effectLst/>
              <a:latin typeface="-apple-system"/>
            </a:endParaRPr>
          </a:p>
          <a:p>
            <a:pPr algn="l"/>
            <a:endParaRPr lang="en-US">
              <a:solidFill>
                <a:srgbClr val="212529"/>
              </a:solidFill>
              <a:latin typeface="-apple-system"/>
            </a:endParaRPr>
          </a:p>
          <a:p>
            <a:pPr algn="l"/>
            <a:r>
              <a:rPr lang="en-US" b="0" i="0">
                <a:solidFill>
                  <a:srgbClr val="212529"/>
                </a:solidFill>
                <a:effectLst/>
                <a:latin typeface="-apple-system"/>
              </a:rPr>
              <a:t>You can convert those to pandas dataframes </a:t>
            </a:r>
          </a:p>
        </p:txBody>
      </p:sp>
      <p:sp>
        <p:nvSpPr>
          <p:cNvPr id="8" name="Title 1">
            <a:extLst>
              <a:ext uri="{FF2B5EF4-FFF2-40B4-BE49-F238E27FC236}">
                <a16:creationId xmlns:a16="http://schemas.microsoft.com/office/drawing/2014/main" id="{7915DADC-8D10-4342-51D8-2A244FAB9041}"/>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Toy Datasets in sklearn</a:t>
            </a:r>
            <a:endParaRPr lang="en-US" sz="4800" dirty="0">
              <a:solidFill>
                <a:srgbClr val="04B452"/>
              </a:solidFill>
            </a:endParaRPr>
          </a:p>
        </p:txBody>
      </p:sp>
      <p:sp>
        <p:nvSpPr>
          <p:cNvPr id="4" name="TextBox 3">
            <a:extLst>
              <a:ext uri="{FF2B5EF4-FFF2-40B4-BE49-F238E27FC236}">
                <a16:creationId xmlns:a16="http://schemas.microsoft.com/office/drawing/2014/main" id="{D1A22481-441E-147F-A81A-A7F7794F6963}"/>
              </a:ext>
            </a:extLst>
          </p:cNvPr>
          <p:cNvSpPr txBox="1"/>
          <p:nvPr/>
        </p:nvSpPr>
        <p:spPr>
          <a:xfrm>
            <a:off x="440177" y="4532702"/>
            <a:ext cx="6230564" cy="369332"/>
          </a:xfrm>
          <a:prstGeom prst="rect">
            <a:avLst/>
          </a:prstGeom>
          <a:noFill/>
        </p:spPr>
        <p:txBody>
          <a:bodyPr wrap="square">
            <a:spAutoFit/>
          </a:bodyPr>
          <a:lstStyle/>
          <a:p>
            <a:r>
              <a:rPr lang="en-US"/>
              <a:t> </a:t>
            </a:r>
            <a:r>
              <a:rPr lang="en-US">
                <a:hlinkClick r:id="rId2"/>
              </a:rPr>
              <a:t>https://scikit-learn.org/stable/datasets/toy_dataset.html</a:t>
            </a:r>
            <a:r>
              <a:rPr lang="en-US"/>
              <a:t> </a:t>
            </a:r>
          </a:p>
        </p:txBody>
      </p:sp>
      <p:pic>
        <p:nvPicPr>
          <p:cNvPr id="6" name="Picture 5">
            <a:extLst>
              <a:ext uri="{FF2B5EF4-FFF2-40B4-BE49-F238E27FC236}">
                <a16:creationId xmlns:a16="http://schemas.microsoft.com/office/drawing/2014/main" id="{DB7CC231-CBB1-DDBA-17B9-2270019D6299}"/>
              </a:ext>
            </a:extLst>
          </p:cNvPr>
          <p:cNvPicPr>
            <a:picLocks noChangeAspect="1"/>
          </p:cNvPicPr>
          <p:nvPr/>
        </p:nvPicPr>
        <p:blipFill>
          <a:blip r:embed="rId3"/>
          <a:stretch>
            <a:fillRect/>
          </a:stretch>
        </p:blipFill>
        <p:spPr>
          <a:xfrm>
            <a:off x="538565" y="2000568"/>
            <a:ext cx="10220325" cy="1943100"/>
          </a:xfrm>
          <a:prstGeom prst="rect">
            <a:avLst/>
          </a:prstGeom>
        </p:spPr>
      </p:pic>
    </p:spTree>
    <p:extLst>
      <p:ext uri="{BB962C8B-B14F-4D97-AF65-F5344CB8AC3E}">
        <p14:creationId xmlns:p14="http://schemas.microsoft.com/office/powerpoint/2010/main" val="29551418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915DADC-8D10-4342-51D8-2A244FAB9041}"/>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Loading sklearn datasets into pandas</a:t>
            </a:r>
            <a:endParaRPr lang="en-US" sz="4800" dirty="0">
              <a:solidFill>
                <a:srgbClr val="04B452"/>
              </a:solidFill>
            </a:endParaRPr>
          </a:p>
        </p:txBody>
      </p:sp>
      <p:pic>
        <p:nvPicPr>
          <p:cNvPr id="13" name="Picture 12">
            <a:extLst>
              <a:ext uri="{FF2B5EF4-FFF2-40B4-BE49-F238E27FC236}">
                <a16:creationId xmlns:a16="http://schemas.microsoft.com/office/drawing/2014/main" id="{DEF737FD-686D-E3FA-E548-A6F6E3A90224}"/>
              </a:ext>
            </a:extLst>
          </p:cNvPr>
          <p:cNvPicPr>
            <a:picLocks noChangeAspect="1"/>
          </p:cNvPicPr>
          <p:nvPr/>
        </p:nvPicPr>
        <p:blipFill>
          <a:blip r:embed="rId2"/>
          <a:stretch>
            <a:fillRect/>
          </a:stretch>
        </p:blipFill>
        <p:spPr>
          <a:xfrm>
            <a:off x="240252" y="1012993"/>
            <a:ext cx="10703365" cy="5138298"/>
          </a:xfrm>
          <a:prstGeom prst="rect">
            <a:avLst/>
          </a:prstGeom>
        </p:spPr>
      </p:pic>
    </p:spTree>
    <p:extLst>
      <p:ext uri="{BB962C8B-B14F-4D97-AF65-F5344CB8AC3E}">
        <p14:creationId xmlns:p14="http://schemas.microsoft.com/office/powerpoint/2010/main" val="2067588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48332" y="224155"/>
            <a:ext cx="7772400" cy="1470025"/>
          </a:xfrm>
        </p:spPr>
        <p:txBody>
          <a:bodyPr>
            <a:normAutofit/>
          </a:bodyPr>
          <a:lstStyle/>
          <a:p>
            <a:r>
              <a:rPr lang="en-US" sz="4800" dirty="0">
                <a:solidFill>
                  <a:srgbClr val="04B452"/>
                </a:solidFill>
              </a:rPr>
              <a:t>Thank You.</a:t>
            </a:r>
          </a:p>
        </p:txBody>
      </p:sp>
      <p:pic>
        <p:nvPicPr>
          <p:cNvPr id="6" name="Picture 5">
            <a:extLst>
              <a:ext uri="{FF2B5EF4-FFF2-40B4-BE49-F238E27FC236}">
                <a16:creationId xmlns:a16="http://schemas.microsoft.com/office/drawing/2014/main" id="{5618CB8B-A791-452D-A2B2-B6E0E15F67BF}"/>
              </a:ext>
            </a:extLst>
          </p:cNvPr>
          <p:cNvPicPr>
            <a:picLocks noChangeAspect="1"/>
          </p:cNvPicPr>
          <p:nvPr/>
        </p:nvPicPr>
        <p:blipFill>
          <a:blip r:embed="rId2"/>
          <a:stretch>
            <a:fillRect/>
          </a:stretch>
        </p:blipFill>
        <p:spPr>
          <a:xfrm>
            <a:off x="1609725" y="1552575"/>
            <a:ext cx="8972550" cy="37528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f75f480-7803-4ee9-bb54-84d0635fdbe7}" enabled="1" method="Privilege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510</TotalTime>
  <Words>7615</Words>
  <Application>Microsoft Office PowerPoint</Application>
  <PresentationFormat>Widescreen</PresentationFormat>
  <Paragraphs>1036</Paragraphs>
  <Slides>77</Slides>
  <Notes>9</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-apple-system</vt:lpstr>
      <vt:lpstr>Arial</vt:lpstr>
      <vt:lpstr>Calibri</vt:lpstr>
      <vt:lpstr>Courier New</vt:lpstr>
      <vt:lpstr>proxima-nova</vt:lpstr>
      <vt:lpstr>Roboto</vt:lpstr>
      <vt:lpstr>Times New Roman</vt:lpstr>
      <vt:lpstr>Office Theme</vt:lpstr>
      <vt:lpstr>PowerPoint Presentation</vt:lpstr>
      <vt:lpstr>PowerPoint Presentation</vt:lpstr>
      <vt:lpstr>PowerPoint Presentation</vt:lpstr>
      <vt:lpstr>PowerPoint Presentation</vt:lpstr>
      <vt:lpstr>PowerPoint Presentation</vt:lpstr>
      <vt:lpstr>Pandas Series</vt:lpstr>
      <vt:lpstr>PowerPoint Presentation</vt:lpstr>
      <vt:lpstr>PowerPoint Presentation</vt:lpstr>
      <vt:lpstr>PowerPoint Presentation</vt:lpstr>
      <vt:lpstr>Pandas DataFrame</vt:lpstr>
      <vt:lpstr>PowerPoint Presentation</vt:lpstr>
      <vt:lpstr>PowerPoint Presentation</vt:lpstr>
      <vt:lpstr>PowerPoint Presentation</vt:lpstr>
      <vt:lpstr>PowerPoint Presentation</vt:lpstr>
      <vt:lpstr>pandas.DataFrame</vt:lpstr>
      <vt:lpstr>Creating a DataFrame from scratch</vt:lpstr>
      <vt:lpstr>Creating a DataFrame from scratch</vt:lpstr>
      <vt:lpstr>How did that work?</vt:lpstr>
      <vt:lpstr>pandas.DataFrame.from_dict</vt:lpstr>
      <vt:lpstr>pandas’ orient keyword </vt:lpstr>
      <vt:lpstr>Loading a DataFrame from files</vt:lpstr>
      <vt:lpstr>Reading data from a CSV file</vt:lpstr>
      <vt:lpstr>Reading data from CSVs</vt:lpstr>
      <vt:lpstr>Reading data from JSON</vt:lpstr>
      <vt:lpstr>Example #1:Reading data from JSON</vt:lpstr>
      <vt:lpstr>Example #2: Reading data from JSON</vt:lpstr>
      <vt:lpstr>Example #3: Reading data from JSON</vt:lpstr>
      <vt:lpstr>Converting back to a CSV or JSON</vt:lpstr>
      <vt:lpstr>Most important DataFrame operations</vt:lpstr>
      <vt:lpstr>Loading dataset </vt:lpstr>
      <vt:lpstr>Viewing your data</vt:lpstr>
      <vt:lpstr>Getting info about your data</vt:lpstr>
      <vt:lpstr>Handling duplicates</vt:lpstr>
      <vt:lpstr>Handling duplicates</vt:lpstr>
      <vt:lpstr>Understanding your variables</vt:lpstr>
      <vt:lpstr>More Examples</vt:lpstr>
      <vt:lpstr>More Examples</vt:lpstr>
      <vt:lpstr>More Examples</vt:lpstr>
      <vt:lpstr>More Examples: Create a DataFrame from Dict of Series</vt:lpstr>
      <vt:lpstr>More Examples: Column Addition</vt:lpstr>
      <vt:lpstr>More Examples: Column Deletion</vt:lpstr>
      <vt:lpstr>More Examples: Slicing in DataFrames</vt:lpstr>
      <vt:lpstr>More Examples: Addition of rows</vt:lpstr>
      <vt:lpstr>More Examples: Deletion of rows</vt:lpstr>
      <vt:lpstr>More Examples: Reindexing</vt:lpstr>
      <vt:lpstr>More Examples: Concatenating Objects (Data Frames)</vt:lpstr>
      <vt:lpstr>Handling categorical data</vt:lpstr>
      <vt:lpstr>Examples</vt:lpstr>
      <vt:lpstr>Reading data from a SQL database</vt:lpstr>
      <vt:lpstr>Reading data from a SQL database</vt:lpstr>
      <vt:lpstr>References</vt:lpstr>
      <vt:lpstr>DataFrame</vt:lpstr>
      <vt:lpstr>DataFrame – specifying columns and indices</vt:lpstr>
      <vt:lpstr>DataFrame – from nested dict of dicts</vt:lpstr>
      <vt:lpstr>DataFrame – index, columns, values</vt:lpstr>
      <vt:lpstr>DataFrame – retrieving a column</vt:lpstr>
      <vt:lpstr>Activity 5</vt:lpstr>
      <vt:lpstr>DataFrame – getting rows</vt:lpstr>
      <vt:lpstr>DataFrame – modifying columns</vt:lpstr>
      <vt:lpstr>DataFrame – removing columns</vt:lpstr>
      <vt:lpstr>More on DataFrame indexing</vt:lpstr>
      <vt:lpstr>More on DataFrame indexing - 2</vt:lpstr>
      <vt:lpstr>More on DataFrame indexing - 3</vt:lpstr>
      <vt:lpstr>Activity 6</vt:lpstr>
      <vt:lpstr>Removing rows/columns</vt:lpstr>
      <vt:lpstr>Reindexing</vt:lpstr>
      <vt:lpstr>Function application and mapping</vt:lpstr>
      <vt:lpstr>Function application and mapping - 2</vt:lpstr>
      <vt:lpstr>Other DataFrame functions</vt:lpstr>
      <vt:lpstr>Activity 7</vt:lpstr>
      <vt:lpstr>Other DataFrame functions</vt:lpstr>
      <vt:lpstr>Handling missing data</vt:lpstr>
      <vt:lpstr>Handling missing data - 2</vt:lpstr>
      <vt:lpstr>Filling in missing data</vt:lpstr>
      <vt:lpstr>PowerPoint Presentation</vt:lpstr>
      <vt:lpstr>PowerPoint Presentation</vt:lpstr>
      <vt:lpstr>Thank You.</vt:lpstr>
    </vt:vector>
  </TitlesOfParts>
  <Company>Fabric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Harwood</dc:creator>
  <cp:keywords>C_Unrestricted</cp:keywords>
  <cp:lastModifiedBy>Jasthi, Jasthi (DI SW PLM LCS DEVOPS)</cp:lastModifiedBy>
  <cp:revision>47</cp:revision>
  <dcterms:created xsi:type="dcterms:W3CDTF">2014-09-03T22:10:43Z</dcterms:created>
  <dcterms:modified xsi:type="dcterms:W3CDTF">2024-12-14T15:29:06Z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 Confidentiality">
    <vt:lpwstr>Unrestricted</vt:lpwstr>
  </property>
  <property fmtid="{D5CDD505-2E9C-101B-9397-08002B2CF9AE}" pid="3" name="sodocoClasLang">
    <vt:lpwstr>Unrestricted</vt:lpwstr>
  </property>
  <property fmtid="{D5CDD505-2E9C-101B-9397-08002B2CF9AE}" pid="4" name="sodocoClasLangId">
    <vt:i4>0</vt:i4>
  </property>
  <property fmtid="{D5CDD505-2E9C-101B-9397-08002B2CF9AE}" pid="5" name="sodocoClasId">
    <vt:i4>0</vt:i4>
  </property>
  <property fmtid="{D5CDD505-2E9C-101B-9397-08002B2CF9AE}" pid="6" name="MSIP_Label_6f75f480-7803-4ee9-bb54-84d0635fdbe7_Enabled">
    <vt:lpwstr>true</vt:lpwstr>
  </property>
  <property fmtid="{D5CDD505-2E9C-101B-9397-08002B2CF9AE}" pid="7" name="MSIP_Label_6f75f480-7803-4ee9-bb54-84d0635fdbe7_SetDate">
    <vt:lpwstr>2023-01-22T14:43:40Z</vt:lpwstr>
  </property>
  <property fmtid="{D5CDD505-2E9C-101B-9397-08002B2CF9AE}" pid="8" name="MSIP_Label_6f75f480-7803-4ee9-bb54-84d0635fdbe7_Method">
    <vt:lpwstr>Privileged</vt:lpwstr>
  </property>
  <property fmtid="{D5CDD505-2E9C-101B-9397-08002B2CF9AE}" pid="9" name="MSIP_Label_6f75f480-7803-4ee9-bb54-84d0635fdbe7_Name">
    <vt:lpwstr>unrestricted</vt:lpwstr>
  </property>
  <property fmtid="{D5CDD505-2E9C-101B-9397-08002B2CF9AE}" pid="10" name="MSIP_Label_6f75f480-7803-4ee9-bb54-84d0635fdbe7_SiteId">
    <vt:lpwstr>38ae3bcd-9579-4fd4-adda-b42e1495d55a</vt:lpwstr>
  </property>
  <property fmtid="{D5CDD505-2E9C-101B-9397-08002B2CF9AE}" pid="11" name="MSIP_Label_6f75f480-7803-4ee9-bb54-84d0635fdbe7_ActionId">
    <vt:lpwstr>70b7c7d7-b7c5-44a3-a465-a5732ac3a019</vt:lpwstr>
  </property>
  <property fmtid="{D5CDD505-2E9C-101B-9397-08002B2CF9AE}" pid="12" name="MSIP_Label_6f75f480-7803-4ee9-bb54-84d0635fdbe7_ContentBits">
    <vt:lpwstr>0</vt:lpwstr>
  </property>
</Properties>
</file>